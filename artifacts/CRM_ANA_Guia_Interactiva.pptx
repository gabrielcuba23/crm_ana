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Presentación de capacitación del CRM de coordinación del equipo. Utiliza el logotipo original proporcionado por el usuario, sin redibujarlo. Abrir en PowerPoint, Presentación con diapositivas → Desde el principio. Los botones azules y las tarjetas del menú son enlaces. No requiere macros ni complementos. Las capturas se generaron en la aplicación real con datos sintéticos sobre una D1 local aislada; no contienen contactos de producción ni el token. Las funciones documentadas corresponden a web 1.3.0 y lector 1.2.1.</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Ofrecer al grupo elegir el recorrido. Para formación completa, seguir las flechas Siguiente; para consulta rápida, elegir tarjeta. Los enlaces internos funcionan en modo presentación. En edición, PowerPoint puede requerir Ctrl+clic o clic derecho → Abrir vínculo. Los enlaces a descargas o al CRM abren el navegador y requieren Internet. Esta presentación guía el uso; no ejecuta acciones en el CRM.</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basado en docs/REVISION_15_FUNCIONES.md, complementado por docs/NOVEDADES_1.3.md. Los comportamientos se muestran dentro del CRM, manteniendo WhatsApp intacto. Power BI se entrega como proyecto PBIP, por decisión del usuario, no como PBIX compilado. La apertura nativa de ese proyecto requiere validación en Windows.</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modo panel utiliza la extensión local; la web se carga desde Cloudflare Pages. El modo web funciona en navegadores modernos y no requiere la extensión. Ambos necesitan Internet para leer y guardar; no hay una cola de escrituras fuera de línea. Cada perfil de Chrome conserva su operador. La agenda no depende de que el celular maestro tenga guardado el número.</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operadores no se requiere Node, npm, GitHub ni acceso administrativo a Cloudflare. Esas herramientas pertenecen al mantenimiento del proyecto. Instalar desde el ZIP de la extensión, no desde el ZIP del repositorio completo. La opción elegida por el usuario es sin pagos adicionales y no publica la extensión en la tienda. No intentar eludir restricciones de TI.</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enlace descarga artifacts/crm-ana-extension.zip desde la rama main del repositorio. El nombre CRM-ANA-Extension es una sugerencia para la carpeta local: puede usarse cualquier nombre y ubicación permanente. Dentro deben estar manifest.json y sus archivos hermanos, no otra carpeta intermedia. No seleccionar el ZIP. Si GitHub pide iniciar sesión, usar la cuenta con acceso al repositorio.</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ilustración es un esquema editable, no una captura de una instalación real. En Chrome → Extensiones → Administrar extensiones, activar Modo desarrollador y pulsar Cargar descomprimida. Elegir la carpeta descomprimida. La tarjeta debe mostrar versión 1.2.1. Para una actualización ya instalada, conservar la carpeta anterior y sustituir archivos, luego Recargar. No eliminar el directorio mientras Chrome use la copia descomprimida.</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contenedor 1.2.1 carga automáticamente el origen fijo https://crm-whatsapp-ana.pages.dev/panel. La pantalla actual solo pide el token del equipo; las capturas antiguas que pedían una URL corresponden a otra versión. El selector de operador aparece después de la autenticación. El token no se muestra ni se incluye en la presentación. Si el panel informa de almacenamiento limitado, se puede trabajar en esa sesión o usar Abrir para ir a una pestaña, donde se inicia sesión de nuevo.</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selección se conserva por perfil de navegador; en una PC compartida cada persona debe cambiarla al empezar. Los operadores se administran en el botón + junto al selector y la lista se comparte con todas las PCs. Los nombres iniciales son los aprobados por el usuario. La autoría histórica permanece si se elimina un integrante. El selector es declarativo: cualquier poseedor del token tiene acceso al equipo, incluida la restauración; no hay cuentas personales ni permisos por rol.</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Usar el Buscador global sobre Directorio. Las bandejas filtran estados de gestión de espacios; no cambian WhatsApp. Mis Coordinaciones utiliza el operador activo. También puede filtrarse por órgano y operador. El nombre Cerrado se presenta según el texto actual del control. Los KPIs de la pantalla resumen la agenda compartida.</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lector es pasivo: no modifica el DOM de WhatsApp, no lee el historial de mensajes y no envía mensajes. Un encabezado con nombre no siempre proporciona el número real; el título de grupo no es un ID estable. Para evitar fichas equivocadas solo hay apertura automática ante coincidencia única. Registrar el número completo con código de país o el ID conocido; no inventar identificadores a partir de nombres. Si no cambia el contexto, seguir el diagnóstico de detección de chat.</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Campos obligatorios: nombre y teléfono o ID. Usar información real autorizada. Los contactos se guardan en D1 y no dependen de la libreta del celular maestro de WhatsApp. Los responsables pueden ser varios. Para una unidad nueva pulsar Añadir órgano/unidad, escribirla y Guardar unidad antes de Guardar espacio. Las opciones creadas se comparten con las otras PCs y quedan en el respaldo. Los CUT y documentos se asocian a la ficha y aparecen relacionados en los reportes.</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Ejemplo: “Se revisó el borrador. Jaruska enviará observaciones mañana y Acxel consolidará la respuesta”. Las notas no se editan desde la interfaz, pero pueden eliminarse con confirmación. Eliminar nota afecta solo ese registro; no elimina tareas, reuniones ni el resto del historial. La nota no es un mensaje enviado a WhatsApp. La captura usa datos de demostración y contiene un aviso interno registrado automáticamente.</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tablero no depende de arrastrar tarjetas: el control implementado para avanzar es el selector Estado de tarea. Lista y Kanban comparten datos y filtros. Para un mensaje de WhatsApp, copiar el texto manualmente y pegarlo en el formulario del CRM. Para audios o documentos, escribir transcripción o referencia; el lector no los extrae automáticamente. La casilla del checklist marca Completado. Sin hora explícita, una tarea vence a las 17:00 de Perú.</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calendario muestra reuniones de fichas y eventos generales. Elegir mes/día y buscar por evento, contacto o CUT. Los eventos nuevos conservan inicio y fin explícitos. Las reuniones previas siguen disponibles. Las acciones de edición y eliminación se sincronizan dentro del CRM. Después de exportar a un calendario personal, esos cambios se reflejan por separado en ese calendario.</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exportación no vincula cuentas, no es sincronización bidireccional y no envía invitaciones. Google abre un borrador que la persona confirma con Guardar; los participantes se incluyen como texto descriptivo. ICS sirve para Apple, Outlook, Google y otros programas compatibles. El calendario receptor convierte la hora a su zona local; el CRM usa America/Lima. Reuniones antiguas sin hora final usan una hora de duración. Al importar repetidamente puede ser necesario gestionar duplicados. Los archivos ICS no incluyen TEAM_TOKEN.</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Registrar tanto los acuerdos de texto como los acuerdos estructurados con responsable y fecha si se necesitan tareas. Crear tareas de acuerdos evita duplicados para la misma reunión. Si los acuerdos ya tienen tareas vinculadas, gestionar el avance desde Tareas. Generar minuta lleva el texto a Formatos /; Copiar o Abrir borrador en WhatsApp registran la preparación en la bitácora. La persona confirma cualquier envío de WhatsApp. Los eventos generales se crean en Agenda; las reuniones con acuerdos se gestionan en la ficha.</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formatos iniciales son editables y no sustituyen los enlaces reales del equipo. El comando /drive inicial apunta al servicio general; el administrador debe registrar la carpeta real cuando corresponda. Se puede buscar comando, seleccionar formato, modificar texto y activar la firma automática. Crear o editar formato compartido permite nuevos comandos. Copiar y Abrir borrador en WhatsApp no envían mensajes automáticamente; la bitácora registra texto copiado o borrador abierto, no entrega confirmada.</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Desde la ficha de un contacto pulsar Avisar a otro operador. El nombre del remitente es el operador activo; elegir destinatario y escribir qué necesita el contacto. El aviso se guarda y deja una nota en la bitácora. La campana del destinatario muestra Recibidos, Enviados y Recordatorios. Marcar leído y Recibido son estados distintos: Recibido confirma atención al remitente. Si Jaruska no tiene abierto el CRM, el aviso queda guardado y lo verá al entrar. Mientras el CRM está abierto la bandeja consulta novedades cada cinco segundos. No es un mensaje de WhatsApp, correo o SMS.</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presencia envía un latido cada cuatro segundos y expira aproximadamente a los quince segundos sin latido. Otra pestaña del mismo perfil se distingue por dispositivo; dos perfiles pueden aparecer como dos PCs. La alerta es informativa, no bloqueo. Los recordatorios de tareas y reuniones se calculan mientras la aplicación está abierta; se pueden descartar para ese operador en esa PC. Los avisos internos durables son distintos de los recordatorios en pantalla.</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filtros del Centro de datos afectan Excel/PDF, no el respaldo JSON. Las tareas pendientes anteriores al período se conservan para no ocultar trabajo abierto. El libro contiene cinco tablas estructuradas y tres tablas dinámicas nativas con cachés: tareas por operador/estado, coordinaciones por órgano/estado y reuniones por contacto/estado. El formato de hoja y filtros pueden usarse en Excel. La generación y estructura OOXML se verificaron; la apertura/reorganización con Excel instalado se comprueba en los equipos del usuario.</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Power BI Desktop requiere Windows y se puede usar localmente sin contratar Pro. No hay versión nativa para Mac: usar una PC Windows existente del equipo; no se propone una VM de pago. El ZIP contiene Report, SemanticModel y el archivo CRM_ANA.pbip; conservar juntos. En Transformar datos → Administrar parámetros: pOrigen API, pBaseUrl https://crm-whatsapp-ana.pages.dev, pTeamToken valor privado del equipo, pArchivoExcel vacío. Si Power Query pide credenciales, usar Anónimo, pues la consulta M envía el token por cabecera X-Team-Token. Cerrar y aplicar y Actualizar. Para Excel elegir pOrigen Excel y ruta pArchivoExcel. Cinco páginas: Resumen ejecutivo, Tareas y CUT, Directorio, Reuniones y Bitácora. El proyecto se verifica estructuralmente y aún requiere abrirse y validarse en Power BI Desktop de Windows. Importación: refresco manual, no streaming. No publicar datos institucionales con Publicar en la web. No subir el proyecto ya configurado con token a GitHub.</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JSON v3 incluye los datos de negocio, no la cuenta Cloudflare, TEAM_TOKEN, dominio, UUID de D1 ni sesiones/presencia temporal. El nuevo administrador configura su instancia y restaura el archivo si se migra a otra cuenta. La restauración valida y reemplaza de forma atómica; la UI descarga un respaldo antes de ejecutarla. Solo usarla para recuperación o migración; no es una forma de actualizar el software. Límite de la interfaz 1,4 MB; para más volumen el administrador usa respaldo nativo de D1. Cualquier poseedor del token y operador seleccionado tiene acceso a restaurar; proteger la copia porque contiene información del equipo.</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web revisa nuevas versiones cada minuto mientras está visible y al volver a ella; no descarta borradores mediante recarga forzada. Guardar formularios antes de actualizar. Cambios del script del encabezado, permisos, puente o dominio requieren nuevo paquete. Como el usuario eligió no pagar la inscripción, Chrome Web Store no se ha publicado y las actualizaciones del lector se distribuyen manualmente. Mantener la carpeta anterior conserva su identidad descomprimida. Nunca borrar D1 ni restaurar JSON para actualizar código. Un token no cambia por instalar una versión; solo el administrador puede rotarlo en Cloudflare.</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botones llevan a soluciones concretas para los problemas que aparecieron durante la puesta en marcha. No se requiere borrar datos ni crear otra base para estos diagnósticos. Si el equipo tiene restricciones administrativas de Chrome, consultar a TI. El formulario correcto de despliegue es Pages; el operador no debe usar wrangler deploy ni configurar un Worker para abrir el CRM.</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el ZIP exclusivo de la extensión manifest.json está en la raíz. La descarga del repositorio completo tiene una carpeta exterior y el código fuente, por lo que no debe cargarse su raíz como extensión. En Finder o Explorador puede haber una doble carpeta por el modo de extracción: abrir hasta llegar a manifest.json y seleccionar esa ubicación. Mantener el resto de archivos; no copiar únicamente el manifiesto.</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Recargar solo el panel no reactiva el content script en una pestaña de WhatsApp que ya estaba abierta. Es indispensable recargar WhatsApp después de actualizar la extensión. El lector depende del encabezado disponible en WhatsApp y puede necesitar mantenimiento si Meta lo cambia. La búsqueda y apertura manual de Directorio siguen disponibles. Si hay dos fichas con el mismo nombre, el CRM evita abrir una incorrecta automáticamente.</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código 401 corresponde a token inválido. Si falta un TEAM_TOKEN válido en el entorno, la API devuelve 503; consultar la configuración de producción y volver a desplegar después de cambiar secretos/bindings. Una respuesta HTML en vez de JSON puede significar funciones ausentes, URL/ruta incorrecta u otro fallo; no se atribuye una causa sin revisar. No subir solo dist con arrastrar y soltar, porque no instala Pages Functions. El panel actual usa un origen fijo y no requiere pegar URL. No compartir capturas del token ni de la URL privada de Power BI. Las escrituras fallidas no se consideran guardadas; verificar el resultado antes de repetir para evitar registros duplicados.</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Ejercicio de capacitación. Si se practica en producción, acordarlo con el administrador y usar un contacto de prueba claramente identificado para no mezclar actividades reales. La presentación no crea registros por pulsar estas tarjetas: solo abre las instrucciones. Durante el ejercicio, Jaruska debe tener elegido su nombre para ver el aviso y confirmar Recibido. El tutor puede pedir que el grupo cambie entre Lista y Kanban para comprobar que es la misma tarea.</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B. La A comparte una credencial del equipo con una persona que puede no estar autorizada; la C duplica una identidad existente y no crea un aviso para la bandeja de Jaruska. El ejercicio se resuelve mediante enlaces internos, sin macros, almacenamiento de puntuaciones ni envío de respuestas.</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Confirmar que el grupo distingue Leído de Recibido. La confirmación indica una acción dentro del CRM, no una llamada realizada ni un mensaje externo entregado. Cerrar con el enlace del CRM y el paquete de instalación.</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se trata de dar acceso al contacto ni de crear otro miembro del equipo. Repasar Avisar a otro operador en la ficha. El selector de Jaruska determina qué bandeja ve esa persona. Volver a la pregunta para elegir B.</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Recursos del proyecto en GitHub y Cloudflare. Los enlaces de GitHub pueden requerir iniciar sesión si el repositorio cambia de visibilidad. Nunca solicitar pago de registro de Chrome Web Store para este procedimiento. El CRM y sus datos requieren Internet y token autorizado. Para mantener el material, ejecutar node scripts/presentation-captures.mjs y python3 scripts/create-training-presentation.py; ambos trabajan con demostración local para capturas y no consultan la D1 de producción.</a:t>
            </a:r>
          </a:p>
          <a:p/>
          <a:p>
            <a:r>
              <a:t>Fuentes: README.md; docs/NOVEDADES_1.3.md; docs/REVISION_15_FUNCIONES.md; docs/POWER_BI_SIN_COSTO.md; componentes React de la versión 1.3.0. Navegación: Menú y flechas en el pie; tarjetas y botones clicables. Guía elaborada el 28 de octubre de 2026 (Perú).</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slide" Target="slide2.xml"/><Relationship Id="rId5" Type="http://schemas.openxmlformats.org/officeDocument/2006/relationships/slide" Target="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 Id="rId4" Type="http://schemas.openxmlformats.org/officeDocument/2006/relationships/slide" Target="slide4.xml"/><Relationship Id="rId5" Type="http://schemas.openxmlformats.org/officeDocument/2006/relationships/slide" Target="slide10.xml"/><Relationship Id="rId6" Type="http://schemas.openxmlformats.org/officeDocument/2006/relationships/slide" Target="slide21.xml"/><Relationship Id="rId7" Type="http://schemas.openxmlformats.org/officeDocument/2006/relationships/slide" Target="slide25.xml"/><Relationship Id="rId8" Type="http://schemas.openxmlformats.org/officeDocument/2006/relationships/slide" Target="slide3.xml"/><Relationship Id="rId9" Type="http://schemas.openxmlformats.org/officeDocument/2006/relationships/slide" Target="slide1.xml"/><Relationship Id="rId10" Type="http://schemas.openxmlformats.org/officeDocument/2006/relationships/slide" Target="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 Id="rId4" Type="http://schemas.openxmlformats.org/officeDocument/2006/relationships/slide" Target="slide9.xml"/><Relationship Id="rId5" Type="http://schemas.openxmlformats.org/officeDocument/2006/relationships/slide" Target="slide12.xml"/><Relationship Id="rId6" Type="http://schemas.openxmlformats.org/officeDocument/2006/relationships/slide" Target="slide20.xml"/><Relationship Id="rId7" Type="http://schemas.openxmlformats.org/officeDocument/2006/relationships/slide" Target="slide10.xml"/><Relationship Id="rId8" Type="http://schemas.openxmlformats.org/officeDocument/2006/relationships/slide" Target="slide14.xml"/><Relationship Id="rId9" Type="http://schemas.openxmlformats.org/officeDocument/2006/relationships/slide" Target="slide13.xml"/><Relationship Id="rId10" Type="http://schemas.openxmlformats.org/officeDocument/2006/relationships/slide" Target="slide15.xml"/><Relationship Id="rId11" Type="http://schemas.openxmlformats.org/officeDocument/2006/relationships/slide" Target="slide18.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19.xml"/><Relationship Id="rId15" Type="http://schemas.openxmlformats.org/officeDocument/2006/relationships/slide" Target="slide4.xml"/><Relationship Id="rId16" Type="http://schemas.openxmlformats.org/officeDocument/2006/relationships/slide" Target="slide25.xml"/><Relationship Id="rId17"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crm-whatsapp-ana.pages.dev" TargetMode="External"/><Relationship Id="rId4" Type="http://schemas.openxmlformats.org/officeDocument/2006/relationships/notesSlide" Target="../notesSlides/notesSlide4.xml"/><Relationship Id="rId5" Type="http://schemas.openxmlformats.org/officeDocument/2006/relationships/slide" Target="slide5.xml"/><Relationship Id="rId6" Type="http://schemas.openxmlformats.org/officeDocument/2006/relationships/slide" Target="slide4.xml"/><Relationship Id="rId7" Type="http://schemas.openxmlformats.org/officeDocument/2006/relationships/slide" Target="slide10.xml"/><Relationship Id="rId8" Type="http://schemas.openxmlformats.org/officeDocument/2006/relationships/slide" Target="slide21.xml"/><Relationship Id="rId9" Type="http://schemas.openxmlformats.org/officeDocument/2006/relationships/slide" Target="slide25.xml"/><Relationship Id="rId10" Type="http://schemas.openxmlformats.org/officeDocument/2006/relationships/slide" Target="slide3.xml"/><Relationship Id="rId11" Type="http://schemas.openxmlformats.org/officeDocument/2006/relationships/slide" Target="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 Id="rId4" Type="http://schemas.openxmlformats.org/officeDocument/2006/relationships/slide" Target="slide4.xml"/><Relationship Id="rId5" Type="http://schemas.openxmlformats.org/officeDocument/2006/relationships/slide" Target="slide10.xml"/><Relationship Id="rId6" Type="http://schemas.openxmlformats.org/officeDocument/2006/relationships/slide" Target="slide21.xml"/><Relationship Id="rId7" Type="http://schemas.openxmlformats.org/officeDocument/2006/relationships/slide" Target="slide25.xml"/><Relationship Id="rId8" Type="http://schemas.openxmlformats.org/officeDocument/2006/relationships/slide" Target="slide2.xml"/><Relationship Id="rId9" Type="http://schemas.openxmlformats.org/officeDocument/2006/relationships/slide" Target="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github.com/GabrielCuba23/CRM_ANA/raw/refs/heads/main/artifacts/crm-ana-extension.zip" TargetMode="External"/><Relationship Id="rId4" Type="http://schemas.openxmlformats.org/officeDocument/2006/relationships/notesSlide" Target="../notesSlides/notesSlide6.xml"/><Relationship Id="rId5" Type="http://schemas.openxmlformats.org/officeDocument/2006/relationships/slide" Target="slide4.xml"/><Relationship Id="rId6" Type="http://schemas.openxmlformats.org/officeDocument/2006/relationships/slide" Target="slide10.xml"/><Relationship Id="rId7" Type="http://schemas.openxmlformats.org/officeDocument/2006/relationships/slide" Target="slide21.xml"/><Relationship Id="rId8" Type="http://schemas.openxmlformats.org/officeDocument/2006/relationships/slide" Target="slide25.xml"/><Relationship Id="rId9" Type="http://schemas.openxmlformats.org/officeDocument/2006/relationships/slide" Target="slide5.xml"/><Relationship Id="rId10" Type="http://schemas.openxmlformats.org/officeDocument/2006/relationships/slide" Target="slide2.xml"/><Relationship Id="rId11" Type="http://schemas.openxmlformats.org/officeDocument/2006/relationships/slide" Target="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 Id="rId4" Type="http://schemas.openxmlformats.org/officeDocument/2006/relationships/slide" Target="slide8.xml"/><Relationship Id="rId5" Type="http://schemas.openxmlformats.org/officeDocument/2006/relationships/slide" Target="slide4.xml"/><Relationship Id="rId6" Type="http://schemas.openxmlformats.org/officeDocument/2006/relationships/slide" Target="slide10.xml"/><Relationship Id="rId7" Type="http://schemas.openxmlformats.org/officeDocument/2006/relationships/slide" Target="slide21.xml"/><Relationship Id="rId8" Type="http://schemas.openxmlformats.org/officeDocument/2006/relationships/slide" Target="slide25.xml"/><Relationship Id="rId9" Type="http://schemas.openxmlformats.org/officeDocument/2006/relationships/slide" Target="slide6.xml"/><Relationship Id="rId10" Type="http://schemas.openxmlformats.org/officeDocument/2006/relationships/slide" Target="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 Id="rId5" Type="http://schemas.openxmlformats.org/officeDocument/2006/relationships/slide" Target="slide4.xml"/><Relationship Id="rId6" Type="http://schemas.openxmlformats.org/officeDocument/2006/relationships/slide" Target="slide10.xml"/><Relationship Id="rId7" Type="http://schemas.openxmlformats.org/officeDocument/2006/relationships/slide" Target="slide21.xml"/><Relationship Id="rId8" Type="http://schemas.openxmlformats.org/officeDocument/2006/relationships/slide" Target="slide25.xml"/><Relationship Id="rId9" Type="http://schemas.openxmlformats.org/officeDocument/2006/relationships/slide" Target="slide7.xml"/><Relationship Id="rId10" Type="http://schemas.openxmlformats.org/officeDocument/2006/relationships/slide" Target="slide2.xml"/><Relationship Id="rId11" Type="http://schemas.openxmlformats.org/officeDocument/2006/relationships/slide" Target="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 Id="rId4" Type="http://schemas.openxmlformats.org/officeDocument/2006/relationships/slide" Target="slide4.xml"/><Relationship Id="rId5" Type="http://schemas.openxmlformats.org/officeDocument/2006/relationships/slide" Target="slide10.xml"/><Relationship Id="rId6" Type="http://schemas.openxmlformats.org/officeDocument/2006/relationships/slide" Target="slide21.xml"/><Relationship Id="rId7" Type="http://schemas.openxmlformats.org/officeDocument/2006/relationships/slide" Target="slide25.xml"/><Relationship Id="rId8" Type="http://schemas.openxmlformats.org/officeDocument/2006/relationships/slide" Target="slide8.xml"/><Relationship Id="rId9" Type="http://schemas.openxmlformats.org/officeDocument/2006/relationships/slide" Target="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0.xml"/><Relationship Id="rId5" Type="http://schemas.openxmlformats.org/officeDocument/2006/relationships/slide" Target="slide4.xml"/><Relationship Id="rId6" Type="http://schemas.openxmlformats.org/officeDocument/2006/relationships/slide" Target="slide10.xml"/><Relationship Id="rId7" Type="http://schemas.openxmlformats.org/officeDocument/2006/relationships/slide" Target="slide21.xml"/><Relationship Id="rId8" Type="http://schemas.openxmlformats.org/officeDocument/2006/relationships/slide" Target="slide25.xml"/><Relationship Id="rId9" Type="http://schemas.openxmlformats.org/officeDocument/2006/relationships/slide" Target="slide9.xml"/><Relationship Id="rId10" Type="http://schemas.openxmlformats.org/officeDocument/2006/relationships/slide" Target="slide2.xml"/><Relationship Id="rId11" Type="http://schemas.openxmlformats.org/officeDocument/2006/relationships/slide" Target="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 Id="rId4" Type="http://schemas.openxmlformats.org/officeDocument/2006/relationships/slide" Target="slide12.xml"/><Relationship Id="rId5" Type="http://schemas.openxmlformats.org/officeDocument/2006/relationships/slide" Target="slide10.xml"/><Relationship Id="rId6" Type="http://schemas.openxmlformats.org/officeDocument/2006/relationships/slide" Target="slide4.xml"/><Relationship Id="rId7" Type="http://schemas.openxmlformats.org/officeDocument/2006/relationships/slide" Target="slide21.xml"/><Relationship Id="rId8" Type="http://schemas.openxmlformats.org/officeDocument/2006/relationships/slide" Target="slide25.xml"/><Relationship Id="rId9" Type="http://schemas.openxmlformats.org/officeDocument/2006/relationships/slide" Target="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7.xml"/><Relationship Id="rId7" Type="http://schemas.openxmlformats.org/officeDocument/2006/relationships/slide" Target="slide18.xml"/><Relationship Id="rId8" Type="http://schemas.openxmlformats.org/officeDocument/2006/relationships/slide" Target="slide4.xml"/><Relationship Id="rId9" Type="http://schemas.openxmlformats.org/officeDocument/2006/relationships/slide" Target="slide10.xml"/><Relationship Id="rId10" Type="http://schemas.openxmlformats.org/officeDocument/2006/relationships/slide" Target="slide21.xml"/><Relationship Id="rId11" Type="http://schemas.openxmlformats.org/officeDocument/2006/relationships/slide" Target="slide25.xml"/><Relationship Id="rId12" Type="http://schemas.openxmlformats.org/officeDocument/2006/relationships/slide" Target="slide11.xml"/><Relationship Id="rId13" Type="http://schemas.openxmlformats.org/officeDocument/2006/relationships/slide" Target="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3.xml"/><Relationship Id="rId5" Type="http://schemas.openxmlformats.org/officeDocument/2006/relationships/slide" Target="slide4.xml"/><Relationship Id="rId6" Type="http://schemas.openxmlformats.org/officeDocument/2006/relationships/slide" Target="slide10.xml"/><Relationship Id="rId7" Type="http://schemas.openxmlformats.org/officeDocument/2006/relationships/slide" Target="slide21.xml"/><Relationship Id="rId8" Type="http://schemas.openxmlformats.org/officeDocument/2006/relationships/slide" Target="slide25.xml"/><Relationship Id="rId9" Type="http://schemas.openxmlformats.org/officeDocument/2006/relationships/slide" Target="slide12.xml"/><Relationship Id="rId10" Type="http://schemas.openxmlformats.org/officeDocument/2006/relationships/slide" Target="slide2.xml"/><Relationship Id="rId11" Type="http://schemas.openxmlformats.org/officeDocument/2006/relationships/slide" Target="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4.xml"/><Relationship Id="rId5" Type="http://schemas.openxmlformats.org/officeDocument/2006/relationships/slide" Target="slide4.xml"/><Relationship Id="rId6" Type="http://schemas.openxmlformats.org/officeDocument/2006/relationships/slide" Target="slide10.xml"/><Relationship Id="rId7" Type="http://schemas.openxmlformats.org/officeDocument/2006/relationships/slide" Target="slide21.xml"/><Relationship Id="rId8" Type="http://schemas.openxmlformats.org/officeDocument/2006/relationships/slide" Target="slide25.xml"/><Relationship Id="rId9" Type="http://schemas.openxmlformats.org/officeDocument/2006/relationships/slide" Target="slide13.xml"/><Relationship Id="rId10" Type="http://schemas.openxmlformats.org/officeDocument/2006/relationships/slide" Target="slide2.xml"/><Relationship Id="rId11" Type="http://schemas.openxmlformats.org/officeDocument/2006/relationships/slide" Target="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5.xml"/><Relationship Id="rId5" Type="http://schemas.openxmlformats.org/officeDocument/2006/relationships/slide" Target="slide4.xml"/><Relationship Id="rId6" Type="http://schemas.openxmlformats.org/officeDocument/2006/relationships/slide" Target="slide10.xml"/><Relationship Id="rId7" Type="http://schemas.openxmlformats.org/officeDocument/2006/relationships/slide" Target="slide21.xml"/><Relationship Id="rId8" Type="http://schemas.openxmlformats.org/officeDocument/2006/relationships/slide" Target="slide25.xml"/><Relationship Id="rId9" Type="http://schemas.openxmlformats.org/officeDocument/2006/relationships/slide" Target="slide14.xml"/><Relationship Id="rId10" Type="http://schemas.openxmlformats.org/officeDocument/2006/relationships/slide" Target="slide2.xml"/><Relationship Id="rId11" Type="http://schemas.openxmlformats.org/officeDocument/2006/relationships/slide" Target="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 Id="rId4" Type="http://schemas.openxmlformats.org/officeDocument/2006/relationships/slide" Target="slide4.xml"/><Relationship Id="rId5" Type="http://schemas.openxmlformats.org/officeDocument/2006/relationships/slide" Target="slide10.xml"/><Relationship Id="rId6" Type="http://schemas.openxmlformats.org/officeDocument/2006/relationships/slide" Target="slide21.xml"/><Relationship Id="rId7" Type="http://schemas.openxmlformats.org/officeDocument/2006/relationships/slide" Target="slide25.xml"/><Relationship Id="rId8" Type="http://schemas.openxmlformats.org/officeDocument/2006/relationships/slide" Target="slide15.xml"/><Relationship Id="rId9" Type="http://schemas.openxmlformats.org/officeDocument/2006/relationships/slide" Target="slide2.xml"/><Relationship Id="rId10" Type="http://schemas.openxmlformats.org/officeDocument/2006/relationships/slide" Target="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slide" Target="slide4.xml"/><Relationship Id="rId5" Type="http://schemas.openxmlformats.org/officeDocument/2006/relationships/slide" Target="slide10.xml"/><Relationship Id="rId6" Type="http://schemas.openxmlformats.org/officeDocument/2006/relationships/slide" Target="slide21.xml"/><Relationship Id="rId7" Type="http://schemas.openxmlformats.org/officeDocument/2006/relationships/slide" Target="slide25.xml"/><Relationship Id="rId8" Type="http://schemas.openxmlformats.org/officeDocument/2006/relationships/slide" Target="slide16.xml"/><Relationship Id="rId9" Type="http://schemas.openxmlformats.org/officeDocument/2006/relationships/slide" Target="slide2.xml"/><Relationship Id="rId10" Type="http://schemas.openxmlformats.org/officeDocument/2006/relationships/slide" Target="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8.xml"/><Relationship Id="rId5" Type="http://schemas.openxmlformats.org/officeDocument/2006/relationships/slide" Target="slide4.xml"/><Relationship Id="rId6" Type="http://schemas.openxmlformats.org/officeDocument/2006/relationships/slide" Target="slide10.xml"/><Relationship Id="rId7" Type="http://schemas.openxmlformats.org/officeDocument/2006/relationships/slide" Target="slide21.xml"/><Relationship Id="rId8" Type="http://schemas.openxmlformats.org/officeDocument/2006/relationships/slide" Target="slide25.xml"/><Relationship Id="rId9" Type="http://schemas.openxmlformats.org/officeDocument/2006/relationships/slide" Target="slide17.xml"/><Relationship Id="rId10" Type="http://schemas.openxmlformats.org/officeDocument/2006/relationships/slide" Target="slide2.xml"/><Relationship Id="rId11" Type="http://schemas.openxmlformats.org/officeDocument/2006/relationships/slide" Target="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9.xml"/><Relationship Id="rId6" Type="http://schemas.openxmlformats.org/officeDocument/2006/relationships/slide" Target="slide4.xml"/><Relationship Id="rId7" Type="http://schemas.openxmlformats.org/officeDocument/2006/relationships/slide" Target="slide10.xml"/><Relationship Id="rId8" Type="http://schemas.openxmlformats.org/officeDocument/2006/relationships/slide" Target="slide21.xml"/><Relationship Id="rId9" Type="http://schemas.openxmlformats.org/officeDocument/2006/relationships/slide" Target="slide25.xml"/><Relationship Id="rId10" Type="http://schemas.openxmlformats.org/officeDocument/2006/relationships/slide" Target="slide18.xml"/><Relationship Id="rId11" Type="http://schemas.openxmlformats.org/officeDocument/2006/relationships/slide" Target="slide2.xml"/><Relationship Id="rId12" Type="http://schemas.openxmlformats.org/officeDocument/2006/relationships/slide" Target="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 Id="rId4" Type="http://schemas.openxmlformats.org/officeDocument/2006/relationships/slide" Target="slide4.xml"/><Relationship Id="rId5" Type="http://schemas.openxmlformats.org/officeDocument/2006/relationships/slide" Target="slide10.xml"/><Relationship Id="rId6" Type="http://schemas.openxmlformats.org/officeDocument/2006/relationships/slide" Target="slide21.xml"/><Relationship Id="rId7" Type="http://schemas.openxmlformats.org/officeDocument/2006/relationships/slide" Target="slide25.xml"/><Relationship Id="rId8" Type="http://schemas.openxmlformats.org/officeDocument/2006/relationships/slide" Target="slide19.xml"/><Relationship Id="rId9" Type="http://schemas.openxmlformats.org/officeDocument/2006/relationships/slide" Target="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 Id="rId4" Type="http://schemas.openxmlformats.org/officeDocument/2006/relationships/slide" Target="slide4.xml"/><Relationship Id="rId5" Type="http://schemas.openxmlformats.org/officeDocument/2006/relationships/slide" Target="slide10.xml"/><Relationship Id="rId6" Type="http://schemas.openxmlformats.org/officeDocument/2006/relationships/slide" Target="slide21.xml"/><Relationship Id="rId7" Type="http://schemas.openxmlformats.org/officeDocument/2006/relationships/slide" Target="slide25.xml"/><Relationship Id="rId8" Type="http://schemas.openxmlformats.org/officeDocument/2006/relationships/slide" Target="slide20.xml"/><Relationship Id="rId9" Type="http://schemas.openxmlformats.org/officeDocument/2006/relationships/slide" Target="slide2.xml"/><Relationship Id="rId10" Type="http://schemas.openxmlformats.org/officeDocument/2006/relationships/slide" Target="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github.com/GabrielCuba23/CRM_ANA/raw/refs/heads/main/public/powerbi/CRM_ANA_PowerBI.pbip.zip" TargetMode="External"/><Relationship Id="rId4" Type="http://schemas.openxmlformats.org/officeDocument/2006/relationships/hyperlink" Target="https://github.com/GabrielCuba23/CRM_ANA/blob/main/docs/POWER_BI_SIN_COSTO.md" TargetMode="External"/><Relationship Id="rId5" Type="http://schemas.openxmlformats.org/officeDocument/2006/relationships/notesSlide" Target="../notesSlides/notesSlide22.xml"/><Relationship Id="rId6" Type="http://schemas.openxmlformats.org/officeDocument/2006/relationships/slide" Target="slide4.xml"/><Relationship Id="rId7" Type="http://schemas.openxmlformats.org/officeDocument/2006/relationships/slide" Target="slide10.xml"/><Relationship Id="rId8" Type="http://schemas.openxmlformats.org/officeDocument/2006/relationships/slide" Target="slide21.xml"/><Relationship Id="rId9" Type="http://schemas.openxmlformats.org/officeDocument/2006/relationships/slide" Target="slide25.xml"/><Relationship Id="rId10" Type="http://schemas.openxmlformats.org/officeDocument/2006/relationships/slide" Target="slide2.xml"/><Relationship Id="rId11" Type="http://schemas.openxmlformats.org/officeDocument/2006/relationships/slide" Target="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 Id="rId4" Type="http://schemas.openxmlformats.org/officeDocument/2006/relationships/slide" Target="slide4.xml"/><Relationship Id="rId5" Type="http://schemas.openxmlformats.org/officeDocument/2006/relationships/slide" Target="slide10.xml"/><Relationship Id="rId6" Type="http://schemas.openxmlformats.org/officeDocument/2006/relationships/slide" Target="slide21.xml"/><Relationship Id="rId7" Type="http://schemas.openxmlformats.org/officeDocument/2006/relationships/slide" Target="slide25.xml"/><Relationship Id="rId8" Type="http://schemas.openxmlformats.org/officeDocument/2006/relationships/slide" Target="slide22.xml"/><Relationship Id="rId9" Type="http://schemas.openxmlformats.org/officeDocument/2006/relationships/slide" Target="slide2.xml"/><Relationship Id="rId10" Type="http://schemas.openxmlformats.org/officeDocument/2006/relationships/slide" Target="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 Id="rId4" Type="http://schemas.openxmlformats.org/officeDocument/2006/relationships/slide" Target="slide4.xml"/><Relationship Id="rId5" Type="http://schemas.openxmlformats.org/officeDocument/2006/relationships/slide" Target="slide10.xml"/><Relationship Id="rId6" Type="http://schemas.openxmlformats.org/officeDocument/2006/relationships/slide" Target="slide21.xml"/><Relationship Id="rId7" Type="http://schemas.openxmlformats.org/officeDocument/2006/relationships/slide" Target="slide25.xml"/><Relationship Id="rId8" Type="http://schemas.openxmlformats.org/officeDocument/2006/relationships/slide" Target="slide23.xml"/><Relationship Id="rId9" Type="http://schemas.openxmlformats.org/officeDocument/2006/relationships/slide" Target="slid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 Id="rId7" Type="http://schemas.openxmlformats.org/officeDocument/2006/relationships/slide" Target="slide29.xml"/><Relationship Id="rId8" Type="http://schemas.openxmlformats.org/officeDocument/2006/relationships/slide" Target="slide4.xml"/><Relationship Id="rId9" Type="http://schemas.openxmlformats.org/officeDocument/2006/relationships/slide" Target="slide10.xml"/><Relationship Id="rId10" Type="http://schemas.openxmlformats.org/officeDocument/2006/relationships/slide" Target="slide21.xml"/><Relationship Id="rId11" Type="http://schemas.openxmlformats.org/officeDocument/2006/relationships/slide" Target="slide25.xml"/><Relationship Id="rId12" Type="http://schemas.openxmlformats.org/officeDocument/2006/relationships/slide" Target="slide24.xml"/><Relationship Id="rId13" Type="http://schemas.openxmlformats.org/officeDocument/2006/relationships/slide" Target="slide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 Id="rId4" Type="http://schemas.openxmlformats.org/officeDocument/2006/relationships/slide" Target="slide7.xml"/><Relationship Id="rId5" Type="http://schemas.openxmlformats.org/officeDocument/2006/relationships/slide" Target="slide4.xml"/><Relationship Id="rId6" Type="http://schemas.openxmlformats.org/officeDocument/2006/relationships/slide" Target="slide10.xml"/><Relationship Id="rId7" Type="http://schemas.openxmlformats.org/officeDocument/2006/relationships/slide" Target="slide21.xml"/><Relationship Id="rId8" Type="http://schemas.openxmlformats.org/officeDocument/2006/relationships/slide" Target="slide25.xml"/><Relationship Id="rId9" Type="http://schemas.openxmlformats.org/officeDocument/2006/relationships/slide" Target="slide2.xml"/><Relationship Id="rId10" Type="http://schemas.openxmlformats.org/officeDocument/2006/relationships/slide" Target="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 Id="rId4" Type="http://schemas.openxmlformats.org/officeDocument/2006/relationships/slide" Target="slide4.xml"/><Relationship Id="rId5" Type="http://schemas.openxmlformats.org/officeDocument/2006/relationships/slide" Target="slide10.xml"/><Relationship Id="rId6" Type="http://schemas.openxmlformats.org/officeDocument/2006/relationships/slide" Target="slide21.xml"/><Relationship Id="rId7" Type="http://schemas.openxmlformats.org/officeDocument/2006/relationships/slide" Target="slide25.xml"/><Relationship Id="rId8" Type="http://schemas.openxmlformats.org/officeDocument/2006/relationships/slide" Target="slide26.xml"/><Relationship Id="rId9" Type="http://schemas.openxmlformats.org/officeDocument/2006/relationships/slide" Target="slide2.xml"/><Relationship Id="rId10" Type="http://schemas.openxmlformats.org/officeDocument/2006/relationships/slide" Target="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crm-whatsapp-ana.pages.dev" TargetMode="External"/><Relationship Id="rId4" Type="http://schemas.openxmlformats.org/officeDocument/2006/relationships/notesSlide" Target="../notesSlides/notesSlide28.xml"/><Relationship Id="rId5" Type="http://schemas.openxmlformats.org/officeDocument/2006/relationships/slide" Target="slide4.xml"/><Relationship Id="rId6" Type="http://schemas.openxmlformats.org/officeDocument/2006/relationships/slide" Target="slide10.xml"/><Relationship Id="rId7" Type="http://schemas.openxmlformats.org/officeDocument/2006/relationships/slide" Target="slide21.xml"/><Relationship Id="rId8" Type="http://schemas.openxmlformats.org/officeDocument/2006/relationships/slide" Target="slide25.xml"/><Relationship Id="rId9" Type="http://schemas.openxmlformats.org/officeDocument/2006/relationships/slide" Target="slide27.xml"/><Relationship Id="rId10" Type="http://schemas.openxmlformats.org/officeDocument/2006/relationships/slide" Target="slide2.xml"/><Relationship Id="rId11" Type="http://schemas.openxmlformats.org/officeDocument/2006/relationships/slide" Target="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 Id="rId4" Type="http://schemas.openxmlformats.org/officeDocument/2006/relationships/slide" Target="slide12.xml"/><Relationship Id="rId5" Type="http://schemas.openxmlformats.org/officeDocument/2006/relationships/slide" Target="slide13.xml"/><Relationship Id="rId6" Type="http://schemas.openxmlformats.org/officeDocument/2006/relationships/slide" Target="slide19.xml"/><Relationship Id="rId7" Type="http://schemas.openxmlformats.org/officeDocument/2006/relationships/slide" Target="slide14.xml"/><Relationship Id="rId8" Type="http://schemas.openxmlformats.org/officeDocument/2006/relationships/slide" Target="slide16.xml"/><Relationship Id="rId9" Type="http://schemas.openxmlformats.org/officeDocument/2006/relationships/slide" Target="slide30.xml"/><Relationship Id="rId10" Type="http://schemas.openxmlformats.org/officeDocument/2006/relationships/slide" Target="slide4.xml"/><Relationship Id="rId11" Type="http://schemas.openxmlformats.org/officeDocument/2006/relationships/slide" Target="slide10.xml"/><Relationship Id="rId12" Type="http://schemas.openxmlformats.org/officeDocument/2006/relationships/slide" Target="slide21.xml"/><Relationship Id="rId13" Type="http://schemas.openxmlformats.org/officeDocument/2006/relationships/slide" Target="slide25.xml"/><Relationship Id="rId14" Type="http://schemas.openxmlformats.org/officeDocument/2006/relationships/slide" Target="slide28.xml"/><Relationship Id="rId15" Type="http://schemas.openxmlformats.org/officeDocument/2006/relationships/slide" Target="slide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 Id="rId4" Type="http://schemas.openxmlformats.org/officeDocument/2006/relationships/slide" Target="slide32.xml"/><Relationship Id="rId5" Type="http://schemas.openxmlformats.org/officeDocument/2006/relationships/slide" Target="slide31.xml"/><Relationship Id="rId6" Type="http://schemas.openxmlformats.org/officeDocument/2006/relationships/slide" Target="slide4.xml"/><Relationship Id="rId7" Type="http://schemas.openxmlformats.org/officeDocument/2006/relationships/slide" Target="slide10.xml"/><Relationship Id="rId8" Type="http://schemas.openxmlformats.org/officeDocument/2006/relationships/slide" Target="slide21.xml"/><Relationship Id="rId9" Type="http://schemas.openxmlformats.org/officeDocument/2006/relationships/slide" Target="slide25.xml"/><Relationship Id="rId10" Type="http://schemas.openxmlformats.org/officeDocument/2006/relationships/slide" Target="slide29.xml"/><Relationship Id="rId11" Type="http://schemas.openxmlformats.org/officeDocument/2006/relationships/slide" Target="slide2.xml"/><Relationship Id="rId12" Type="http://schemas.openxmlformats.org/officeDocument/2006/relationships/slide" Target="slide3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slide" Target="slide33.xml"/><Relationship Id="rId4" Type="http://schemas.openxmlformats.org/officeDocument/2006/relationships/slide" Target="slide19.xml"/><Relationship Id="rId5" Type="http://schemas.openxmlformats.org/officeDocument/2006/relationships/slide" Target="slide30.xml"/><Relationship Id="rId6" Type="http://schemas.openxmlformats.org/officeDocument/2006/relationships/slide" Target="slide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 Id="rId4" Type="http://schemas.openxmlformats.org/officeDocument/2006/relationships/slide" Target="slide30.xml"/><Relationship Id="rId5" Type="http://schemas.openxmlformats.org/officeDocument/2006/relationships/slide" Target="slide19.xml"/><Relationship Id="rId6" Type="http://schemas.openxmlformats.org/officeDocument/2006/relationships/slide" Target="slide4.xml"/><Relationship Id="rId7" Type="http://schemas.openxmlformats.org/officeDocument/2006/relationships/slide" Target="slide10.xml"/><Relationship Id="rId8" Type="http://schemas.openxmlformats.org/officeDocument/2006/relationships/slide" Target="slide21.xml"/><Relationship Id="rId9" Type="http://schemas.openxmlformats.org/officeDocument/2006/relationships/slide" Target="slide25.xml"/><Relationship Id="rId10" Type="http://schemas.openxmlformats.org/officeDocument/2006/relationships/slide" Target="slide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crm-whatsapp-ana.pages.dev" TargetMode="External"/><Relationship Id="rId4" Type="http://schemas.openxmlformats.org/officeDocument/2006/relationships/hyperlink" Target="https://github.com/GabrielCuba23/CRM_ANA/raw/refs/heads/main/artifacts/crm-ana-extension.zip" TargetMode="External"/><Relationship Id="rId5" Type="http://schemas.openxmlformats.org/officeDocument/2006/relationships/hyperlink" Target="https://github.com/GabrielCuba23/CRM_ANA/raw/refs/heads/main/public/powerbi/CRM_ANA_PowerBI.pbip.zip" TargetMode="External"/><Relationship Id="rId6" Type="http://schemas.openxmlformats.org/officeDocument/2006/relationships/hyperlink" Target="https://github.com/GabrielCuba23/CRM_ANA/blob/main/docs/POWER_BI_SIN_COSTO.md" TargetMode="External"/><Relationship Id="rId7" Type="http://schemas.openxmlformats.org/officeDocument/2006/relationships/notesSlide" Target="../notesSlides/notesSlide33.xml"/><Relationship Id="rId8" Type="http://schemas.openxmlformats.org/officeDocument/2006/relationships/slide" Target="slide2.xml"/><Relationship Id="rId9" Type="http://schemas.openxmlformats.org/officeDocument/2006/relationships/slide" Target="slide4.xml"/><Relationship Id="rId10" Type="http://schemas.openxmlformats.org/officeDocument/2006/relationships/slide" Target="slide10.xml"/><Relationship Id="rId11" Type="http://schemas.openxmlformats.org/officeDocument/2006/relationships/slide" Target="slide21.xml"/><Relationship Id="rId12" Type="http://schemas.openxmlformats.org/officeDocument/2006/relationships/slide" Target="slide25.xml"/><Relationship Id="rId13" Type="http://schemas.openxmlformats.org/officeDocument/2006/relationships/slide" Target="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45E"/>
        </a:solidFill>
        <a:effectLst/>
      </p:bgPr>
    </p:bg>
    <p:spTree>
      <p:nvGrpSpPr>
        <p:cNvPr id="1" name=""/>
        <p:cNvGrpSpPr/>
        <p:nvPr/>
      </p:nvGrpSpPr>
      <p:grpSpPr/>
      <p:sp>
        <p:nvSpPr>
          <p:cNvPr id="2" name="Rounded Rectangle 1"/>
          <p:cNvSpPr/>
          <p:nvPr/>
        </p:nvSpPr>
        <p:spPr>
          <a:xfrm>
            <a:off x="566928" y="457200"/>
            <a:ext cx="2834640" cy="12984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 name="Picture 2" descr="Logotipo ANA original"/>
          <p:cNvPicPr>
            <a:picLocks noChangeAspect="1"/>
          </p:cNvPicPr>
          <p:nvPr/>
        </p:nvPicPr>
        <p:blipFill>
          <a:blip r:embed="rId2"/>
          <a:stretch>
            <a:fillRect/>
          </a:stretch>
        </p:blipFill>
        <p:spPr>
          <a:xfrm>
            <a:off x="820474" y="594360"/>
            <a:ext cx="2309259" cy="1024128"/>
          </a:xfrm>
          <a:prstGeom prst="rect">
            <a:avLst/>
          </a:prstGeom>
          <a:effectLst/>
        </p:spPr>
      </p:pic>
      <p:sp>
        <p:nvSpPr>
          <p:cNvPr id="4" name="TextBox 3"/>
          <p:cNvSpPr txBox="1"/>
          <p:nvPr/>
        </p:nvSpPr>
        <p:spPr>
          <a:xfrm>
            <a:off x="640080" y="2057400"/>
            <a:ext cx="6400800" cy="320040"/>
          </a:xfrm>
          <a:prstGeom prst="rect">
            <a:avLst/>
          </a:prstGeom>
          <a:noFill/>
          <a:effectLst/>
        </p:spPr>
        <p:txBody>
          <a:bodyPr wrap="square" lIns="0" rIns="0" tIns="0" bIns="0" anchor="t">
            <a:spAutoFit/>
          </a:bodyPr>
          <a:lstStyle/>
          <a:p>
            <a:pPr>
              <a:lnSpc>
                <a:spcPct val="112000"/>
              </a:lnSpc>
              <a:spcAft>
                <a:spcPts val="500"/>
              </a:spcAft>
              <a:defRPr sz="1200" b="1">
                <a:solidFill>
                  <a:srgbClr val="C8DAF5"/>
                </a:solidFill>
                <a:latin typeface="Arial"/>
              </a:defRPr>
            </a:pPr>
            <a:r>
              <a:t>COORDINACIÓN INSTITUCIONAL</a:t>
            </a:r>
          </a:p>
        </p:txBody>
      </p:sp>
      <p:sp>
        <p:nvSpPr>
          <p:cNvPr id="5" name="TextBox 4"/>
          <p:cNvSpPr txBox="1"/>
          <p:nvPr/>
        </p:nvSpPr>
        <p:spPr>
          <a:xfrm>
            <a:off x="612648" y="2624328"/>
            <a:ext cx="6583680" cy="1508760"/>
          </a:xfrm>
          <a:prstGeom prst="rect">
            <a:avLst/>
          </a:prstGeom>
          <a:noFill/>
          <a:effectLst/>
        </p:spPr>
        <p:txBody>
          <a:bodyPr wrap="square" lIns="0" rIns="0" tIns="0" bIns="0" anchor="t">
            <a:spAutoFit/>
          </a:bodyPr>
          <a:lstStyle/>
          <a:p>
            <a:pPr>
              <a:lnSpc>
                <a:spcPct val="112000"/>
              </a:lnSpc>
              <a:spcAft>
                <a:spcPts val="500"/>
              </a:spcAft>
              <a:defRPr sz="4300" b="1">
                <a:solidFill>
                  <a:srgbClr val="FFFFFF"/>
                </a:solidFill>
                <a:latin typeface="Arial"/>
              </a:defRPr>
            </a:pPr>
            <a:r>
              <a:t>Cada coordinación,</a:t>
            </a:r>
          </a:p>
          <a:p>
            <a:pPr>
              <a:lnSpc>
                <a:spcPct val="112000"/>
              </a:lnSpc>
              <a:spcAft>
                <a:spcPts val="500"/>
              </a:spcAft>
              <a:defRPr sz="4300" b="1">
                <a:solidFill>
                  <a:srgbClr val="FFFFFF"/>
                </a:solidFill>
                <a:latin typeface="Arial"/>
              </a:defRPr>
            </a:pPr>
            <a:r>
              <a:t>en su espacio.</a:t>
            </a:r>
          </a:p>
        </p:txBody>
      </p:sp>
      <p:sp>
        <p:nvSpPr>
          <p:cNvPr id="6" name="TextBox 5"/>
          <p:cNvSpPr txBox="1"/>
          <p:nvPr/>
        </p:nvSpPr>
        <p:spPr>
          <a:xfrm>
            <a:off x="658368" y="4434840"/>
            <a:ext cx="6492240" cy="868680"/>
          </a:xfrm>
          <a:prstGeom prst="rect">
            <a:avLst/>
          </a:prstGeom>
          <a:noFill/>
          <a:effectLst/>
        </p:spPr>
        <p:txBody>
          <a:bodyPr wrap="square" lIns="0" rIns="0" tIns="0" bIns="0" anchor="t">
            <a:spAutoFit/>
          </a:bodyPr>
          <a:lstStyle/>
          <a:p>
            <a:pPr>
              <a:lnSpc>
                <a:spcPct val="112000"/>
              </a:lnSpc>
              <a:spcAft>
                <a:spcPts val="500"/>
              </a:spcAft>
              <a:defRPr sz="2000" b="0">
                <a:solidFill>
                  <a:srgbClr val="DCE7F8"/>
                </a:solidFill>
                <a:latin typeface="Arial"/>
              </a:defRPr>
            </a:pPr>
            <a:r>
              <a:t>Guía interactiva para instalar el CRM en las PCs</a:t>
            </a:r>
          </a:p>
          <a:p>
            <a:pPr>
              <a:lnSpc>
                <a:spcPct val="112000"/>
              </a:lnSpc>
              <a:spcAft>
                <a:spcPts val="500"/>
              </a:spcAft>
              <a:defRPr sz="2000" b="0">
                <a:solidFill>
                  <a:srgbClr val="DCE7F8"/>
                </a:solidFill>
                <a:latin typeface="Arial"/>
              </a:defRPr>
            </a:pPr>
            <a:r>
              <a:t>y organizar el trabajo diario del equipo.</a:t>
            </a:r>
          </a:p>
        </p:txBody>
      </p:sp>
      <p:sp>
        <p:nvSpPr>
          <p:cNvPr id="7" name="Rounded Rectangle 6">
            <a:hlinkClick action="ppaction://hlinksldjump" r:id="rId4" tooltip="Comenzar  →"/>
          </p:cNvPr>
          <p:cNvSpPr/>
          <p:nvPr/>
        </p:nvSpPr>
        <p:spPr>
          <a:xfrm>
            <a:off x="667512" y="5596128"/>
            <a:ext cx="2240280" cy="521207"/>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a:hlinkClick action="ppaction://hlinksldjump" r:id="rId4" tooltip="Comenzar  →"/>
          </p:cNvPr>
          <p:cNvSpPr txBox="1"/>
          <p:nvPr/>
        </p:nvSpPr>
        <p:spPr>
          <a:xfrm>
            <a:off x="758952" y="5609844"/>
            <a:ext cx="2057400" cy="493775"/>
          </a:xfrm>
          <a:prstGeom prst="rect">
            <a:avLst/>
          </a:prstGeom>
          <a:noFill/>
          <a:effectLst/>
        </p:spPr>
        <p:txBody>
          <a:bodyPr wrap="square" lIns="0" rIns="0" tIns="0" bIns="0" anchor="ctr">
            <a:spAutoFit/>
          </a:bodyPr>
          <a:lstStyle/>
          <a:p>
            <a:pPr algn="ctr">
              <a:lnSpc>
                <a:spcPct val="112000"/>
              </a:lnSpc>
              <a:spcAft>
                <a:spcPts val="500"/>
              </a:spcAft>
              <a:defRPr sz="1300" b="1">
                <a:solidFill>
                  <a:srgbClr val="FFFFFF"/>
                </a:solidFill>
                <a:latin typeface="Arial"/>
              </a:defRPr>
            </a:pPr>
            <a:r>
              <a:t>Comenzar  →</a:t>
            </a:r>
          </a:p>
        </p:txBody>
      </p:sp>
      <p:sp>
        <p:nvSpPr>
          <p:cNvPr id="9" name="Rounded Rectangle 8"/>
          <p:cNvSpPr/>
          <p:nvPr/>
        </p:nvSpPr>
        <p:spPr>
          <a:xfrm>
            <a:off x="7909560" y="2084831"/>
            <a:ext cx="3520440" cy="914400"/>
          </a:xfrm>
          <a:prstGeom prst="roundRect">
            <a:avLst>
              <a:gd name="adj" fmla="val 8000"/>
            </a:avLst>
          </a:prstGeom>
          <a:solidFill>
            <a:srgbClr val="244A8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138160" y="2212848"/>
            <a:ext cx="3063240" cy="320040"/>
          </a:xfrm>
          <a:prstGeom prst="rect">
            <a:avLst/>
          </a:prstGeom>
          <a:noFill/>
          <a:effectLst/>
        </p:spPr>
        <p:txBody>
          <a:bodyPr wrap="square" lIns="0" rIns="0" tIns="0" bIns="0" anchor="t">
            <a:spAutoFit/>
          </a:bodyPr>
          <a:lstStyle/>
          <a:p>
            <a:pPr>
              <a:lnSpc>
                <a:spcPct val="112000"/>
              </a:lnSpc>
              <a:spcAft>
                <a:spcPts val="500"/>
              </a:spcAft>
              <a:defRPr sz="2000" b="1">
                <a:solidFill>
                  <a:srgbClr val="FFFFFF"/>
                </a:solidFill>
                <a:latin typeface="Arial"/>
              </a:defRPr>
            </a:pPr>
            <a:r>
              <a:t>01  Instala</a:t>
            </a:r>
          </a:p>
        </p:txBody>
      </p:sp>
      <p:sp>
        <p:nvSpPr>
          <p:cNvPr id="11" name="TextBox 10"/>
          <p:cNvSpPr txBox="1"/>
          <p:nvPr/>
        </p:nvSpPr>
        <p:spPr>
          <a:xfrm>
            <a:off x="8138160" y="2615184"/>
            <a:ext cx="3063240" cy="274320"/>
          </a:xfrm>
          <a:prstGeom prst="rect">
            <a:avLst/>
          </a:prstGeom>
          <a:noFill/>
          <a:effectLst/>
        </p:spPr>
        <p:txBody>
          <a:bodyPr wrap="square" lIns="0" rIns="0" tIns="0" bIns="0" anchor="t">
            <a:spAutoFit/>
          </a:bodyPr>
          <a:lstStyle/>
          <a:p>
            <a:pPr>
              <a:lnSpc>
                <a:spcPct val="112000"/>
              </a:lnSpc>
              <a:spcAft>
                <a:spcPts val="500"/>
              </a:spcAft>
              <a:defRPr sz="1300" b="0">
                <a:solidFill>
                  <a:srgbClr val="DAE7FB"/>
                </a:solidFill>
                <a:latin typeface="Arial"/>
              </a:defRPr>
            </a:pPr>
            <a:r>
              <a:t>Chrome + acceso del equipo</a:t>
            </a:r>
          </a:p>
        </p:txBody>
      </p:sp>
      <p:sp>
        <p:nvSpPr>
          <p:cNvPr id="12" name="Rounded Rectangle 11"/>
          <p:cNvSpPr/>
          <p:nvPr/>
        </p:nvSpPr>
        <p:spPr>
          <a:xfrm>
            <a:off x="7909560" y="3200400"/>
            <a:ext cx="3520440" cy="914400"/>
          </a:xfrm>
          <a:prstGeom prst="roundRect">
            <a:avLst>
              <a:gd name="adj" fmla="val 8000"/>
            </a:avLst>
          </a:prstGeom>
          <a:solidFill>
            <a:srgbClr val="244A8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138160" y="3328416"/>
            <a:ext cx="3063240" cy="320040"/>
          </a:xfrm>
          <a:prstGeom prst="rect">
            <a:avLst/>
          </a:prstGeom>
          <a:noFill/>
          <a:effectLst/>
        </p:spPr>
        <p:txBody>
          <a:bodyPr wrap="square" lIns="0" rIns="0" tIns="0" bIns="0" anchor="t">
            <a:spAutoFit/>
          </a:bodyPr>
          <a:lstStyle/>
          <a:p>
            <a:pPr>
              <a:lnSpc>
                <a:spcPct val="112000"/>
              </a:lnSpc>
              <a:spcAft>
                <a:spcPts val="500"/>
              </a:spcAft>
              <a:defRPr sz="2000" b="1">
                <a:solidFill>
                  <a:srgbClr val="FFFFFF"/>
                </a:solidFill>
                <a:latin typeface="Arial"/>
              </a:defRPr>
            </a:pPr>
            <a:r>
              <a:t>02  Coordina</a:t>
            </a:r>
          </a:p>
        </p:txBody>
      </p:sp>
      <p:sp>
        <p:nvSpPr>
          <p:cNvPr id="14" name="TextBox 13"/>
          <p:cNvSpPr txBox="1"/>
          <p:nvPr/>
        </p:nvSpPr>
        <p:spPr>
          <a:xfrm>
            <a:off x="8138160" y="3730752"/>
            <a:ext cx="3063240" cy="274320"/>
          </a:xfrm>
          <a:prstGeom prst="rect">
            <a:avLst/>
          </a:prstGeom>
          <a:noFill/>
          <a:effectLst/>
        </p:spPr>
        <p:txBody>
          <a:bodyPr wrap="square" lIns="0" rIns="0" tIns="0" bIns="0" anchor="t">
            <a:spAutoFit/>
          </a:bodyPr>
          <a:lstStyle/>
          <a:p>
            <a:pPr>
              <a:lnSpc>
                <a:spcPct val="112000"/>
              </a:lnSpc>
              <a:spcAft>
                <a:spcPts val="500"/>
              </a:spcAft>
              <a:defRPr sz="1300" b="0">
                <a:solidFill>
                  <a:srgbClr val="DAE7FB"/>
                </a:solidFill>
                <a:latin typeface="Arial"/>
              </a:defRPr>
            </a:pPr>
            <a:r>
              <a:t>Contactos, tareas y agenda</a:t>
            </a:r>
          </a:p>
        </p:txBody>
      </p:sp>
      <p:sp>
        <p:nvSpPr>
          <p:cNvPr id="15" name="Rounded Rectangle 14"/>
          <p:cNvSpPr/>
          <p:nvPr/>
        </p:nvSpPr>
        <p:spPr>
          <a:xfrm>
            <a:off x="7909560" y="4315968"/>
            <a:ext cx="3520440" cy="914400"/>
          </a:xfrm>
          <a:prstGeom prst="roundRect">
            <a:avLst>
              <a:gd name="adj" fmla="val 8000"/>
            </a:avLst>
          </a:prstGeom>
          <a:solidFill>
            <a:srgbClr val="244A8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138160" y="4443983"/>
            <a:ext cx="3063240" cy="320040"/>
          </a:xfrm>
          <a:prstGeom prst="rect">
            <a:avLst/>
          </a:prstGeom>
          <a:noFill/>
          <a:effectLst/>
        </p:spPr>
        <p:txBody>
          <a:bodyPr wrap="square" lIns="0" rIns="0" tIns="0" bIns="0" anchor="t">
            <a:spAutoFit/>
          </a:bodyPr>
          <a:lstStyle/>
          <a:p>
            <a:pPr>
              <a:lnSpc>
                <a:spcPct val="112000"/>
              </a:lnSpc>
              <a:spcAft>
                <a:spcPts val="500"/>
              </a:spcAft>
              <a:defRPr sz="2000" b="1">
                <a:solidFill>
                  <a:srgbClr val="FFFFFF"/>
                </a:solidFill>
                <a:latin typeface="Arial"/>
              </a:defRPr>
            </a:pPr>
            <a:r>
              <a:t>03  Da seguimiento</a:t>
            </a:r>
          </a:p>
        </p:txBody>
      </p:sp>
      <p:sp>
        <p:nvSpPr>
          <p:cNvPr id="17" name="TextBox 16"/>
          <p:cNvSpPr txBox="1"/>
          <p:nvPr/>
        </p:nvSpPr>
        <p:spPr>
          <a:xfrm>
            <a:off x="8138160" y="4846320"/>
            <a:ext cx="3063240" cy="274320"/>
          </a:xfrm>
          <a:prstGeom prst="rect">
            <a:avLst/>
          </a:prstGeom>
          <a:noFill/>
          <a:effectLst/>
        </p:spPr>
        <p:txBody>
          <a:bodyPr wrap="square" lIns="0" rIns="0" tIns="0" bIns="0" anchor="t">
            <a:spAutoFit/>
          </a:bodyPr>
          <a:lstStyle/>
          <a:p>
            <a:pPr>
              <a:lnSpc>
                <a:spcPct val="112000"/>
              </a:lnSpc>
              <a:spcAft>
                <a:spcPts val="500"/>
              </a:spcAft>
              <a:defRPr sz="1300" b="0">
                <a:solidFill>
                  <a:srgbClr val="DAE7FB"/>
                </a:solidFill>
                <a:latin typeface="Arial"/>
              </a:defRPr>
            </a:pPr>
            <a:r>
              <a:t>Avisos, reportes y respaldo</a:t>
            </a:r>
          </a:p>
        </p:txBody>
      </p:sp>
      <p:sp>
        <p:nvSpPr>
          <p:cNvPr id="18" name="TextBox 17"/>
          <p:cNvSpPr txBox="1"/>
          <p:nvPr/>
        </p:nvSpPr>
        <p:spPr>
          <a:xfrm>
            <a:off x="7927848" y="5715000"/>
            <a:ext cx="3657600" cy="347472"/>
          </a:xfrm>
          <a:prstGeom prst="rect">
            <a:avLst/>
          </a:prstGeom>
          <a:noFill/>
          <a:effectLst/>
        </p:spPr>
        <p:txBody>
          <a:bodyPr wrap="square" lIns="0" rIns="0" tIns="0" bIns="0" anchor="t">
            <a:spAutoFit/>
          </a:bodyPr>
          <a:lstStyle/>
          <a:p>
            <a:pPr>
              <a:lnSpc>
                <a:spcPct val="112000"/>
              </a:lnSpc>
              <a:spcAft>
                <a:spcPts val="500"/>
              </a:spcAft>
              <a:defRPr sz="1000" b="1">
                <a:solidFill>
                  <a:srgbClr val="DAE7FB"/>
                </a:solidFill>
                <a:latin typeface="Arial"/>
              </a:defRPr>
            </a:pPr>
            <a:r>
              <a:t>WEB 1.3.0  ·  EXTENSIÓN 1.2.1  ·  28 OCT. 2026</a:t>
            </a:r>
          </a:p>
        </p:txBody>
      </p:sp>
      <p:sp>
        <p:nvSpPr>
          <p:cNvPr id="19" name="TextBox 18">
            <a:hlinkClick action="ppaction://hlinksldjump" r:id="rId5"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FFFFFF"/>
                </a:solidFill>
                <a:latin typeface="Arial"/>
              </a:defRPr>
            </a:pPr>
            <a:r>
              <a:t>‹</a:t>
            </a:r>
          </a:p>
        </p:txBody>
      </p:sp>
      <p:sp>
        <p:nvSpPr>
          <p:cNvPr id="20" name="TextBox 19">
            <a:hlinkClick action="ppaction://hlinksldjump" r:id="rId4"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FFFFFF"/>
                </a:solidFill>
                <a:latin typeface="Arial"/>
              </a:defRPr>
            </a:pPr>
            <a:r>
              <a:t>Menú</a:t>
            </a:r>
          </a:p>
        </p:txBody>
      </p:sp>
      <p:sp>
        <p:nvSpPr>
          <p:cNvPr id="21" name="TextBox 20">
            <a:hlinkClick action="ppaction://hlinksldjump" r:id="rId4"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FFFFFF"/>
                </a:solidFill>
                <a:latin typeface="Arial"/>
              </a:defRPr>
            </a:pPr>
            <a:r>
              <a:t>›</a:t>
            </a:r>
          </a:p>
        </p:txBody>
      </p:sp>
      <p:sp>
        <p:nvSpPr>
          <p:cNvPr id="22" name="TextBox 21"/>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DAE7FB"/>
                </a:solidFill>
                <a:latin typeface="Arial"/>
              </a:defRPr>
            </a:pPr>
            <a:r>
              <a:t>01 / 33</a:t>
            </a:r>
          </a:p>
        </p:txBody>
      </p:sp>
    </p:spTree>
  </p:cSld>
  <p:clrMapOvr>
    <a:masterClrMapping/>
  </p:clrMapOvr>
  <p:transition advClick="1"/>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NAVEGACIÓN INTERACTIVA</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Elige tu recorrido</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Haz clic en una tarjeta. Puedes volver a este menú desde cualquier diapositiva.</a:t>
            </a:r>
          </a:p>
        </p:txBody>
      </p:sp>
      <p:sp>
        <p:nvSpPr>
          <p:cNvPr id="7" name="Rounded Rectangle 6">
            <a:hlinkClick action="ppaction://hlinksldjump" r:id="rId4" tooltip="Abrir recorrido: Instalar en una PC"/>
          </p:cNvPr>
          <p:cNvSpPr/>
          <p:nvPr/>
        </p:nvSpPr>
        <p:spPr>
          <a:xfrm>
            <a:off x="530352" y="2121408"/>
            <a:ext cx="5321808" cy="141732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a:hlinkClick action="ppaction://hlinksldjump" r:id="rId4" tooltip="Abrir recorrido: Instalar en una PC"/>
          </p:cNvPr>
          <p:cNvSpPr txBox="1"/>
          <p:nvPr/>
        </p:nvSpPr>
        <p:spPr>
          <a:xfrm>
            <a:off x="758952" y="2304288"/>
            <a:ext cx="594360" cy="548640"/>
          </a:xfrm>
          <a:prstGeom prst="rect">
            <a:avLst/>
          </a:prstGeom>
          <a:noFill/>
          <a:effectLst/>
        </p:spPr>
        <p:txBody>
          <a:bodyPr wrap="square" lIns="0" rIns="0" tIns="0" bIns="0" anchor="t">
            <a:spAutoFit/>
          </a:bodyPr>
          <a:lstStyle/>
          <a:p>
            <a:pPr>
              <a:lnSpc>
                <a:spcPct val="112000"/>
              </a:lnSpc>
              <a:spcAft>
                <a:spcPts val="500"/>
              </a:spcAft>
              <a:defRPr sz="2900" b="1">
                <a:solidFill>
                  <a:srgbClr val="2957A4"/>
                </a:solidFill>
                <a:latin typeface="Arial"/>
              </a:defRPr>
            </a:pPr>
            <a:r>
              <a:t>01</a:t>
            </a:r>
          </a:p>
        </p:txBody>
      </p:sp>
      <p:sp>
        <p:nvSpPr>
          <p:cNvPr id="9" name="TextBox 8">
            <a:hlinkClick action="ppaction://hlinksldjump" r:id="rId4" tooltip="Abrir recorrido: Instalar en una PC"/>
          </p:cNvPr>
          <p:cNvSpPr txBox="1"/>
          <p:nvPr/>
        </p:nvSpPr>
        <p:spPr>
          <a:xfrm>
            <a:off x="1472184" y="2331720"/>
            <a:ext cx="4069080" cy="374904"/>
          </a:xfrm>
          <a:prstGeom prst="rect">
            <a:avLst/>
          </a:prstGeom>
          <a:noFill/>
          <a:effectLst/>
        </p:spPr>
        <p:txBody>
          <a:bodyPr wrap="square" lIns="0" rIns="0" tIns="0" bIns="0" anchor="t">
            <a:spAutoFit/>
          </a:bodyPr>
          <a:lstStyle/>
          <a:p>
            <a:pPr>
              <a:lnSpc>
                <a:spcPct val="112000"/>
              </a:lnSpc>
              <a:spcAft>
                <a:spcPts val="500"/>
              </a:spcAft>
              <a:defRPr sz="2200" b="1">
                <a:solidFill>
                  <a:srgbClr val="1D3555"/>
                </a:solidFill>
                <a:latin typeface="Arial"/>
              </a:defRPr>
            </a:pPr>
            <a:r>
              <a:t>Instalar en una PC</a:t>
            </a:r>
          </a:p>
        </p:txBody>
      </p:sp>
      <p:sp>
        <p:nvSpPr>
          <p:cNvPr id="10" name="TextBox 9">
            <a:hlinkClick action="ppaction://hlinksldjump" r:id="rId4" tooltip="Abrir recorrido: Instalar en una PC"/>
          </p:cNvPr>
          <p:cNvSpPr txBox="1"/>
          <p:nvPr/>
        </p:nvSpPr>
        <p:spPr>
          <a:xfrm>
            <a:off x="1472184" y="2871215"/>
            <a:ext cx="4023360" cy="43891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Descarga, Chrome, acceso y operador.</a:t>
            </a:r>
          </a:p>
        </p:txBody>
      </p:sp>
      <p:sp>
        <p:nvSpPr>
          <p:cNvPr id="11" name="Rounded Rectangle 10">
            <a:hlinkClick action="ppaction://hlinksldjump" r:id="rId5" tooltip="Abrir recorrido: Usar el CRM"/>
          </p:cNvPr>
          <p:cNvSpPr/>
          <p:nvPr/>
        </p:nvSpPr>
        <p:spPr>
          <a:xfrm>
            <a:off x="6327648" y="2121408"/>
            <a:ext cx="5321808" cy="141732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a:hlinkClick action="ppaction://hlinksldjump" r:id="rId5" tooltip="Abrir recorrido: Usar el CRM"/>
          </p:cNvPr>
          <p:cNvSpPr txBox="1"/>
          <p:nvPr/>
        </p:nvSpPr>
        <p:spPr>
          <a:xfrm>
            <a:off x="6556248" y="2304288"/>
            <a:ext cx="594360" cy="548640"/>
          </a:xfrm>
          <a:prstGeom prst="rect">
            <a:avLst/>
          </a:prstGeom>
          <a:noFill/>
          <a:effectLst/>
        </p:spPr>
        <p:txBody>
          <a:bodyPr wrap="square" lIns="0" rIns="0" tIns="0" bIns="0" anchor="t">
            <a:spAutoFit/>
          </a:bodyPr>
          <a:lstStyle/>
          <a:p>
            <a:pPr>
              <a:lnSpc>
                <a:spcPct val="112000"/>
              </a:lnSpc>
              <a:spcAft>
                <a:spcPts val="500"/>
              </a:spcAft>
              <a:defRPr sz="2900" b="1">
                <a:solidFill>
                  <a:srgbClr val="2957A4"/>
                </a:solidFill>
                <a:latin typeface="Arial"/>
              </a:defRPr>
            </a:pPr>
            <a:r>
              <a:t>02</a:t>
            </a:r>
          </a:p>
        </p:txBody>
      </p:sp>
      <p:sp>
        <p:nvSpPr>
          <p:cNvPr id="13" name="TextBox 12">
            <a:hlinkClick action="ppaction://hlinksldjump" r:id="rId5" tooltip="Abrir recorrido: Usar el CRM"/>
          </p:cNvPr>
          <p:cNvSpPr txBox="1"/>
          <p:nvPr/>
        </p:nvSpPr>
        <p:spPr>
          <a:xfrm>
            <a:off x="7269480" y="2331720"/>
            <a:ext cx="4069080" cy="374904"/>
          </a:xfrm>
          <a:prstGeom prst="rect">
            <a:avLst/>
          </a:prstGeom>
          <a:noFill/>
          <a:effectLst/>
        </p:spPr>
        <p:txBody>
          <a:bodyPr wrap="square" lIns="0" rIns="0" tIns="0" bIns="0" anchor="t">
            <a:spAutoFit/>
          </a:bodyPr>
          <a:lstStyle/>
          <a:p>
            <a:pPr>
              <a:lnSpc>
                <a:spcPct val="112000"/>
              </a:lnSpc>
              <a:spcAft>
                <a:spcPts val="500"/>
              </a:spcAft>
              <a:defRPr sz="2200" b="1">
                <a:solidFill>
                  <a:srgbClr val="1D3555"/>
                </a:solidFill>
                <a:latin typeface="Arial"/>
              </a:defRPr>
            </a:pPr>
            <a:r>
              <a:t>Usar el CRM</a:t>
            </a:r>
          </a:p>
        </p:txBody>
      </p:sp>
      <p:sp>
        <p:nvSpPr>
          <p:cNvPr id="14" name="TextBox 13">
            <a:hlinkClick action="ppaction://hlinksldjump" r:id="rId5" tooltip="Abrir recorrido: Usar el CRM"/>
          </p:cNvPr>
          <p:cNvSpPr txBox="1"/>
          <p:nvPr/>
        </p:nvSpPr>
        <p:spPr>
          <a:xfrm>
            <a:off x="7269480" y="2871215"/>
            <a:ext cx="4023360" cy="43891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Contactos, tareas, reuniones y avisos.</a:t>
            </a:r>
          </a:p>
        </p:txBody>
      </p:sp>
      <p:sp>
        <p:nvSpPr>
          <p:cNvPr id="15" name="Rounded Rectangle 14">
            <a:hlinkClick action="ppaction://hlinksldjump" r:id="rId6" tooltip="Abrir recorrido: Reportes y continuidad"/>
          </p:cNvPr>
          <p:cNvSpPr/>
          <p:nvPr/>
        </p:nvSpPr>
        <p:spPr>
          <a:xfrm>
            <a:off x="530352" y="3840480"/>
            <a:ext cx="5321808" cy="141732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a:hlinkClick action="ppaction://hlinksldjump" r:id="rId6" tooltip="Abrir recorrido: Reportes y continuidad"/>
          </p:cNvPr>
          <p:cNvSpPr txBox="1"/>
          <p:nvPr/>
        </p:nvSpPr>
        <p:spPr>
          <a:xfrm>
            <a:off x="758952" y="4023360"/>
            <a:ext cx="594360" cy="548640"/>
          </a:xfrm>
          <a:prstGeom prst="rect">
            <a:avLst/>
          </a:prstGeom>
          <a:noFill/>
          <a:effectLst/>
        </p:spPr>
        <p:txBody>
          <a:bodyPr wrap="square" lIns="0" rIns="0" tIns="0" bIns="0" anchor="t">
            <a:spAutoFit/>
          </a:bodyPr>
          <a:lstStyle/>
          <a:p>
            <a:pPr>
              <a:lnSpc>
                <a:spcPct val="112000"/>
              </a:lnSpc>
              <a:spcAft>
                <a:spcPts val="500"/>
              </a:spcAft>
              <a:defRPr sz="2900" b="1">
                <a:solidFill>
                  <a:srgbClr val="2957A4"/>
                </a:solidFill>
                <a:latin typeface="Arial"/>
              </a:defRPr>
            </a:pPr>
            <a:r>
              <a:t>03</a:t>
            </a:r>
          </a:p>
        </p:txBody>
      </p:sp>
      <p:sp>
        <p:nvSpPr>
          <p:cNvPr id="17" name="TextBox 16">
            <a:hlinkClick action="ppaction://hlinksldjump" r:id="rId6" tooltip="Abrir recorrido: Reportes y continuidad"/>
          </p:cNvPr>
          <p:cNvSpPr txBox="1"/>
          <p:nvPr/>
        </p:nvSpPr>
        <p:spPr>
          <a:xfrm>
            <a:off x="1472184" y="4050792"/>
            <a:ext cx="4069080" cy="374904"/>
          </a:xfrm>
          <a:prstGeom prst="rect">
            <a:avLst/>
          </a:prstGeom>
          <a:noFill/>
          <a:effectLst/>
        </p:spPr>
        <p:txBody>
          <a:bodyPr wrap="square" lIns="0" rIns="0" tIns="0" bIns="0" anchor="t">
            <a:spAutoFit/>
          </a:bodyPr>
          <a:lstStyle/>
          <a:p>
            <a:pPr>
              <a:lnSpc>
                <a:spcPct val="112000"/>
              </a:lnSpc>
              <a:spcAft>
                <a:spcPts val="500"/>
              </a:spcAft>
              <a:defRPr sz="2200" b="1">
                <a:solidFill>
                  <a:srgbClr val="1D3555"/>
                </a:solidFill>
                <a:latin typeface="Arial"/>
              </a:defRPr>
            </a:pPr>
            <a:r>
              <a:t>Reportes y continuidad</a:t>
            </a:r>
          </a:p>
        </p:txBody>
      </p:sp>
      <p:sp>
        <p:nvSpPr>
          <p:cNvPr id="18" name="TextBox 17">
            <a:hlinkClick action="ppaction://hlinksldjump" r:id="rId6" tooltip="Abrir recorrido: Reportes y continuidad"/>
          </p:cNvPr>
          <p:cNvSpPr txBox="1"/>
          <p:nvPr/>
        </p:nvSpPr>
        <p:spPr>
          <a:xfrm>
            <a:off x="1472184" y="4590288"/>
            <a:ext cx="4023360" cy="43891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Excel, Power BI, respaldo y actualizaciones.</a:t>
            </a:r>
          </a:p>
        </p:txBody>
      </p:sp>
      <p:sp>
        <p:nvSpPr>
          <p:cNvPr id="19" name="Rounded Rectangle 18">
            <a:hlinkClick action="ppaction://hlinksldjump" r:id="rId7" tooltip="Abrir recorrido: Practicar y resolver"/>
          </p:cNvPr>
          <p:cNvSpPr/>
          <p:nvPr/>
        </p:nvSpPr>
        <p:spPr>
          <a:xfrm>
            <a:off x="6327648" y="3840480"/>
            <a:ext cx="5321808" cy="141732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a:hlinkClick action="ppaction://hlinksldjump" r:id="rId7" tooltip="Abrir recorrido: Practicar y resolver"/>
          </p:cNvPr>
          <p:cNvSpPr txBox="1"/>
          <p:nvPr/>
        </p:nvSpPr>
        <p:spPr>
          <a:xfrm>
            <a:off x="6556248" y="4023360"/>
            <a:ext cx="594360" cy="548640"/>
          </a:xfrm>
          <a:prstGeom prst="rect">
            <a:avLst/>
          </a:prstGeom>
          <a:noFill/>
          <a:effectLst/>
        </p:spPr>
        <p:txBody>
          <a:bodyPr wrap="square" lIns="0" rIns="0" tIns="0" bIns="0" anchor="t">
            <a:spAutoFit/>
          </a:bodyPr>
          <a:lstStyle/>
          <a:p>
            <a:pPr>
              <a:lnSpc>
                <a:spcPct val="112000"/>
              </a:lnSpc>
              <a:spcAft>
                <a:spcPts val="500"/>
              </a:spcAft>
              <a:defRPr sz="2900" b="1">
                <a:solidFill>
                  <a:srgbClr val="2957A4"/>
                </a:solidFill>
                <a:latin typeface="Arial"/>
              </a:defRPr>
            </a:pPr>
            <a:r>
              <a:t>04</a:t>
            </a:r>
          </a:p>
        </p:txBody>
      </p:sp>
      <p:sp>
        <p:nvSpPr>
          <p:cNvPr id="21" name="TextBox 20">
            <a:hlinkClick action="ppaction://hlinksldjump" r:id="rId7" tooltip="Abrir recorrido: Practicar y resolver"/>
          </p:cNvPr>
          <p:cNvSpPr txBox="1"/>
          <p:nvPr/>
        </p:nvSpPr>
        <p:spPr>
          <a:xfrm>
            <a:off x="7269480" y="4050792"/>
            <a:ext cx="4069080" cy="374904"/>
          </a:xfrm>
          <a:prstGeom prst="rect">
            <a:avLst/>
          </a:prstGeom>
          <a:noFill/>
          <a:effectLst/>
        </p:spPr>
        <p:txBody>
          <a:bodyPr wrap="square" lIns="0" rIns="0" tIns="0" bIns="0" anchor="t">
            <a:spAutoFit/>
          </a:bodyPr>
          <a:lstStyle/>
          <a:p>
            <a:pPr>
              <a:lnSpc>
                <a:spcPct val="112000"/>
              </a:lnSpc>
              <a:spcAft>
                <a:spcPts val="500"/>
              </a:spcAft>
              <a:defRPr sz="2200" b="1">
                <a:solidFill>
                  <a:srgbClr val="1D3555"/>
                </a:solidFill>
                <a:latin typeface="Arial"/>
              </a:defRPr>
            </a:pPr>
            <a:r>
              <a:t>Practicar y resolver</a:t>
            </a:r>
          </a:p>
        </p:txBody>
      </p:sp>
      <p:sp>
        <p:nvSpPr>
          <p:cNvPr id="22" name="TextBox 21">
            <a:hlinkClick action="ppaction://hlinksldjump" r:id="rId7" tooltip="Abrir recorrido: Practicar y resolver"/>
          </p:cNvPr>
          <p:cNvSpPr txBox="1"/>
          <p:nvPr/>
        </p:nvSpPr>
        <p:spPr>
          <a:xfrm>
            <a:off x="7269480" y="4590288"/>
            <a:ext cx="4023360" cy="43891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Casos guiados, diagnóstico y autoevaluación.</a:t>
            </a:r>
          </a:p>
        </p:txBody>
      </p:sp>
      <p:sp>
        <p:nvSpPr>
          <p:cNvPr id="23" name="Rounded Rectangle 22">
            <a:hlinkClick action="ppaction://hlinksldjump" r:id="rId8" tooltip="Explorar las 15 funciones  →"/>
          </p:cNvPr>
          <p:cNvSpPr/>
          <p:nvPr/>
        </p:nvSpPr>
        <p:spPr>
          <a:xfrm>
            <a:off x="594360" y="5623560"/>
            <a:ext cx="3474720" cy="438912"/>
          </a:xfrm>
          <a:prstGeom prst="roundRect">
            <a:avLst>
              <a:gd name="adj" fmla="val 8000"/>
            </a:avLst>
          </a:prstGeom>
          <a:solidFill>
            <a:srgbClr val="FFFFFF"/>
          </a:solidFill>
          <a:ln w="10160">
            <a:solidFill>
              <a:srgbClr val="D8E3F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a:hlinkClick action="ppaction://hlinksldjump" r:id="rId8" tooltip="Explorar las 15 funciones  →"/>
          </p:cNvPr>
          <p:cNvSpPr txBox="1"/>
          <p:nvPr/>
        </p:nvSpPr>
        <p:spPr>
          <a:xfrm>
            <a:off x="685800" y="5637276"/>
            <a:ext cx="3291839" cy="411479"/>
          </a:xfrm>
          <a:prstGeom prst="rect">
            <a:avLst/>
          </a:prstGeom>
          <a:noFill/>
          <a:effectLst/>
        </p:spPr>
        <p:txBody>
          <a:bodyPr wrap="square" lIns="0" rIns="0" tIns="0" bIns="0" anchor="ctr">
            <a:spAutoFit/>
          </a:bodyPr>
          <a:lstStyle/>
          <a:p>
            <a:pPr algn="ctr">
              <a:lnSpc>
                <a:spcPct val="112000"/>
              </a:lnSpc>
              <a:spcAft>
                <a:spcPts val="500"/>
              </a:spcAft>
              <a:defRPr sz="1300" b="1">
                <a:solidFill>
                  <a:srgbClr val="2957A4"/>
                </a:solidFill>
                <a:latin typeface="Arial"/>
              </a:defRPr>
            </a:pPr>
            <a:r>
              <a:t>Explorar las 15 funciones  →</a:t>
            </a:r>
          </a:p>
        </p:txBody>
      </p:sp>
      <p:sp>
        <p:nvSpPr>
          <p:cNvPr id="25" name="TextBox 24"/>
          <p:cNvSpPr txBox="1"/>
          <p:nvPr/>
        </p:nvSpPr>
        <p:spPr>
          <a:xfrm>
            <a:off x="4617720" y="5687568"/>
            <a:ext cx="7040880" cy="365760"/>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Activa “Presentación con diapositivas” para usar todos los enlaces.</a:t>
            </a:r>
          </a:p>
        </p:txBody>
      </p:sp>
      <p:sp>
        <p:nvSpPr>
          <p:cNvPr id="26" name="Rectangle 25"/>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28" name="TextBox 27">
            <a:hlinkClick action="ppaction://hlinksldjump" r:id="rId4"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29" name="TextBox 28">
            <a:hlinkClick action="ppaction://hlinksldjump" r:id="rId5"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30" name="TextBox 29">
            <a:hlinkClick action="ppaction://hlinksldjump" r:id="rId6"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31" name="TextBox 30">
            <a:hlinkClick action="ppaction://hlinksldjump" r:id="rId7"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32" name="TextBox 31">
            <a:hlinkClick action="ppaction://hlinksldjump" r:id="rId9"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3" name="TextBox 32">
            <a:hlinkClick action="ppaction://hlinksldjump" r:id="rId10"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34" name="TextBox 33">
            <a:hlinkClick action="ppaction://hlinksldjump" r:id="rId8"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5" name="TextBox 34"/>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02 / 33</a:t>
            </a:r>
          </a:p>
        </p:txBody>
      </p:sp>
    </p:spTree>
  </p:cSld>
  <p:clrMapOvr>
    <a:masterClrMapping/>
  </p:clrMapOvr>
  <p:transition advClick="1"/>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MAPA DE FUNCIONES</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Las 15 funciones acordadas</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Cada tarjeta abre la explicación correspondiente. Los avisos entre operadores se incluyen además como herramienta de coordinación.</a:t>
            </a:r>
          </a:p>
        </p:txBody>
      </p:sp>
      <p:sp>
        <p:nvSpPr>
          <p:cNvPr id="7" name="Rounded Rectangle 6">
            <a:hlinkClick action="ppaction://hlinksldjump" r:id="rId4" tooltip="Ver función 1: Operador por PC"/>
          </p:cNvPr>
          <p:cNvSpPr/>
          <p:nvPr/>
        </p:nvSpPr>
        <p:spPr>
          <a:xfrm>
            <a:off x="530352" y="2139696"/>
            <a:ext cx="3639312" cy="56692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a:hlinkClick action="ppaction://hlinksldjump" r:id="rId4" tooltip="Ver función 1: Operador por PC"/>
          </p:cNvPr>
          <p:cNvSpPr txBox="1"/>
          <p:nvPr/>
        </p:nvSpPr>
        <p:spPr>
          <a:xfrm>
            <a:off x="667512" y="2276856"/>
            <a:ext cx="365760" cy="274320"/>
          </a:xfrm>
          <a:prstGeom prst="rect">
            <a:avLst/>
          </a:prstGeom>
          <a:noFill/>
          <a:effectLst/>
        </p:spPr>
        <p:txBody>
          <a:bodyPr wrap="square" lIns="0" rIns="0" tIns="0" bIns="0" anchor="t">
            <a:spAutoFit/>
          </a:bodyPr>
          <a:lstStyle/>
          <a:p>
            <a:pPr>
              <a:lnSpc>
                <a:spcPct val="112000"/>
              </a:lnSpc>
              <a:spcAft>
                <a:spcPts val="500"/>
              </a:spcAft>
              <a:defRPr sz="1300" b="1">
                <a:solidFill>
                  <a:srgbClr val="2957A4"/>
                </a:solidFill>
                <a:latin typeface="Arial"/>
              </a:defRPr>
            </a:pPr>
            <a:r>
              <a:t>01</a:t>
            </a:r>
          </a:p>
        </p:txBody>
      </p:sp>
      <p:sp>
        <p:nvSpPr>
          <p:cNvPr id="9" name="TextBox 8">
            <a:hlinkClick action="ppaction://hlinksldjump" r:id="rId4" tooltip="Ver función 1: Operador por PC"/>
          </p:cNvPr>
          <p:cNvSpPr txBox="1"/>
          <p:nvPr/>
        </p:nvSpPr>
        <p:spPr>
          <a:xfrm>
            <a:off x="1188719" y="2258568"/>
            <a:ext cx="2788920" cy="320040"/>
          </a:xfrm>
          <a:prstGeom prst="rect">
            <a:avLst/>
          </a:prstGeom>
          <a:noFill/>
          <a:effectLst/>
        </p:spPr>
        <p:txBody>
          <a:bodyPr wrap="square" lIns="0" rIns="0" tIns="0" bIns="0" anchor="t">
            <a:spAutoFit/>
          </a:bodyPr>
          <a:lstStyle/>
          <a:p>
            <a:pPr>
              <a:lnSpc>
                <a:spcPct val="112000"/>
              </a:lnSpc>
              <a:spcAft>
                <a:spcPts val="500"/>
              </a:spcAft>
              <a:defRPr sz="1450" b="1">
                <a:solidFill>
                  <a:srgbClr val="1D3555"/>
                </a:solidFill>
                <a:latin typeface="Arial"/>
              </a:defRPr>
            </a:pPr>
            <a:r>
              <a:t>Operador por PC</a:t>
            </a:r>
          </a:p>
        </p:txBody>
      </p:sp>
      <p:sp>
        <p:nvSpPr>
          <p:cNvPr id="10" name="Rounded Rectangle 9">
            <a:hlinkClick action="ppaction://hlinksldjump" r:id="rId5" tooltip="Ver función 2: Responsables asignados"/>
          </p:cNvPr>
          <p:cNvSpPr/>
          <p:nvPr/>
        </p:nvSpPr>
        <p:spPr>
          <a:xfrm>
            <a:off x="530352" y="2843784"/>
            <a:ext cx="3639312" cy="56692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a:hlinkClick action="ppaction://hlinksldjump" r:id="rId5" tooltip="Ver función 2: Responsables asignados"/>
          </p:cNvPr>
          <p:cNvSpPr txBox="1"/>
          <p:nvPr/>
        </p:nvSpPr>
        <p:spPr>
          <a:xfrm>
            <a:off x="667512" y="2980944"/>
            <a:ext cx="365760" cy="274320"/>
          </a:xfrm>
          <a:prstGeom prst="rect">
            <a:avLst/>
          </a:prstGeom>
          <a:noFill/>
          <a:effectLst/>
        </p:spPr>
        <p:txBody>
          <a:bodyPr wrap="square" lIns="0" rIns="0" tIns="0" bIns="0" anchor="t">
            <a:spAutoFit/>
          </a:bodyPr>
          <a:lstStyle/>
          <a:p>
            <a:pPr>
              <a:lnSpc>
                <a:spcPct val="112000"/>
              </a:lnSpc>
              <a:spcAft>
                <a:spcPts val="500"/>
              </a:spcAft>
              <a:defRPr sz="1300" b="1">
                <a:solidFill>
                  <a:srgbClr val="2957A4"/>
                </a:solidFill>
                <a:latin typeface="Arial"/>
              </a:defRPr>
            </a:pPr>
            <a:r>
              <a:t>02</a:t>
            </a:r>
          </a:p>
        </p:txBody>
      </p:sp>
      <p:sp>
        <p:nvSpPr>
          <p:cNvPr id="12" name="TextBox 11">
            <a:hlinkClick action="ppaction://hlinksldjump" r:id="rId5" tooltip="Ver función 2: Responsables asignados"/>
          </p:cNvPr>
          <p:cNvSpPr txBox="1"/>
          <p:nvPr/>
        </p:nvSpPr>
        <p:spPr>
          <a:xfrm>
            <a:off x="1188719" y="2962656"/>
            <a:ext cx="2788920" cy="320040"/>
          </a:xfrm>
          <a:prstGeom prst="rect">
            <a:avLst/>
          </a:prstGeom>
          <a:noFill/>
          <a:effectLst/>
        </p:spPr>
        <p:txBody>
          <a:bodyPr wrap="square" lIns="0" rIns="0" tIns="0" bIns="0" anchor="t">
            <a:spAutoFit/>
          </a:bodyPr>
          <a:lstStyle/>
          <a:p>
            <a:pPr>
              <a:lnSpc>
                <a:spcPct val="112000"/>
              </a:lnSpc>
              <a:spcAft>
                <a:spcPts val="500"/>
              </a:spcAft>
              <a:defRPr sz="1450" b="1">
                <a:solidFill>
                  <a:srgbClr val="1D3555"/>
                </a:solidFill>
                <a:latin typeface="Arial"/>
              </a:defRPr>
            </a:pPr>
            <a:r>
              <a:t>Responsables asignados</a:t>
            </a:r>
          </a:p>
        </p:txBody>
      </p:sp>
      <p:sp>
        <p:nvSpPr>
          <p:cNvPr id="13" name="Rounded Rectangle 12">
            <a:hlinkClick action="ppaction://hlinksldjump" r:id="rId6" tooltip="Ver función 3: Viendo ahora: otra PC"/>
          </p:cNvPr>
          <p:cNvSpPr/>
          <p:nvPr/>
        </p:nvSpPr>
        <p:spPr>
          <a:xfrm>
            <a:off x="530352" y="3547872"/>
            <a:ext cx="3639312" cy="56692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a:hlinkClick action="ppaction://hlinksldjump" r:id="rId6" tooltip="Ver función 3: Viendo ahora: otra PC"/>
          </p:cNvPr>
          <p:cNvSpPr txBox="1"/>
          <p:nvPr/>
        </p:nvSpPr>
        <p:spPr>
          <a:xfrm>
            <a:off x="667512" y="3685032"/>
            <a:ext cx="365760" cy="274320"/>
          </a:xfrm>
          <a:prstGeom prst="rect">
            <a:avLst/>
          </a:prstGeom>
          <a:noFill/>
          <a:effectLst/>
        </p:spPr>
        <p:txBody>
          <a:bodyPr wrap="square" lIns="0" rIns="0" tIns="0" bIns="0" anchor="t">
            <a:spAutoFit/>
          </a:bodyPr>
          <a:lstStyle/>
          <a:p>
            <a:pPr>
              <a:lnSpc>
                <a:spcPct val="112000"/>
              </a:lnSpc>
              <a:spcAft>
                <a:spcPts val="500"/>
              </a:spcAft>
              <a:defRPr sz="1300" b="1">
                <a:solidFill>
                  <a:srgbClr val="2957A4"/>
                </a:solidFill>
                <a:latin typeface="Arial"/>
              </a:defRPr>
            </a:pPr>
            <a:r>
              <a:t>03</a:t>
            </a:r>
          </a:p>
        </p:txBody>
      </p:sp>
      <p:sp>
        <p:nvSpPr>
          <p:cNvPr id="15" name="TextBox 14">
            <a:hlinkClick action="ppaction://hlinksldjump" r:id="rId6" tooltip="Ver función 3: Viendo ahora: otra PC"/>
          </p:cNvPr>
          <p:cNvSpPr txBox="1"/>
          <p:nvPr/>
        </p:nvSpPr>
        <p:spPr>
          <a:xfrm>
            <a:off x="1188719" y="3666744"/>
            <a:ext cx="2788920" cy="320040"/>
          </a:xfrm>
          <a:prstGeom prst="rect">
            <a:avLst/>
          </a:prstGeom>
          <a:noFill/>
          <a:effectLst/>
        </p:spPr>
        <p:txBody>
          <a:bodyPr wrap="square" lIns="0" rIns="0" tIns="0" bIns="0" anchor="t">
            <a:spAutoFit/>
          </a:bodyPr>
          <a:lstStyle/>
          <a:p>
            <a:pPr>
              <a:lnSpc>
                <a:spcPct val="112000"/>
              </a:lnSpc>
              <a:spcAft>
                <a:spcPts val="500"/>
              </a:spcAft>
              <a:defRPr sz="1450" b="1">
                <a:solidFill>
                  <a:srgbClr val="1D3555"/>
                </a:solidFill>
                <a:latin typeface="Arial"/>
              </a:defRPr>
            </a:pPr>
            <a:r>
              <a:t>Viendo ahora: otra PC</a:t>
            </a:r>
          </a:p>
        </p:txBody>
      </p:sp>
      <p:sp>
        <p:nvSpPr>
          <p:cNvPr id="16" name="Rounded Rectangle 15">
            <a:hlinkClick action="ppaction://hlinksldjump" r:id="rId5" tooltip="Ver función 4: Espacios en la nube"/>
          </p:cNvPr>
          <p:cNvSpPr/>
          <p:nvPr/>
        </p:nvSpPr>
        <p:spPr>
          <a:xfrm>
            <a:off x="530352" y="4251960"/>
            <a:ext cx="3639312" cy="56692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a:hlinkClick action="ppaction://hlinksldjump" r:id="rId5" tooltip="Ver función 4: Espacios en la nube"/>
          </p:cNvPr>
          <p:cNvSpPr txBox="1"/>
          <p:nvPr/>
        </p:nvSpPr>
        <p:spPr>
          <a:xfrm>
            <a:off x="667512" y="4389120"/>
            <a:ext cx="365760" cy="274320"/>
          </a:xfrm>
          <a:prstGeom prst="rect">
            <a:avLst/>
          </a:prstGeom>
          <a:noFill/>
          <a:effectLst/>
        </p:spPr>
        <p:txBody>
          <a:bodyPr wrap="square" lIns="0" rIns="0" tIns="0" bIns="0" anchor="t">
            <a:spAutoFit/>
          </a:bodyPr>
          <a:lstStyle/>
          <a:p>
            <a:pPr>
              <a:lnSpc>
                <a:spcPct val="112000"/>
              </a:lnSpc>
              <a:spcAft>
                <a:spcPts val="500"/>
              </a:spcAft>
              <a:defRPr sz="1300" b="1">
                <a:solidFill>
                  <a:srgbClr val="2957A4"/>
                </a:solidFill>
                <a:latin typeface="Arial"/>
              </a:defRPr>
            </a:pPr>
            <a:r>
              <a:t>04</a:t>
            </a:r>
          </a:p>
        </p:txBody>
      </p:sp>
      <p:sp>
        <p:nvSpPr>
          <p:cNvPr id="18" name="TextBox 17">
            <a:hlinkClick action="ppaction://hlinksldjump" r:id="rId5" tooltip="Ver función 4: Espacios en la nube"/>
          </p:cNvPr>
          <p:cNvSpPr txBox="1"/>
          <p:nvPr/>
        </p:nvSpPr>
        <p:spPr>
          <a:xfrm>
            <a:off x="1188719" y="4370832"/>
            <a:ext cx="2788920" cy="320040"/>
          </a:xfrm>
          <a:prstGeom prst="rect">
            <a:avLst/>
          </a:prstGeom>
          <a:noFill/>
          <a:effectLst/>
        </p:spPr>
        <p:txBody>
          <a:bodyPr wrap="square" lIns="0" rIns="0" tIns="0" bIns="0" anchor="t">
            <a:spAutoFit/>
          </a:bodyPr>
          <a:lstStyle/>
          <a:p>
            <a:pPr>
              <a:lnSpc>
                <a:spcPct val="112000"/>
              </a:lnSpc>
              <a:spcAft>
                <a:spcPts val="500"/>
              </a:spcAft>
              <a:defRPr sz="1450" b="1">
                <a:solidFill>
                  <a:srgbClr val="1D3555"/>
                </a:solidFill>
                <a:latin typeface="Arial"/>
              </a:defRPr>
            </a:pPr>
            <a:r>
              <a:t>Espacios en la nube</a:t>
            </a:r>
          </a:p>
        </p:txBody>
      </p:sp>
      <p:sp>
        <p:nvSpPr>
          <p:cNvPr id="19" name="Rounded Rectangle 18">
            <a:hlinkClick action="ppaction://hlinksldjump" r:id="rId7" tooltip="Ver función 5: Directorio y buscador"/>
          </p:cNvPr>
          <p:cNvSpPr/>
          <p:nvPr/>
        </p:nvSpPr>
        <p:spPr>
          <a:xfrm>
            <a:off x="530352" y="4956048"/>
            <a:ext cx="3639312" cy="56692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a:hlinkClick action="ppaction://hlinksldjump" r:id="rId7" tooltip="Ver función 5: Directorio y buscador"/>
          </p:cNvPr>
          <p:cNvSpPr txBox="1"/>
          <p:nvPr/>
        </p:nvSpPr>
        <p:spPr>
          <a:xfrm>
            <a:off x="667512" y="5093208"/>
            <a:ext cx="365760" cy="274320"/>
          </a:xfrm>
          <a:prstGeom prst="rect">
            <a:avLst/>
          </a:prstGeom>
          <a:noFill/>
          <a:effectLst/>
        </p:spPr>
        <p:txBody>
          <a:bodyPr wrap="square" lIns="0" rIns="0" tIns="0" bIns="0" anchor="t">
            <a:spAutoFit/>
          </a:bodyPr>
          <a:lstStyle/>
          <a:p>
            <a:pPr>
              <a:lnSpc>
                <a:spcPct val="112000"/>
              </a:lnSpc>
              <a:spcAft>
                <a:spcPts val="500"/>
              </a:spcAft>
              <a:defRPr sz="1300" b="1">
                <a:solidFill>
                  <a:srgbClr val="2957A4"/>
                </a:solidFill>
                <a:latin typeface="Arial"/>
              </a:defRPr>
            </a:pPr>
            <a:r>
              <a:t>05</a:t>
            </a:r>
          </a:p>
        </p:txBody>
      </p:sp>
      <p:sp>
        <p:nvSpPr>
          <p:cNvPr id="21" name="TextBox 20">
            <a:hlinkClick action="ppaction://hlinksldjump" r:id="rId7" tooltip="Ver función 5: Directorio y buscador"/>
          </p:cNvPr>
          <p:cNvSpPr txBox="1"/>
          <p:nvPr/>
        </p:nvSpPr>
        <p:spPr>
          <a:xfrm>
            <a:off x="1188719" y="5074920"/>
            <a:ext cx="2788920" cy="320040"/>
          </a:xfrm>
          <a:prstGeom prst="rect">
            <a:avLst/>
          </a:prstGeom>
          <a:noFill/>
          <a:effectLst/>
        </p:spPr>
        <p:txBody>
          <a:bodyPr wrap="square" lIns="0" rIns="0" tIns="0" bIns="0" anchor="t">
            <a:spAutoFit/>
          </a:bodyPr>
          <a:lstStyle/>
          <a:p>
            <a:pPr>
              <a:lnSpc>
                <a:spcPct val="112000"/>
              </a:lnSpc>
              <a:spcAft>
                <a:spcPts val="500"/>
              </a:spcAft>
              <a:defRPr sz="1450" b="1">
                <a:solidFill>
                  <a:srgbClr val="1D3555"/>
                </a:solidFill>
                <a:latin typeface="Arial"/>
              </a:defRPr>
            </a:pPr>
            <a:r>
              <a:t>Directorio y buscador</a:t>
            </a:r>
          </a:p>
        </p:txBody>
      </p:sp>
      <p:sp>
        <p:nvSpPr>
          <p:cNvPr id="22" name="Rounded Rectangle 21">
            <a:hlinkClick action="ppaction://hlinksldjump" r:id="rId5" tooltip="Ver función 6: CUT y documentos"/>
          </p:cNvPr>
          <p:cNvSpPr/>
          <p:nvPr/>
        </p:nvSpPr>
        <p:spPr>
          <a:xfrm>
            <a:off x="4398264" y="2139696"/>
            <a:ext cx="3639312" cy="56692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a:hlinkClick action="ppaction://hlinksldjump" r:id="rId5" tooltip="Ver función 6: CUT y documentos"/>
          </p:cNvPr>
          <p:cNvSpPr txBox="1"/>
          <p:nvPr/>
        </p:nvSpPr>
        <p:spPr>
          <a:xfrm>
            <a:off x="4535424" y="2276856"/>
            <a:ext cx="365760" cy="274320"/>
          </a:xfrm>
          <a:prstGeom prst="rect">
            <a:avLst/>
          </a:prstGeom>
          <a:noFill/>
          <a:effectLst/>
        </p:spPr>
        <p:txBody>
          <a:bodyPr wrap="square" lIns="0" rIns="0" tIns="0" bIns="0" anchor="t">
            <a:spAutoFit/>
          </a:bodyPr>
          <a:lstStyle/>
          <a:p>
            <a:pPr>
              <a:lnSpc>
                <a:spcPct val="112000"/>
              </a:lnSpc>
              <a:spcAft>
                <a:spcPts val="500"/>
              </a:spcAft>
              <a:defRPr sz="1300" b="1">
                <a:solidFill>
                  <a:srgbClr val="2957A4"/>
                </a:solidFill>
                <a:latin typeface="Arial"/>
              </a:defRPr>
            </a:pPr>
            <a:r>
              <a:t>06</a:t>
            </a:r>
          </a:p>
        </p:txBody>
      </p:sp>
      <p:sp>
        <p:nvSpPr>
          <p:cNvPr id="24" name="TextBox 23">
            <a:hlinkClick action="ppaction://hlinksldjump" r:id="rId5" tooltip="Ver función 6: CUT y documentos"/>
          </p:cNvPr>
          <p:cNvSpPr txBox="1"/>
          <p:nvPr/>
        </p:nvSpPr>
        <p:spPr>
          <a:xfrm>
            <a:off x="5056632" y="2258568"/>
            <a:ext cx="2788920" cy="320040"/>
          </a:xfrm>
          <a:prstGeom prst="rect">
            <a:avLst/>
          </a:prstGeom>
          <a:noFill/>
          <a:effectLst/>
        </p:spPr>
        <p:txBody>
          <a:bodyPr wrap="square" lIns="0" rIns="0" tIns="0" bIns="0" anchor="t">
            <a:spAutoFit/>
          </a:bodyPr>
          <a:lstStyle/>
          <a:p>
            <a:pPr>
              <a:lnSpc>
                <a:spcPct val="112000"/>
              </a:lnSpc>
              <a:spcAft>
                <a:spcPts val="500"/>
              </a:spcAft>
              <a:defRPr sz="1450" b="1">
                <a:solidFill>
                  <a:srgbClr val="1D3555"/>
                </a:solidFill>
                <a:latin typeface="Arial"/>
              </a:defRPr>
            </a:pPr>
            <a:r>
              <a:t>CUT y documentos</a:t>
            </a:r>
          </a:p>
        </p:txBody>
      </p:sp>
      <p:sp>
        <p:nvSpPr>
          <p:cNvPr id="25" name="Rounded Rectangle 24">
            <a:hlinkClick action="ppaction://hlinksldjump" r:id="rId7" tooltip="Ver función 7: Bandejas de gestión"/>
          </p:cNvPr>
          <p:cNvSpPr/>
          <p:nvPr/>
        </p:nvSpPr>
        <p:spPr>
          <a:xfrm>
            <a:off x="4398264" y="2843784"/>
            <a:ext cx="3639312" cy="56692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a:hlinkClick action="ppaction://hlinksldjump" r:id="rId7" tooltip="Ver función 7: Bandejas de gestión"/>
          </p:cNvPr>
          <p:cNvSpPr txBox="1"/>
          <p:nvPr/>
        </p:nvSpPr>
        <p:spPr>
          <a:xfrm>
            <a:off x="4535424" y="2980944"/>
            <a:ext cx="365760" cy="274320"/>
          </a:xfrm>
          <a:prstGeom prst="rect">
            <a:avLst/>
          </a:prstGeom>
          <a:noFill/>
          <a:effectLst/>
        </p:spPr>
        <p:txBody>
          <a:bodyPr wrap="square" lIns="0" rIns="0" tIns="0" bIns="0" anchor="t">
            <a:spAutoFit/>
          </a:bodyPr>
          <a:lstStyle/>
          <a:p>
            <a:pPr>
              <a:lnSpc>
                <a:spcPct val="112000"/>
              </a:lnSpc>
              <a:spcAft>
                <a:spcPts val="500"/>
              </a:spcAft>
              <a:defRPr sz="1300" b="1">
                <a:solidFill>
                  <a:srgbClr val="2957A4"/>
                </a:solidFill>
                <a:latin typeface="Arial"/>
              </a:defRPr>
            </a:pPr>
            <a:r>
              <a:t>07</a:t>
            </a:r>
          </a:p>
        </p:txBody>
      </p:sp>
      <p:sp>
        <p:nvSpPr>
          <p:cNvPr id="27" name="TextBox 26">
            <a:hlinkClick action="ppaction://hlinksldjump" r:id="rId7" tooltip="Ver función 7: Bandejas de gestión"/>
          </p:cNvPr>
          <p:cNvSpPr txBox="1"/>
          <p:nvPr/>
        </p:nvSpPr>
        <p:spPr>
          <a:xfrm>
            <a:off x="5056632" y="2962656"/>
            <a:ext cx="2788920" cy="320040"/>
          </a:xfrm>
          <a:prstGeom prst="rect">
            <a:avLst/>
          </a:prstGeom>
          <a:noFill/>
          <a:effectLst/>
        </p:spPr>
        <p:txBody>
          <a:bodyPr wrap="square" lIns="0" rIns="0" tIns="0" bIns="0" anchor="t">
            <a:spAutoFit/>
          </a:bodyPr>
          <a:lstStyle/>
          <a:p>
            <a:pPr>
              <a:lnSpc>
                <a:spcPct val="112000"/>
              </a:lnSpc>
              <a:spcAft>
                <a:spcPts val="500"/>
              </a:spcAft>
              <a:defRPr sz="1450" b="1">
                <a:solidFill>
                  <a:srgbClr val="1D3555"/>
                </a:solidFill>
                <a:latin typeface="Arial"/>
              </a:defRPr>
            </a:pPr>
            <a:r>
              <a:t>Bandejas de gestión</a:t>
            </a:r>
          </a:p>
        </p:txBody>
      </p:sp>
      <p:sp>
        <p:nvSpPr>
          <p:cNvPr id="28" name="Rounded Rectangle 27">
            <a:hlinkClick action="ppaction://hlinksldjump" r:id="rId8" tooltip="Ver función 8: Texto a tarea"/>
          </p:cNvPr>
          <p:cNvSpPr/>
          <p:nvPr/>
        </p:nvSpPr>
        <p:spPr>
          <a:xfrm>
            <a:off x="4398264" y="3547872"/>
            <a:ext cx="3639312" cy="56692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a:hlinkClick action="ppaction://hlinksldjump" r:id="rId8" tooltip="Ver función 8: Texto a tarea"/>
          </p:cNvPr>
          <p:cNvSpPr txBox="1"/>
          <p:nvPr/>
        </p:nvSpPr>
        <p:spPr>
          <a:xfrm>
            <a:off x="4535424" y="3685032"/>
            <a:ext cx="365760" cy="274320"/>
          </a:xfrm>
          <a:prstGeom prst="rect">
            <a:avLst/>
          </a:prstGeom>
          <a:noFill/>
          <a:effectLst/>
        </p:spPr>
        <p:txBody>
          <a:bodyPr wrap="square" lIns="0" rIns="0" tIns="0" bIns="0" anchor="t">
            <a:spAutoFit/>
          </a:bodyPr>
          <a:lstStyle/>
          <a:p>
            <a:pPr>
              <a:lnSpc>
                <a:spcPct val="112000"/>
              </a:lnSpc>
              <a:spcAft>
                <a:spcPts val="500"/>
              </a:spcAft>
              <a:defRPr sz="1300" b="1">
                <a:solidFill>
                  <a:srgbClr val="2957A4"/>
                </a:solidFill>
                <a:latin typeface="Arial"/>
              </a:defRPr>
            </a:pPr>
            <a:r>
              <a:t>08</a:t>
            </a:r>
          </a:p>
        </p:txBody>
      </p:sp>
      <p:sp>
        <p:nvSpPr>
          <p:cNvPr id="30" name="TextBox 29">
            <a:hlinkClick action="ppaction://hlinksldjump" r:id="rId8" tooltip="Ver función 8: Texto a tarea"/>
          </p:cNvPr>
          <p:cNvSpPr txBox="1"/>
          <p:nvPr/>
        </p:nvSpPr>
        <p:spPr>
          <a:xfrm>
            <a:off x="5056632" y="3666744"/>
            <a:ext cx="2788920" cy="320040"/>
          </a:xfrm>
          <a:prstGeom prst="rect">
            <a:avLst/>
          </a:prstGeom>
          <a:noFill/>
          <a:effectLst/>
        </p:spPr>
        <p:txBody>
          <a:bodyPr wrap="square" lIns="0" rIns="0" tIns="0" bIns="0" anchor="t">
            <a:spAutoFit/>
          </a:bodyPr>
          <a:lstStyle/>
          <a:p>
            <a:pPr>
              <a:lnSpc>
                <a:spcPct val="112000"/>
              </a:lnSpc>
              <a:spcAft>
                <a:spcPts val="500"/>
              </a:spcAft>
              <a:defRPr sz="1450" b="1">
                <a:solidFill>
                  <a:srgbClr val="1D3555"/>
                </a:solidFill>
                <a:latin typeface="Arial"/>
              </a:defRPr>
            </a:pPr>
            <a:r>
              <a:t>Texto a tarea</a:t>
            </a:r>
          </a:p>
        </p:txBody>
      </p:sp>
      <p:sp>
        <p:nvSpPr>
          <p:cNvPr id="31" name="Rounded Rectangle 30">
            <a:hlinkClick action="ppaction://hlinksldjump" r:id="rId8" tooltip="Ver función 9: Tablero de pendientes"/>
          </p:cNvPr>
          <p:cNvSpPr/>
          <p:nvPr/>
        </p:nvSpPr>
        <p:spPr>
          <a:xfrm>
            <a:off x="4398264" y="4251960"/>
            <a:ext cx="3639312" cy="56692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a:hlinkClick action="ppaction://hlinksldjump" r:id="rId8" tooltip="Ver función 9: Tablero de pendientes"/>
          </p:cNvPr>
          <p:cNvSpPr txBox="1"/>
          <p:nvPr/>
        </p:nvSpPr>
        <p:spPr>
          <a:xfrm>
            <a:off x="4535424" y="4389120"/>
            <a:ext cx="365760" cy="274320"/>
          </a:xfrm>
          <a:prstGeom prst="rect">
            <a:avLst/>
          </a:prstGeom>
          <a:noFill/>
          <a:effectLst/>
        </p:spPr>
        <p:txBody>
          <a:bodyPr wrap="square" lIns="0" rIns="0" tIns="0" bIns="0" anchor="t">
            <a:spAutoFit/>
          </a:bodyPr>
          <a:lstStyle/>
          <a:p>
            <a:pPr>
              <a:lnSpc>
                <a:spcPct val="112000"/>
              </a:lnSpc>
              <a:spcAft>
                <a:spcPts val="500"/>
              </a:spcAft>
              <a:defRPr sz="1300" b="1">
                <a:solidFill>
                  <a:srgbClr val="2957A4"/>
                </a:solidFill>
                <a:latin typeface="Arial"/>
              </a:defRPr>
            </a:pPr>
            <a:r>
              <a:t>09</a:t>
            </a:r>
          </a:p>
        </p:txBody>
      </p:sp>
      <p:sp>
        <p:nvSpPr>
          <p:cNvPr id="33" name="TextBox 32">
            <a:hlinkClick action="ppaction://hlinksldjump" r:id="rId8" tooltip="Ver función 9: Tablero de pendientes"/>
          </p:cNvPr>
          <p:cNvSpPr txBox="1"/>
          <p:nvPr/>
        </p:nvSpPr>
        <p:spPr>
          <a:xfrm>
            <a:off x="5056632" y="4370832"/>
            <a:ext cx="2788920" cy="320040"/>
          </a:xfrm>
          <a:prstGeom prst="rect">
            <a:avLst/>
          </a:prstGeom>
          <a:noFill/>
          <a:effectLst/>
        </p:spPr>
        <p:txBody>
          <a:bodyPr wrap="square" lIns="0" rIns="0" tIns="0" bIns="0" anchor="t">
            <a:spAutoFit/>
          </a:bodyPr>
          <a:lstStyle/>
          <a:p>
            <a:pPr>
              <a:lnSpc>
                <a:spcPct val="112000"/>
              </a:lnSpc>
              <a:spcAft>
                <a:spcPts val="500"/>
              </a:spcAft>
              <a:defRPr sz="1450" b="1">
                <a:solidFill>
                  <a:srgbClr val="1D3555"/>
                </a:solidFill>
                <a:latin typeface="Arial"/>
              </a:defRPr>
            </a:pPr>
            <a:r>
              <a:t>Tablero de pendientes</a:t>
            </a:r>
          </a:p>
        </p:txBody>
      </p:sp>
      <p:sp>
        <p:nvSpPr>
          <p:cNvPr id="34" name="Rounded Rectangle 33">
            <a:hlinkClick action="ppaction://hlinksldjump" r:id="rId9" tooltip="Ver función 10: Bitácora interna"/>
          </p:cNvPr>
          <p:cNvSpPr/>
          <p:nvPr/>
        </p:nvSpPr>
        <p:spPr>
          <a:xfrm>
            <a:off x="4398264" y="4956048"/>
            <a:ext cx="3639312" cy="56692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a:hlinkClick action="ppaction://hlinksldjump" r:id="rId9" tooltip="Ver función 10: Bitácora interna"/>
          </p:cNvPr>
          <p:cNvSpPr txBox="1"/>
          <p:nvPr/>
        </p:nvSpPr>
        <p:spPr>
          <a:xfrm>
            <a:off x="4535424" y="5093208"/>
            <a:ext cx="365760" cy="274320"/>
          </a:xfrm>
          <a:prstGeom prst="rect">
            <a:avLst/>
          </a:prstGeom>
          <a:noFill/>
          <a:effectLst/>
        </p:spPr>
        <p:txBody>
          <a:bodyPr wrap="square" lIns="0" rIns="0" tIns="0" bIns="0" anchor="t">
            <a:spAutoFit/>
          </a:bodyPr>
          <a:lstStyle/>
          <a:p>
            <a:pPr>
              <a:lnSpc>
                <a:spcPct val="112000"/>
              </a:lnSpc>
              <a:spcAft>
                <a:spcPts val="500"/>
              </a:spcAft>
              <a:defRPr sz="1300" b="1">
                <a:solidFill>
                  <a:srgbClr val="2957A4"/>
                </a:solidFill>
                <a:latin typeface="Arial"/>
              </a:defRPr>
            </a:pPr>
            <a:r>
              <a:t>10</a:t>
            </a:r>
          </a:p>
        </p:txBody>
      </p:sp>
      <p:sp>
        <p:nvSpPr>
          <p:cNvPr id="36" name="TextBox 35">
            <a:hlinkClick action="ppaction://hlinksldjump" r:id="rId9" tooltip="Ver función 10: Bitácora interna"/>
          </p:cNvPr>
          <p:cNvSpPr txBox="1"/>
          <p:nvPr/>
        </p:nvSpPr>
        <p:spPr>
          <a:xfrm>
            <a:off x="5056632" y="5074920"/>
            <a:ext cx="2788920" cy="320040"/>
          </a:xfrm>
          <a:prstGeom prst="rect">
            <a:avLst/>
          </a:prstGeom>
          <a:noFill/>
          <a:effectLst/>
        </p:spPr>
        <p:txBody>
          <a:bodyPr wrap="square" lIns="0" rIns="0" tIns="0" bIns="0" anchor="t">
            <a:spAutoFit/>
          </a:bodyPr>
          <a:lstStyle/>
          <a:p>
            <a:pPr>
              <a:lnSpc>
                <a:spcPct val="112000"/>
              </a:lnSpc>
              <a:spcAft>
                <a:spcPts val="500"/>
              </a:spcAft>
              <a:defRPr sz="1450" b="1">
                <a:solidFill>
                  <a:srgbClr val="1D3555"/>
                </a:solidFill>
                <a:latin typeface="Arial"/>
              </a:defRPr>
            </a:pPr>
            <a:r>
              <a:t>Bitácora interna</a:t>
            </a:r>
          </a:p>
        </p:txBody>
      </p:sp>
      <p:sp>
        <p:nvSpPr>
          <p:cNvPr id="37" name="Rounded Rectangle 36">
            <a:hlinkClick action="ppaction://hlinksldjump" r:id="rId8" tooltip="Ver función 11: Checklist por contacto"/>
          </p:cNvPr>
          <p:cNvSpPr/>
          <p:nvPr/>
        </p:nvSpPr>
        <p:spPr>
          <a:xfrm>
            <a:off x="8266176" y="2139696"/>
            <a:ext cx="3639312" cy="56692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a:hlinkClick action="ppaction://hlinksldjump" r:id="rId8" tooltip="Ver función 11: Checklist por contacto"/>
          </p:cNvPr>
          <p:cNvSpPr txBox="1"/>
          <p:nvPr/>
        </p:nvSpPr>
        <p:spPr>
          <a:xfrm>
            <a:off x="8403336" y="2276856"/>
            <a:ext cx="365760" cy="274320"/>
          </a:xfrm>
          <a:prstGeom prst="rect">
            <a:avLst/>
          </a:prstGeom>
          <a:noFill/>
          <a:effectLst/>
        </p:spPr>
        <p:txBody>
          <a:bodyPr wrap="square" lIns="0" rIns="0" tIns="0" bIns="0" anchor="t">
            <a:spAutoFit/>
          </a:bodyPr>
          <a:lstStyle/>
          <a:p>
            <a:pPr>
              <a:lnSpc>
                <a:spcPct val="112000"/>
              </a:lnSpc>
              <a:spcAft>
                <a:spcPts val="500"/>
              </a:spcAft>
              <a:defRPr sz="1300" b="1">
                <a:solidFill>
                  <a:srgbClr val="2957A4"/>
                </a:solidFill>
                <a:latin typeface="Arial"/>
              </a:defRPr>
            </a:pPr>
            <a:r>
              <a:t>11</a:t>
            </a:r>
          </a:p>
        </p:txBody>
      </p:sp>
      <p:sp>
        <p:nvSpPr>
          <p:cNvPr id="39" name="TextBox 38">
            <a:hlinkClick action="ppaction://hlinksldjump" r:id="rId8" tooltip="Ver función 11: Checklist por contacto"/>
          </p:cNvPr>
          <p:cNvSpPr txBox="1"/>
          <p:nvPr/>
        </p:nvSpPr>
        <p:spPr>
          <a:xfrm>
            <a:off x="8924544" y="2258568"/>
            <a:ext cx="2788920" cy="320040"/>
          </a:xfrm>
          <a:prstGeom prst="rect">
            <a:avLst/>
          </a:prstGeom>
          <a:noFill/>
          <a:effectLst/>
        </p:spPr>
        <p:txBody>
          <a:bodyPr wrap="square" lIns="0" rIns="0" tIns="0" bIns="0" anchor="t">
            <a:spAutoFit/>
          </a:bodyPr>
          <a:lstStyle/>
          <a:p>
            <a:pPr>
              <a:lnSpc>
                <a:spcPct val="112000"/>
              </a:lnSpc>
              <a:spcAft>
                <a:spcPts val="500"/>
              </a:spcAft>
              <a:defRPr sz="1450" b="1">
                <a:solidFill>
                  <a:srgbClr val="1D3555"/>
                </a:solidFill>
                <a:latin typeface="Arial"/>
              </a:defRPr>
            </a:pPr>
            <a:r>
              <a:t>Checklist por contacto</a:t>
            </a:r>
          </a:p>
        </p:txBody>
      </p:sp>
      <p:sp>
        <p:nvSpPr>
          <p:cNvPr id="40" name="Rounded Rectangle 39">
            <a:hlinkClick action="ppaction://hlinksldjump" r:id="rId10" tooltip="Ver función 12: Agenda, minutas y avisos"/>
          </p:cNvPr>
          <p:cNvSpPr/>
          <p:nvPr/>
        </p:nvSpPr>
        <p:spPr>
          <a:xfrm>
            <a:off x="8266176" y="2843784"/>
            <a:ext cx="3639312" cy="56692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a:hlinkClick action="ppaction://hlinksldjump" r:id="rId10" tooltip="Ver función 12: Agenda, minutas y avisos"/>
          </p:cNvPr>
          <p:cNvSpPr txBox="1"/>
          <p:nvPr/>
        </p:nvSpPr>
        <p:spPr>
          <a:xfrm>
            <a:off x="8403336" y="2980944"/>
            <a:ext cx="365760" cy="274320"/>
          </a:xfrm>
          <a:prstGeom prst="rect">
            <a:avLst/>
          </a:prstGeom>
          <a:noFill/>
          <a:effectLst/>
        </p:spPr>
        <p:txBody>
          <a:bodyPr wrap="square" lIns="0" rIns="0" tIns="0" bIns="0" anchor="t">
            <a:spAutoFit/>
          </a:bodyPr>
          <a:lstStyle/>
          <a:p>
            <a:pPr>
              <a:lnSpc>
                <a:spcPct val="112000"/>
              </a:lnSpc>
              <a:spcAft>
                <a:spcPts val="500"/>
              </a:spcAft>
              <a:defRPr sz="1300" b="1">
                <a:solidFill>
                  <a:srgbClr val="2957A4"/>
                </a:solidFill>
                <a:latin typeface="Arial"/>
              </a:defRPr>
            </a:pPr>
            <a:r>
              <a:t>12</a:t>
            </a:r>
          </a:p>
        </p:txBody>
      </p:sp>
      <p:sp>
        <p:nvSpPr>
          <p:cNvPr id="42" name="TextBox 41">
            <a:hlinkClick action="ppaction://hlinksldjump" r:id="rId10" tooltip="Ver función 12: Agenda, minutas y avisos"/>
          </p:cNvPr>
          <p:cNvSpPr txBox="1"/>
          <p:nvPr/>
        </p:nvSpPr>
        <p:spPr>
          <a:xfrm>
            <a:off x="8924544" y="2962656"/>
            <a:ext cx="2788920" cy="320040"/>
          </a:xfrm>
          <a:prstGeom prst="rect">
            <a:avLst/>
          </a:prstGeom>
          <a:noFill/>
          <a:effectLst/>
        </p:spPr>
        <p:txBody>
          <a:bodyPr wrap="square" lIns="0" rIns="0" tIns="0" bIns="0" anchor="t">
            <a:spAutoFit/>
          </a:bodyPr>
          <a:lstStyle/>
          <a:p>
            <a:pPr>
              <a:lnSpc>
                <a:spcPct val="112000"/>
              </a:lnSpc>
              <a:spcAft>
                <a:spcPts val="500"/>
              </a:spcAft>
              <a:defRPr sz="1450" b="1">
                <a:solidFill>
                  <a:srgbClr val="1D3555"/>
                </a:solidFill>
                <a:latin typeface="Arial"/>
              </a:defRPr>
            </a:pPr>
            <a:r>
              <a:t>Agenda, minutas y avisos</a:t>
            </a:r>
          </a:p>
        </p:txBody>
      </p:sp>
      <p:sp>
        <p:nvSpPr>
          <p:cNvPr id="43" name="Rounded Rectangle 42">
            <a:hlinkClick action="ppaction://hlinksldjump" r:id="rId11" tooltip="Ver función 13: Formatos y firma /"/>
          </p:cNvPr>
          <p:cNvSpPr/>
          <p:nvPr/>
        </p:nvSpPr>
        <p:spPr>
          <a:xfrm>
            <a:off x="8266176" y="3547872"/>
            <a:ext cx="3639312" cy="56692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a:hlinkClick action="ppaction://hlinksldjump" r:id="rId11" tooltip="Ver función 13: Formatos y firma /"/>
          </p:cNvPr>
          <p:cNvSpPr txBox="1"/>
          <p:nvPr/>
        </p:nvSpPr>
        <p:spPr>
          <a:xfrm>
            <a:off x="8403336" y="3685032"/>
            <a:ext cx="365760" cy="274320"/>
          </a:xfrm>
          <a:prstGeom prst="rect">
            <a:avLst/>
          </a:prstGeom>
          <a:noFill/>
          <a:effectLst/>
        </p:spPr>
        <p:txBody>
          <a:bodyPr wrap="square" lIns="0" rIns="0" tIns="0" bIns="0" anchor="t">
            <a:spAutoFit/>
          </a:bodyPr>
          <a:lstStyle/>
          <a:p>
            <a:pPr>
              <a:lnSpc>
                <a:spcPct val="112000"/>
              </a:lnSpc>
              <a:spcAft>
                <a:spcPts val="500"/>
              </a:spcAft>
              <a:defRPr sz="1300" b="1">
                <a:solidFill>
                  <a:srgbClr val="2957A4"/>
                </a:solidFill>
                <a:latin typeface="Arial"/>
              </a:defRPr>
            </a:pPr>
            <a:r>
              <a:t>13</a:t>
            </a:r>
          </a:p>
        </p:txBody>
      </p:sp>
      <p:sp>
        <p:nvSpPr>
          <p:cNvPr id="45" name="TextBox 44">
            <a:hlinkClick action="ppaction://hlinksldjump" r:id="rId11" tooltip="Ver función 13: Formatos y firma /"/>
          </p:cNvPr>
          <p:cNvSpPr txBox="1"/>
          <p:nvPr/>
        </p:nvSpPr>
        <p:spPr>
          <a:xfrm>
            <a:off x="8924544" y="3666744"/>
            <a:ext cx="2788920" cy="320040"/>
          </a:xfrm>
          <a:prstGeom prst="rect">
            <a:avLst/>
          </a:prstGeom>
          <a:noFill/>
          <a:effectLst/>
        </p:spPr>
        <p:txBody>
          <a:bodyPr wrap="square" lIns="0" rIns="0" tIns="0" bIns="0" anchor="t">
            <a:spAutoFit/>
          </a:bodyPr>
          <a:lstStyle/>
          <a:p>
            <a:pPr>
              <a:lnSpc>
                <a:spcPct val="112000"/>
              </a:lnSpc>
              <a:spcAft>
                <a:spcPts val="500"/>
              </a:spcAft>
              <a:defRPr sz="1450" b="1">
                <a:solidFill>
                  <a:srgbClr val="1D3555"/>
                </a:solidFill>
                <a:latin typeface="Arial"/>
              </a:defRPr>
            </a:pPr>
            <a:r>
              <a:t>Formatos y firma /</a:t>
            </a:r>
          </a:p>
        </p:txBody>
      </p:sp>
      <p:sp>
        <p:nvSpPr>
          <p:cNvPr id="46" name="Rounded Rectangle 45">
            <a:hlinkClick action="ppaction://hlinksldjump" r:id="rId12" tooltip="Ver función 14: Excel y respaldo"/>
          </p:cNvPr>
          <p:cNvSpPr/>
          <p:nvPr/>
        </p:nvSpPr>
        <p:spPr>
          <a:xfrm>
            <a:off x="8266176" y="4251960"/>
            <a:ext cx="3639312" cy="56692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a:hlinkClick action="ppaction://hlinksldjump" r:id="rId12" tooltip="Ver función 14: Excel y respaldo"/>
          </p:cNvPr>
          <p:cNvSpPr txBox="1"/>
          <p:nvPr/>
        </p:nvSpPr>
        <p:spPr>
          <a:xfrm>
            <a:off x="8403336" y="4389120"/>
            <a:ext cx="365760" cy="274320"/>
          </a:xfrm>
          <a:prstGeom prst="rect">
            <a:avLst/>
          </a:prstGeom>
          <a:noFill/>
          <a:effectLst/>
        </p:spPr>
        <p:txBody>
          <a:bodyPr wrap="square" lIns="0" rIns="0" tIns="0" bIns="0" anchor="t">
            <a:spAutoFit/>
          </a:bodyPr>
          <a:lstStyle/>
          <a:p>
            <a:pPr>
              <a:lnSpc>
                <a:spcPct val="112000"/>
              </a:lnSpc>
              <a:spcAft>
                <a:spcPts val="500"/>
              </a:spcAft>
              <a:defRPr sz="1300" b="1">
                <a:solidFill>
                  <a:srgbClr val="2957A4"/>
                </a:solidFill>
                <a:latin typeface="Arial"/>
              </a:defRPr>
            </a:pPr>
            <a:r>
              <a:t>14</a:t>
            </a:r>
          </a:p>
        </p:txBody>
      </p:sp>
      <p:sp>
        <p:nvSpPr>
          <p:cNvPr id="48" name="TextBox 47">
            <a:hlinkClick action="ppaction://hlinksldjump" r:id="rId12" tooltip="Ver función 14: Excel y respaldo"/>
          </p:cNvPr>
          <p:cNvSpPr txBox="1"/>
          <p:nvPr/>
        </p:nvSpPr>
        <p:spPr>
          <a:xfrm>
            <a:off x="8924544" y="4370832"/>
            <a:ext cx="2788920" cy="320040"/>
          </a:xfrm>
          <a:prstGeom prst="rect">
            <a:avLst/>
          </a:prstGeom>
          <a:noFill/>
          <a:effectLst/>
        </p:spPr>
        <p:txBody>
          <a:bodyPr wrap="square" lIns="0" rIns="0" tIns="0" bIns="0" anchor="t">
            <a:spAutoFit/>
          </a:bodyPr>
          <a:lstStyle/>
          <a:p>
            <a:pPr>
              <a:lnSpc>
                <a:spcPct val="112000"/>
              </a:lnSpc>
              <a:spcAft>
                <a:spcPts val="500"/>
              </a:spcAft>
              <a:defRPr sz="1450" b="1">
                <a:solidFill>
                  <a:srgbClr val="1D3555"/>
                </a:solidFill>
                <a:latin typeface="Arial"/>
              </a:defRPr>
            </a:pPr>
            <a:r>
              <a:t>Excel y respaldo</a:t>
            </a:r>
          </a:p>
        </p:txBody>
      </p:sp>
      <p:sp>
        <p:nvSpPr>
          <p:cNvPr id="49" name="Rounded Rectangle 48">
            <a:hlinkClick action="ppaction://hlinksldjump" r:id="rId13" tooltip="Ver función 15: Proyecto Power BI"/>
          </p:cNvPr>
          <p:cNvSpPr/>
          <p:nvPr/>
        </p:nvSpPr>
        <p:spPr>
          <a:xfrm>
            <a:off x="8266176" y="4956048"/>
            <a:ext cx="3639312" cy="56692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a:hlinkClick action="ppaction://hlinksldjump" r:id="rId13" tooltip="Ver función 15: Proyecto Power BI"/>
          </p:cNvPr>
          <p:cNvSpPr txBox="1"/>
          <p:nvPr/>
        </p:nvSpPr>
        <p:spPr>
          <a:xfrm>
            <a:off x="8403336" y="5093208"/>
            <a:ext cx="365760" cy="274320"/>
          </a:xfrm>
          <a:prstGeom prst="rect">
            <a:avLst/>
          </a:prstGeom>
          <a:noFill/>
          <a:effectLst/>
        </p:spPr>
        <p:txBody>
          <a:bodyPr wrap="square" lIns="0" rIns="0" tIns="0" bIns="0" anchor="t">
            <a:spAutoFit/>
          </a:bodyPr>
          <a:lstStyle/>
          <a:p>
            <a:pPr>
              <a:lnSpc>
                <a:spcPct val="112000"/>
              </a:lnSpc>
              <a:spcAft>
                <a:spcPts val="500"/>
              </a:spcAft>
              <a:defRPr sz="1300" b="1">
                <a:solidFill>
                  <a:srgbClr val="2957A4"/>
                </a:solidFill>
                <a:latin typeface="Arial"/>
              </a:defRPr>
            </a:pPr>
            <a:r>
              <a:t>15</a:t>
            </a:r>
          </a:p>
        </p:txBody>
      </p:sp>
      <p:sp>
        <p:nvSpPr>
          <p:cNvPr id="51" name="TextBox 50">
            <a:hlinkClick action="ppaction://hlinksldjump" r:id="rId13" tooltip="Ver función 15: Proyecto Power BI"/>
          </p:cNvPr>
          <p:cNvSpPr txBox="1"/>
          <p:nvPr/>
        </p:nvSpPr>
        <p:spPr>
          <a:xfrm>
            <a:off x="8924544" y="5074920"/>
            <a:ext cx="2788920" cy="320040"/>
          </a:xfrm>
          <a:prstGeom prst="rect">
            <a:avLst/>
          </a:prstGeom>
          <a:noFill/>
          <a:effectLst/>
        </p:spPr>
        <p:txBody>
          <a:bodyPr wrap="square" lIns="0" rIns="0" tIns="0" bIns="0" anchor="t">
            <a:spAutoFit/>
          </a:bodyPr>
          <a:lstStyle/>
          <a:p>
            <a:pPr>
              <a:lnSpc>
                <a:spcPct val="112000"/>
              </a:lnSpc>
              <a:spcAft>
                <a:spcPts val="500"/>
              </a:spcAft>
              <a:defRPr sz="1450" b="1">
                <a:solidFill>
                  <a:srgbClr val="1D3555"/>
                </a:solidFill>
                <a:latin typeface="Arial"/>
              </a:defRPr>
            </a:pPr>
            <a:r>
              <a:t>Proyecto Power BI</a:t>
            </a:r>
          </a:p>
        </p:txBody>
      </p:sp>
      <p:sp>
        <p:nvSpPr>
          <p:cNvPr id="52" name="Rounded Rectangle 51">
            <a:hlinkClick action="ppaction://hlinksldjump" r:id="rId14" tooltip="Avisar a otro operador  →"/>
          </p:cNvPr>
          <p:cNvSpPr/>
          <p:nvPr/>
        </p:nvSpPr>
        <p:spPr>
          <a:xfrm>
            <a:off x="594360" y="5833872"/>
            <a:ext cx="3383280" cy="43891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a:hlinkClick action="ppaction://hlinksldjump" r:id="rId14" tooltip="Avisar a otro operador  →"/>
          </p:cNvPr>
          <p:cNvSpPr txBox="1"/>
          <p:nvPr/>
        </p:nvSpPr>
        <p:spPr>
          <a:xfrm>
            <a:off x="685800" y="5847588"/>
            <a:ext cx="3200400" cy="411479"/>
          </a:xfrm>
          <a:prstGeom prst="rect">
            <a:avLst/>
          </a:prstGeom>
          <a:noFill/>
          <a:effectLst/>
        </p:spPr>
        <p:txBody>
          <a:bodyPr wrap="square" lIns="0" rIns="0" tIns="0" bIns="0" anchor="ctr">
            <a:spAutoFit/>
          </a:bodyPr>
          <a:lstStyle/>
          <a:p>
            <a:pPr algn="ctr">
              <a:lnSpc>
                <a:spcPct val="112000"/>
              </a:lnSpc>
              <a:spcAft>
                <a:spcPts val="500"/>
              </a:spcAft>
              <a:defRPr sz="1300" b="1">
                <a:solidFill>
                  <a:srgbClr val="FFFFFF"/>
                </a:solidFill>
                <a:latin typeface="Arial"/>
              </a:defRPr>
            </a:pPr>
            <a:r>
              <a:t>Avisar a otro operador  →</a:t>
            </a:r>
          </a:p>
        </p:txBody>
      </p:sp>
      <p:sp>
        <p:nvSpPr>
          <p:cNvPr id="54" name="Rectangle 53"/>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56" name="TextBox 55">
            <a:hlinkClick action="ppaction://hlinksldjump" r:id="rId15"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57" name="TextBox 56">
            <a:hlinkClick action="ppaction://hlinksldjump" r:id="rId7"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58" name="TextBox 57">
            <a:hlinkClick action="ppaction://hlinksldjump" r:id="rId12"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59" name="TextBox 58">
            <a:hlinkClick action="ppaction://hlinksldjump" r:id="rId16"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60" name="TextBox 59">
            <a:hlinkClick action="ppaction://hlinksldjump" r:id="rId17"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61" name="TextBox 60">
            <a:hlinkClick action="ppaction://hlinksldjump" r:id="rId17"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62" name="TextBox 61">
            <a:hlinkClick action="ppaction://hlinksldjump" r:id="rId15"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63" name="TextBox 62"/>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03 / 33</a:t>
            </a:r>
          </a:p>
        </p:txBody>
      </p:sp>
    </p:spTree>
  </p:cSld>
  <p:clrMapOvr>
    <a:masterClrMapping/>
  </p:clrMapOvr>
  <p:transition advClick="1"/>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INSTALAR EN CADA PC</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Una misma agenda, dos formas de entrar</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La información se comparte en la nube: puedes continuar desde otra PC o desde el navegador.</a:t>
            </a:r>
          </a:p>
        </p:txBody>
      </p:sp>
      <p:sp>
        <p:nvSpPr>
          <p:cNvPr id="7" name="Rounded Rectangle 6"/>
          <p:cNvSpPr/>
          <p:nvPr/>
        </p:nvSpPr>
        <p:spPr>
          <a:xfrm>
            <a:off x="548640" y="2194560"/>
            <a:ext cx="5285232" cy="329184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04672" y="2441448"/>
            <a:ext cx="4773168" cy="438912"/>
          </a:xfrm>
          <a:prstGeom prst="rect">
            <a:avLst/>
          </a:prstGeom>
          <a:noFill/>
          <a:effectLst/>
        </p:spPr>
        <p:txBody>
          <a:bodyPr wrap="square" lIns="0" rIns="0" tIns="0" bIns="0" anchor="t">
            <a:spAutoFit/>
          </a:bodyPr>
          <a:lstStyle/>
          <a:p>
            <a:pPr>
              <a:lnSpc>
                <a:spcPct val="112000"/>
              </a:lnSpc>
              <a:spcAft>
                <a:spcPts val="500"/>
              </a:spcAft>
              <a:defRPr sz="2500" b="1">
                <a:solidFill>
                  <a:srgbClr val="2957A4"/>
                </a:solidFill>
                <a:latin typeface="Arial"/>
              </a:defRPr>
            </a:pPr>
            <a:r>
              <a:t>En la oficina</a:t>
            </a:r>
          </a:p>
        </p:txBody>
      </p:sp>
      <p:sp>
        <p:nvSpPr>
          <p:cNvPr id="9" name="TextBox 8"/>
          <p:cNvSpPr txBox="1"/>
          <p:nvPr/>
        </p:nvSpPr>
        <p:spPr>
          <a:xfrm>
            <a:off x="804672" y="3017520"/>
            <a:ext cx="4773168" cy="365760"/>
          </a:xfrm>
          <a:prstGeom prst="rect">
            <a:avLst/>
          </a:prstGeom>
          <a:noFill/>
          <a:effectLst/>
        </p:spPr>
        <p:txBody>
          <a:bodyPr wrap="square" lIns="0" rIns="0" tIns="0" bIns="0" anchor="t">
            <a:spAutoFit/>
          </a:bodyPr>
          <a:lstStyle/>
          <a:p>
            <a:pPr>
              <a:lnSpc>
                <a:spcPct val="112000"/>
              </a:lnSpc>
              <a:spcAft>
                <a:spcPts val="500"/>
              </a:spcAft>
              <a:defRPr sz="1800" b="1">
                <a:solidFill>
                  <a:srgbClr val="1D3555"/>
                </a:solidFill>
                <a:latin typeface="Arial"/>
              </a:defRPr>
            </a:pPr>
            <a:r>
              <a:t>Chrome + WhatsApp Web</a:t>
            </a:r>
          </a:p>
        </p:txBody>
      </p:sp>
      <p:sp>
        <p:nvSpPr>
          <p:cNvPr id="10" name="TextBox 9"/>
          <p:cNvSpPr txBox="1"/>
          <p:nvPr/>
        </p:nvSpPr>
        <p:spPr>
          <a:xfrm>
            <a:off x="804672" y="3657600"/>
            <a:ext cx="4773168" cy="438912"/>
          </a:xfrm>
          <a:prstGeom prst="rect">
            <a:avLst/>
          </a:prstGeom>
          <a:noFill/>
          <a:effectLst/>
        </p:spPr>
        <p:txBody>
          <a:bodyPr wrap="square" lIns="0" rIns="0" tIns="0" bIns="0" anchor="t">
            <a:spAutoFit/>
          </a:bodyPr>
          <a:lstStyle/>
          <a:p>
            <a:pPr>
              <a:lnSpc>
                <a:spcPct val="112000"/>
              </a:lnSpc>
              <a:spcAft>
                <a:spcPts val="500"/>
              </a:spcAft>
              <a:defRPr sz="1600" b="0">
                <a:solidFill>
                  <a:srgbClr val="1D3555"/>
                </a:solidFill>
                <a:latin typeface="Arial"/>
              </a:defRPr>
            </a:pPr>
            <a:r>
              <a:t>• Abre el CRM en el panel derecho.</a:t>
            </a:r>
          </a:p>
        </p:txBody>
      </p:sp>
      <p:sp>
        <p:nvSpPr>
          <p:cNvPr id="11" name="TextBox 10"/>
          <p:cNvSpPr txBox="1"/>
          <p:nvPr/>
        </p:nvSpPr>
        <p:spPr>
          <a:xfrm>
            <a:off x="804672" y="4142232"/>
            <a:ext cx="4773168" cy="438912"/>
          </a:xfrm>
          <a:prstGeom prst="rect">
            <a:avLst/>
          </a:prstGeom>
          <a:noFill/>
          <a:effectLst/>
        </p:spPr>
        <p:txBody>
          <a:bodyPr wrap="square" lIns="0" rIns="0" tIns="0" bIns="0" anchor="t">
            <a:spAutoFit/>
          </a:bodyPr>
          <a:lstStyle/>
          <a:p>
            <a:pPr>
              <a:lnSpc>
                <a:spcPct val="112000"/>
              </a:lnSpc>
              <a:spcAft>
                <a:spcPts val="500"/>
              </a:spcAft>
              <a:defRPr sz="1600" b="0">
                <a:solidFill>
                  <a:srgbClr val="1D3555"/>
                </a:solidFill>
                <a:latin typeface="Arial"/>
              </a:defRPr>
            </a:pPr>
            <a:r>
              <a:t>• El chat activo orienta la ficha del contacto.</a:t>
            </a:r>
          </a:p>
        </p:txBody>
      </p:sp>
      <p:sp>
        <p:nvSpPr>
          <p:cNvPr id="12" name="TextBox 11"/>
          <p:cNvSpPr txBox="1"/>
          <p:nvPr/>
        </p:nvSpPr>
        <p:spPr>
          <a:xfrm>
            <a:off x="804672" y="4626864"/>
            <a:ext cx="4773168" cy="438912"/>
          </a:xfrm>
          <a:prstGeom prst="rect">
            <a:avLst/>
          </a:prstGeom>
          <a:noFill/>
          <a:effectLst/>
        </p:spPr>
        <p:txBody>
          <a:bodyPr wrap="square" lIns="0" rIns="0" tIns="0" bIns="0" anchor="t">
            <a:spAutoFit/>
          </a:bodyPr>
          <a:lstStyle/>
          <a:p>
            <a:pPr>
              <a:lnSpc>
                <a:spcPct val="112000"/>
              </a:lnSpc>
              <a:spcAft>
                <a:spcPts val="500"/>
              </a:spcAft>
              <a:defRPr sz="1600" b="0">
                <a:solidFill>
                  <a:srgbClr val="1D3555"/>
                </a:solidFill>
                <a:latin typeface="Arial"/>
              </a:defRPr>
            </a:pPr>
            <a:r>
              <a:t>• Ajusta el panel a unos 380–450 px.</a:t>
            </a:r>
          </a:p>
        </p:txBody>
      </p:sp>
      <p:sp>
        <p:nvSpPr>
          <p:cNvPr id="13" name="Rounded Rectangle 12"/>
          <p:cNvSpPr/>
          <p:nvPr/>
        </p:nvSpPr>
        <p:spPr>
          <a:xfrm>
            <a:off x="6355080" y="2194560"/>
            <a:ext cx="5285232" cy="329184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611112" y="2441448"/>
            <a:ext cx="4773168" cy="438912"/>
          </a:xfrm>
          <a:prstGeom prst="rect">
            <a:avLst/>
          </a:prstGeom>
          <a:noFill/>
          <a:effectLst/>
        </p:spPr>
        <p:txBody>
          <a:bodyPr wrap="square" lIns="0" rIns="0" tIns="0" bIns="0" anchor="t">
            <a:spAutoFit/>
          </a:bodyPr>
          <a:lstStyle/>
          <a:p>
            <a:pPr>
              <a:lnSpc>
                <a:spcPct val="112000"/>
              </a:lnSpc>
              <a:spcAft>
                <a:spcPts val="500"/>
              </a:spcAft>
              <a:defRPr sz="2500" b="1">
                <a:solidFill>
                  <a:srgbClr val="2957A4"/>
                </a:solidFill>
                <a:latin typeface="Arial"/>
              </a:defRPr>
            </a:pPr>
            <a:r>
              <a:t>Fuera de la oficina</a:t>
            </a:r>
          </a:p>
        </p:txBody>
      </p:sp>
      <p:sp>
        <p:nvSpPr>
          <p:cNvPr id="15" name="TextBox 14"/>
          <p:cNvSpPr txBox="1"/>
          <p:nvPr/>
        </p:nvSpPr>
        <p:spPr>
          <a:xfrm>
            <a:off x="6611112" y="3017520"/>
            <a:ext cx="4773168" cy="365760"/>
          </a:xfrm>
          <a:prstGeom prst="rect">
            <a:avLst/>
          </a:prstGeom>
          <a:noFill/>
          <a:effectLst/>
        </p:spPr>
        <p:txBody>
          <a:bodyPr wrap="square" lIns="0" rIns="0" tIns="0" bIns="0" anchor="t">
            <a:spAutoFit/>
          </a:bodyPr>
          <a:lstStyle/>
          <a:p>
            <a:pPr>
              <a:lnSpc>
                <a:spcPct val="112000"/>
              </a:lnSpc>
              <a:spcAft>
                <a:spcPts val="500"/>
              </a:spcAft>
              <a:defRPr sz="1800" b="1">
                <a:solidFill>
                  <a:srgbClr val="1D3555"/>
                </a:solidFill>
                <a:latin typeface="Arial"/>
              </a:defRPr>
            </a:pPr>
            <a:r>
              <a:t>Navegador de PC o celular</a:t>
            </a:r>
          </a:p>
        </p:txBody>
      </p:sp>
      <p:sp>
        <p:nvSpPr>
          <p:cNvPr id="16" name="TextBox 15"/>
          <p:cNvSpPr txBox="1"/>
          <p:nvPr/>
        </p:nvSpPr>
        <p:spPr>
          <a:xfrm>
            <a:off x="6611112" y="3657600"/>
            <a:ext cx="4773168" cy="438912"/>
          </a:xfrm>
          <a:prstGeom prst="rect">
            <a:avLst/>
          </a:prstGeom>
          <a:noFill/>
          <a:effectLst/>
        </p:spPr>
        <p:txBody>
          <a:bodyPr wrap="square" lIns="0" rIns="0" tIns="0" bIns="0" anchor="t">
            <a:spAutoFit/>
          </a:bodyPr>
          <a:lstStyle/>
          <a:p>
            <a:pPr>
              <a:lnSpc>
                <a:spcPct val="112000"/>
              </a:lnSpc>
              <a:spcAft>
                <a:spcPts val="500"/>
              </a:spcAft>
              <a:defRPr sz="1600" b="0">
                <a:solidFill>
                  <a:srgbClr val="1D3555"/>
                </a:solidFill>
                <a:latin typeface="Arial"/>
              </a:defRPr>
            </a:pPr>
            <a:r>
              <a:t>• Abre el enlace del CRM directamente.</a:t>
            </a:r>
          </a:p>
        </p:txBody>
      </p:sp>
      <p:sp>
        <p:nvSpPr>
          <p:cNvPr id="17" name="TextBox 16"/>
          <p:cNvSpPr txBox="1"/>
          <p:nvPr/>
        </p:nvSpPr>
        <p:spPr>
          <a:xfrm>
            <a:off x="6611112" y="4142232"/>
            <a:ext cx="4773168" cy="438912"/>
          </a:xfrm>
          <a:prstGeom prst="rect">
            <a:avLst/>
          </a:prstGeom>
          <a:noFill/>
          <a:effectLst/>
        </p:spPr>
        <p:txBody>
          <a:bodyPr wrap="square" lIns="0" rIns="0" tIns="0" bIns="0" anchor="t">
            <a:spAutoFit/>
          </a:bodyPr>
          <a:lstStyle/>
          <a:p>
            <a:pPr>
              <a:lnSpc>
                <a:spcPct val="112000"/>
              </a:lnSpc>
              <a:spcAft>
                <a:spcPts val="500"/>
              </a:spcAft>
              <a:defRPr sz="1600" b="0">
                <a:solidFill>
                  <a:srgbClr val="1D3555"/>
                </a:solidFill>
                <a:latin typeface="Arial"/>
              </a:defRPr>
            </a:pPr>
            <a:r>
              <a:t>• Usa Directorio, Tareas, Agenda y reportes.</a:t>
            </a:r>
          </a:p>
        </p:txBody>
      </p:sp>
      <p:sp>
        <p:nvSpPr>
          <p:cNvPr id="18" name="TextBox 17"/>
          <p:cNvSpPr txBox="1"/>
          <p:nvPr/>
        </p:nvSpPr>
        <p:spPr>
          <a:xfrm>
            <a:off x="6611112" y="4626864"/>
            <a:ext cx="4773168" cy="438912"/>
          </a:xfrm>
          <a:prstGeom prst="rect">
            <a:avLst/>
          </a:prstGeom>
          <a:noFill/>
          <a:effectLst/>
        </p:spPr>
        <p:txBody>
          <a:bodyPr wrap="square" lIns="0" rIns="0" tIns="0" bIns="0" anchor="t">
            <a:spAutoFit/>
          </a:bodyPr>
          <a:lstStyle/>
          <a:p>
            <a:pPr>
              <a:lnSpc>
                <a:spcPct val="112000"/>
              </a:lnSpc>
              <a:spcAft>
                <a:spcPts val="500"/>
              </a:spcAft>
              <a:defRPr sz="1600" b="0">
                <a:solidFill>
                  <a:srgbClr val="1D3555"/>
                </a:solidFill>
                <a:latin typeface="Arial"/>
              </a:defRPr>
            </a:pPr>
            <a:r>
              <a:t>• No necesitas tener WhatsApp Web abierto.</a:t>
            </a:r>
          </a:p>
        </p:txBody>
      </p:sp>
      <p:sp>
        <p:nvSpPr>
          <p:cNvPr id="19" name="Rounded Rectangle 18">
            <a:hlinkClick r:id="rId3" tooltip="Abrir CRM web  ↗"/>
          </p:cNvPr>
          <p:cNvSpPr/>
          <p:nvPr/>
        </p:nvSpPr>
        <p:spPr>
          <a:xfrm>
            <a:off x="6638544" y="5650992"/>
            <a:ext cx="2606040" cy="43891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a:hlinkClick r:id="rId3" tooltip="Abrir CRM web  ↗"/>
          </p:cNvPr>
          <p:cNvSpPr txBox="1"/>
          <p:nvPr/>
        </p:nvSpPr>
        <p:spPr>
          <a:xfrm>
            <a:off x="6729983" y="5664707"/>
            <a:ext cx="2423160" cy="411479"/>
          </a:xfrm>
          <a:prstGeom prst="rect">
            <a:avLst/>
          </a:prstGeom>
          <a:noFill/>
          <a:effectLst/>
        </p:spPr>
        <p:txBody>
          <a:bodyPr wrap="square" lIns="0" rIns="0" tIns="0" bIns="0" anchor="ctr">
            <a:spAutoFit/>
          </a:bodyPr>
          <a:lstStyle/>
          <a:p>
            <a:pPr algn="ctr">
              <a:lnSpc>
                <a:spcPct val="112000"/>
              </a:lnSpc>
              <a:spcAft>
                <a:spcPts val="500"/>
              </a:spcAft>
              <a:defRPr sz="1300" b="1">
                <a:solidFill>
                  <a:srgbClr val="FFFFFF"/>
                </a:solidFill>
                <a:latin typeface="Arial"/>
              </a:defRPr>
            </a:pPr>
            <a:r>
              <a:t>Abrir CRM web  ↗</a:t>
            </a:r>
          </a:p>
        </p:txBody>
      </p:sp>
      <p:sp>
        <p:nvSpPr>
          <p:cNvPr id="21" name="Rounded Rectangle 20">
            <a:hlinkClick action="ppaction://hlinksldjump" r:id="rId5" tooltip="Preparar la PC  →"/>
          </p:cNvPr>
          <p:cNvSpPr/>
          <p:nvPr/>
        </p:nvSpPr>
        <p:spPr>
          <a:xfrm>
            <a:off x="804672" y="5650992"/>
            <a:ext cx="2606040" cy="43891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a:hlinkClick action="ppaction://hlinksldjump" r:id="rId5" tooltip="Preparar la PC  →"/>
          </p:cNvPr>
          <p:cNvSpPr txBox="1"/>
          <p:nvPr/>
        </p:nvSpPr>
        <p:spPr>
          <a:xfrm>
            <a:off x="896112" y="5664707"/>
            <a:ext cx="2423160" cy="411479"/>
          </a:xfrm>
          <a:prstGeom prst="rect">
            <a:avLst/>
          </a:prstGeom>
          <a:noFill/>
          <a:effectLst/>
        </p:spPr>
        <p:txBody>
          <a:bodyPr wrap="square" lIns="0" rIns="0" tIns="0" bIns="0" anchor="ctr">
            <a:spAutoFit/>
          </a:bodyPr>
          <a:lstStyle/>
          <a:p>
            <a:pPr algn="ctr">
              <a:lnSpc>
                <a:spcPct val="112000"/>
              </a:lnSpc>
              <a:spcAft>
                <a:spcPts val="500"/>
              </a:spcAft>
              <a:defRPr sz="1300" b="1">
                <a:solidFill>
                  <a:srgbClr val="FFFFFF"/>
                </a:solidFill>
                <a:latin typeface="Arial"/>
              </a:defRPr>
            </a:pPr>
            <a:r>
              <a:t>Preparar la PC  →</a:t>
            </a:r>
          </a:p>
        </p:txBody>
      </p:sp>
      <p:sp>
        <p:nvSpPr>
          <p:cNvPr id="23" name="Rectangle 22"/>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25" name="TextBox 24">
            <a:hlinkClick action="ppaction://hlinksldjump" r:id="rId6"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26" name="TextBox 25">
            <a:hlinkClick action="ppaction://hlinksldjump" r:id="rId7"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27" name="TextBox 26">
            <a:hlinkClick action="ppaction://hlinksldjump" r:id="rId8"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28" name="TextBox 27">
            <a:hlinkClick action="ppaction://hlinksldjump" r:id="rId9"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29" name="TextBox 28">
            <a:hlinkClick action="ppaction://hlinksldjump" r:id="rId10"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0" name="TextBox 29">
            <a:hlinkClick action="ppaction://hlinksldjump" r:id="rId11"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31" name="TextBox 30">
            <a:hlinkClick action="ppaction://hlinksldjump" r:id="rId5"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2" name="TextBox 31"/>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04 / 33</a:t>
            </a:r>
          </a:p>
        </p:txBody>
      </p:sp>
    </p:spTree>
  </p:cSld>
  <p:clrMapOvr>
    <a:masterClrMapping/>
  </p:clrMapOvr>
  <p:transition advClick="1"/>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INSTALAR EN CADA PC</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Antes de instalar: tres cosas listas</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Este procedimiento se repite una sola vez en cada PC del equipo.</a:t>
            </a:r>
          </a:p>
        </p:txBody>
      </p:sp>
      <p:sp>
        <p:nvSpPr>
          <p:cNvPr id="7" name="Rounded Rectangle 6"/>
          <p:cNvSpPr/>
          <p:nvPr/>
        </p:nvSpPr>
        <p:spPr>
          <a:xfrm>
            <a:off x="548640" y="2286000"/>
            <a:ext cx="3621024" cy="297180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77240" y="2514600"/>
            <a:ext cx="3108960" cy="731520"/>
          </a:xfrm>
          <a:prstGeom prst="rect">
            <a:avLst/>
          </a:prstGeom>
          <a:noFill/>
          <a:effectLst/>
        </p:spPr>
        <p:txBody>
          <a:bodyPr wrap="square" lIns="0" rIns="0" tIns="0" bIns="0" anchor="t">
            <a:spAutoFit/>
          </a:bodyPr>
          <a:lstStyle/>
          <a:p>
            <a:pPr>
              <a:lnSpc>
                <a:spcPct val="112000"/>
              </a:lnSpc>
              <a:spcAft>
                <a:spcPts val="500"/>
              </a:spcAft>
              <a:defRPr sz="3800" b="1">
                <a:solidFill>
                  <a:srgbClr val="2957A4"/>
                </a:solidFill>
                <a:latin typeface="Arial"/>
              </a:defRPr>
            </a:pPr>
            <a:r>
              <a:t>01</a:t>
            </a:r>
          </a:p>
        </p:txBody>
      </p:sp>
      <p:sp>
        <p:nvSpPr>
          <p:cNvPr id="9" name="TextBox 8"/>
          <p:cNvSpPr txBox="1"/>
          <p:nvPr/>
        </p:nvSpPr>
        <p:spPr>
          <a:xfrm>
            <a:off x="777240" y="3273552"/>
            <a:ext cx="3108960" cy="731520"/>
          </a:xfrm>
          <a:prstGeom prst="rect">
            <a:avLst/>
          </a:prstGeom>
          <a:noFill/>
          <a:effectLst/>
        </p:spPr>
        <p:txBody>
          <a:bodyPr wrap="square" lIns="0" rIns="0" tIns="0" bIns="0" anchor="t">
            <a:spAutoFit/>
          </a:bodyPr>
          <a:lstStyle/>
          <a:p>
            <a:pPr>
              <a:lnSpc>
                <a:spcPct val="112000"/>
              </a:lnSpc>
              <a:spcAft>
                <a:spcPts val="500"/>
              </a:spcAft>
              <a:defRPr sz="2200" b="1">
                <a:solidFill>
                  <a:srgbClr val="1D3555"/>
                </a:solidFill>
                <a:latin typeface="Arial"/>
              </a:defRPr>
            </a:pPr>
            <a:r>
              <a:t>Chrome actualizado</a:t>
            </a:r>
          </a:p>
        </p:txBody>
      </p:sp>
      <p:sp>
        <p:nvSpPr>
          <p:cNvPr id="10" name="TextBox 9"/>
          <p:cNvSpPr txBox="1"/>
          <p:nvPr/>
        </p:nvSpPr>
        <p:spPr>
          <a:xfrm>
            <a:off x="777240" y="4160520"/>
            <a:ext cx="3108960" cy="10607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El panel lateral requiere Chrome 116 o superior. En una PC administrada, consulta a TI si la carga está restringida.</a:t>
            </a:r>
          </a:p>
        </p:txBody>
      </p:sp>
      <p:sp>
        <p:nvSpPr>
          <p:cNvPr id="11" name="Rounded Rectangle 10"/>
          <p:cNvSpPr/>
          <p:nvPr/>
        </p:nvSpPr>
        <p:spPr>
          <a:xfrm>
            <a:off x="4425696" y="2286000"/>
            <a:ext cx="3621024" cy="297180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654296" y="2514600"/>
            <a:ext cx="3108960" cy="731520"/>
          </a:xfrm>
          <a:prstGeom prst="rect">
            <a:avLst/>
          </a:prstGeom>
          <a:noFill/>
          <a:effectLst/>
        </p:spPr>
        <p:txBody>
          <a:bodyPr wrap="square" lIns="0" rIns="0" tIns="0" bIns="0" anchor="t">
            <a:spAutoFit/>
          </a:bodyPr>
          <a:lstStyle/>
          <a:p>
            <a:pPr>
              <a:lnSpc>
                <a:spcPct val="112000"/>
              </a:lnSpc>
              <a:spcAft>
                <a:spcPts val="500"/>
              </a:spcAft>
              <a:defRPr sz="3800" b="1">
                <a:solidFill>
                  <a:srgbClr val="2957A4"/>
                </a:solidFill>
                <a:latin typeface="Arial"/>
              </a:defRPr>
            </a:pPr>
            <a:r>
              <a:t>02</a:t>
            </a:r>
          </a:p>
        </p:txBody>
      </p:sp>
      <p:sp>
        <p:nvSpPr>
          <p:cNvPr id="13" name="TextBox 12"/>
          <p:cNvSpPr txBox="1"/>
          <p:nvPr/>
        </p:nvSpPr>
        <p:spPr>
          <a:xfrm>
            <a:off x="4654296" y="3273552"/>
            <a:ext cx="3108960" cy="731520"/>
          </a:xfrm>
          <a:prstGeom prst="rect">
            <a:avLst/>
          </a:prstGeom>
          <a:noFill/>
          <a:effectLst/>
        </p:spPr>
        <p:txBody>
          <a:bodyPr wrap="square" lIns="0" rIns="0" tIns="0" bIns="0" anchor="t">
            <a:spAutoFit/>
          </a:bodyPr>
          <a:lstStyle/>
          <a:p>
            <a:pPr>
              <a:lnSpc>
                <a:spcPct val="112000"/>
              </a:lnSpc>
              <a:spcAft>
                <a:spcPts val="500"/>
              </a:spcAft>
              <a:defRPr sz="2200" b="1">
                <a:solidFill>
                  <a:srgbClr val="1D3555"/>
                </a:solidFill>
                <a:latin typeface="Arial"/>
              </a:defRPr>
            </a:pPr>
            <a:r>
              <a:t>Token del equipo</a:t>
            </a:r>
          </a:p>
        </p:txBody>
      </p:sp>
      <p:sp>
        <p:nvSpPr>
          <p:cNvPr id="14" name="TextBox 13"/>
          <p:cNvSpPr txBox="1"/>
          <p:nvPr/>
        </p:nvSpPr>
        <p:spPr>
          <a:xfrm>
            <a:off x="4654296" y="4160520"/>
            <a:ext cx="3108960" cy="10607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Solicita el TEAM_TOKEN al administrador por un canal privado. Se introduce dentro del CRM; no se publica en la PPT.</a:t>
            </a:r>
          </a:p>
        </p:txBody>
      </p:sp>
      <p:sp>
        <p:nvSpPr>
          <p:cNvPr id="15" name="Rounded Rectangle 14"/>
          <p:cNvSpPr/>
          <p:nvPr/>
        </p:nvSpPr>
        <p:spPr>
          <a:xfrm>
            <a:off x="8302752" y="2286000"/>
            <a:ext cx="3621024" cy="297180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531352" y="2514600"/>
            <a:ext cx="3108960" cy="731520"/>
          </a:xfrm>
          <a:prstGeom prst="rect">
            <a:avLst/>
          </a:prstGeom>
          <a:noFill/>
          <a:effectLst/>
        </p:spPr>
        <p:txBody>
          <a:bodyPr wrap="square" lIns="0" rIns="0" tIns="0" bIns="0" anchor="t">
            <a:spAutoFit/>
          </a:bodyPr>
          <a:lstStyle/>
          <a:p>
            <a:pPr>
              <a:lnSpc>
                <a:spcPct val="112000"/>
              </a:lnSpc>
              <a:spcAft>
                <a:spcPts val="500"/>
              </a:spcAft>
              <a:defRPr sz="3800" b="1">
                <a:solidFill>
                  <a:srgbClr val="2957A4"/>
                </a:solidFill>
                <a:latin typeface="Arial"/>
              </a:defRPr>
            </a:pPr>
            <a:r>
              <a:t>03</a:t>
            </a:r>
          </a:p>
        </p:txBody>
      </p:sp>
      <p:sp>
        <p:nvSpPr>
          <p:cNvPr id="17" name="TextBox 16"/>
          <p:cNvSpPr txBox="1"/>
          <p:nvPr/>
        </p:nvSpPr>
        <p:spPr>
          <a:xfrm>
            <a:off x="8531352" y="3273552"/>
            <a:ext cx="3108960" cy="731520"/>
          </a:xfrm>
          <a:prstGeom prst="rect">
            <a:avLst/>
          </a:prstGeom>
          <a:noFill/>
          <a:effectLst/>
        </p:spPr>
        <p:txBody>
          <a:bodyPr wrap="square" lIns="0" rIns="0" tIns="0" bIns="0" anchor="t">
            <a:spAutoFit/>
          </a:bodyPr>
          <a:lstStyle/>
          <a:p>
            <a:pPr>
              <a:lnSpc>
                <a:spcPct val="112000"/>
              </a:lnSpc>
              <a:spcAft>
                <a:spcPts val="500"/>
              </a:spcAft>
              <a:defRPr sz="2200" b="1">
                <a:solidFill>
                  <a:srgbClr val="1D3555"/>
                </a:solidFill>
                <a:latin typeface="Arial"/>
              </a:defRPr>
            </a:pPr>
            <a:r>
              <a:t>Una carpeta permanente</a:t>
            </a:r>
          </a:p>
        </p:txBody>
      </p:sp>
      <p:sp>
        <p:nvSpPr>
          <p:cNvPr id="18" name="TextBox 17"/>
          <p:cNvSpPr txBox="1"/>
          <p:nvPr/>
        </p:nvSpPr>
        <p:spPr>
          <a:xfrm>
            <a:off x="8531352" y="4160520"/>
            <a:ext cx="3108960" cy="10607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Guarda la extensión en una carpeta fija. Mantén los archivos allí después de instalarla.</a:t>
            </a:r>
          </a:p>
        </p:txBody>
      </p:sp>
      <p:sp>
        <p:nvSpPr>
          <p:cNvPr id="19" name="Rounded Rectangle 18"/>
          <p:cNvSpPr/>
          <p:nvPr/>
        </p:nvSpPr>
        <p:spPr>
          <a:xfrm>
            <a:off x="502920" y="5669280"/>
            <a:ext cx="11183112" cy="41148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40080" y="5733288"/>
            <a:ext cx="10908792" cy="301752"/>
          </a:xfrm>
          <a:prstGeom prst="rect">
            <a:avLst/>
          </a:prstGeom>
          <a:noFill/>
          <a:effectLst/>
        </p:spPr>
        <p:txBody>
          <a:bodyPr wrap="square" lIns="0" rIns="0" tIns="0" bIns="0" anchor="t">
            <a:spAutoFit/>
          </a:bodyPr>
          <a:lstStyle/>
          <a:p>
            <a:pPr>
              <a:lnSpc>
                <a:spcPct val="112000"/>
              </a:lnSpc>
              <a:spcAft>
                <a:spcPts val="500"/>
              </a:spcAft>
              <a:defRPr sz="1250" b="0">
                <a:solidFill>
                  <a:srgbClr val="2957A4"/>
                </a:solidFill>
                <a:latin typeface="Arial"/>
              </a:defRPr>
            </a:pPr>
            <a:r>
              <a:t>Instalación descomprimida: no necesitas pagar la inscripción de Chrome Web Store.</a:t>
            </a:r>
          </a:p>
        </p:txBody>
      </p:sp>
      <p:sp>
        <p:nvSpPr>
          <p:cNvPr id="21" name="Rectangle 20"/>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23" name="TextBox 22">
            <a:hlinkClick action="ppaction://hlinksldjump" r:id="rId4"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24" name="TextBox 23">
            <a:hlinkClick action="ppaction://hlinksldjump" r:id="rId5"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25" name="TextBox 24">
            <a:hlinkClick action="ppaction://hlinksldjump" r:id="rId6"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26" name="TextBox 25">
            <a:hlinkClick action="ppaction://hlinksldjump" r:id="rId7"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27" name="TextBox 26">
            <a:hlinkClick action="ppaction://hlinksldjump" r:id="rId4"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28" name="TextBox 27">
            <a:hlinkClick action="ppaction://hlinksldjump" r:id="rId8"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29" name="TextBox 28">
            <a:hlinkClick action="ppaction://hlinksldjump" r:id="rId9"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0" name="TextBox 29"/>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05 / 33</a:t>
            </a:r>
          </a:p>
        </p:txBody>
      </p:sp>
    </p:spTree>
  </p:cSld>
  <p:clrMapOvr>
    <a:masterClrMapping/>
  </p:clrMapOvr>
  <p:transition advClick="1"/>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INSTALAR EN CADA PC</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1. Descarga y descomprime el paquete correcto</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Usa crm-ana-extension.zip. El ZIP completo del proyecto contiene más carpetas y no se carga directamente.</a:t>
            </a:r>
          </a:p>
        </p:txBody>
      </p:sp>
      <p:sp>
        <p:nvSpPr>
          <p:cNvPr id="7" name="Rounded Rectangle 6"/>
          <p:cNvSpPr/>
          <p:nvPr/>
        </p:nvSpPr>
        <p:spPr>
          <a:xfrm>
            <a:off x="594360" y="2267712"/>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30936" y="2299716"/>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1</a:t>
            </a:r>
          </a:p>
        </p:txBody>
      </p:sp>
      <p:sp>
        <p:nvSpPr>
          <p:cNvPr id="9" name="TextBox 8"/>
          <p:cNvSpPr txBox="1"/>
          <p:nvPr/>
        </p:nvSpPr>
        <p:spPr>
          <a:xfrm>
            <a:off x="1188720" y="2240280"/>
            <a:ext cx="4434840"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Descarga el ZIP</a:t>
            </a:r>
          </a:p>
        </p:txBody>
      </p:sp>
      <p:sp>
        <p:nvSpPr>
          <p:cNvPr id="10" name="TextBox 9"/>
          <p:cNvSpPr txBox="1"/>
          <p:nvPr/>
        </p:nvSpPr>
        <p:spPr>
          <a:xfrm>
            <a:off x="1188720" y="2670048"/>
            <a:ext cx="4434840"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Pulsa el botón de esta diapositiva y guárdalo en tu equipo.</a:t>
            </a:r>
          </a:p>
        </p:txBody>
      </p:sp>
      <p:sp>
        <p:nvSpPr>
          <p:cNvPr id="11" name="Rounded Rectangle 10"/>
          <p:cNvSpPr/>
          <p:nvPr/>
        </p:nvSpPr>
        <p:spPr>
          <a:xfrm>
            <a:off x="594360" y="3392424"/>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30936" y="3424428"/>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2</a:t>
            </a:r>
          </a:p>
        </p:txBody>
      </p:sp>
      <p:sp>
        <p:nvSpPr>
          <p:cNvPr id="13" name="TextBox 12"/>
          <p:cNvSpPr txBox="1"/>
          <p:nvPr/>
        </p:nvSpPr>
        <p:spPr>
          <a:xfrm>
            <a:off x="1188720" y="3364992"/>
            <a:ext cx="4434840"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Descomprime todo</a:t>
            </a:r>
          </a:p>
        </p:txBody>
      </p:sp>
      <p:sp>
        <p:nvSpPr>
          <p:cNvPr id="14" name="TextBox 13"/>
          <p:cNvSpPr txBox="1"/>
          <p:nvPr/>
        </p:nvSpPr>
        <p:spPr>
          <a:xfrm>
            <a:off x="1188720" y="3794760"/>
            <a:ext cx="4434840"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Windows: Extraer todo. Mac: doble clic sobre el archivo ZIP.</a:t>
            </a:r>
          </a:p>
        </p:txBody>
      </p:sp>
      <p:sp>
        <p:nvSpPr>
          <p:cNvPr id="15" name="Rounded Rectangle 14"/>
          <p:cNvSpPr/>
          <p:nvPr/>
        </p:nvSpPr>
        <p:spPr>
          <a:xfrm>
            <a:off x="594360" y="4517136"/>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30936" y="4549140"/>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3</a:t>
            </a:r>
          </a:p>
        </p:txBody>
      </p:sp>
      <p:sp>
        <p:nvSpPr>
          <p:cNvPr id="17" name="TextBox 16"/>
          <p:cNvSpPr txBox="1"/>
          <p:nvPr/>
        </p:nvSpPr>
        <p:spPr>
          <a:xfrm>
            <a:off x="1188720" y="4489704"/>
            <a:ext cx="4434840"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Conserva la carpeta</a:t>
            </a:r>
          </a:p>
        </p:txBody>
      </p:sp>
      <p:sp>
        <p:nvSpPr>
          <p:cNvPr id="18" name="TextBox 17"/>
          <p:cNvSpPr txBox="1"/>
          <p:nvPr/>
        </p:nvSpPr>
        <p:spPr>
          <a:xfrm>
            <a:off x="1188720" y="4919472"/>
            <a:ext cx="4434840"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Comprueba que manifest.json esté dentro de la carpeta que vas a seleccionar.</a:t>
            </a:r>
          </a:p>
        </p:txBody>
      </p:sp>
      <p:sp>
        <p:nvSpPr>
          <p:cNvPr id="19" name="Rounded Rectangle 18"/>
          <p:cNvSpPr/>
          <p:nvPr/>
        </p:nvSpPr>
        <p:spPr>
          <a:xfrm>
            <a:off x="6172200" y="2267712"/>
            <a:ext cx="5394960" cy="3090672"/>
          </a:xfrm>
          <a:prstGeom prst="roundRect">
            <a:avLst>
              <a:gd name="adj" fmla="val 8000"/>
            </a:avLst>
          </a:prstGeom>
          <a:solidFill>
            <a:srgbClr val="17345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419088" y="2514600"/>
            <a:ext cx="4754880" cy="320040"/>
          </a:xfrm>
          <a:prstGeom prst="rect">
            <a:avLst/>
          </a:prstGeom>
          <a:noFill/>
          <a:effectLst/>
        </p:spPr>
        <p:txBody>
          <a:bodyPr wrap="square" lIns="0" rIns="0" tIns="0" bIns="0" anchor="t">
            <a:spAutoFit/>
          </a:bodyPr>
          <a:lstStyle/>
          <a:p>
            <a:pPr>
              <a:lnSpc>
                <a:spcPct val="112000"/>
              </a:lnSpc>
              <a:spcAft>
                <a:spcPts val="500"/>
              </a:spcAft>
              <a:defRPr sz="1100" b="1">
                <a:solidFill>
                  <a:srgbClr val="C4D8F4"/>
                </a:solidFill>
                <a:latin typeface="Arial"/>
              </a:defRPr>
            </a:pPr>
            <a:r>
              <a:t>CARPETA DE LA EXTENSIÓN</a:t>
            </a:r>
          </a:p>
        </p:txBody>
      </p:sp>
      <p:sp>
        <p:nvSpPr>
          <p:cNvPr id="21" name="TextBox 20"/>
          <p:cNvSpPr txBox="1"/>
          <p:nvPr/>
        </p:nvSpPr>
        <p:spPr>
          <a:xfrm>
            <a:off x="6428232" y="3063240"/>
            <a:ext cx="4773168" cy="2157984"/>
          </a:xfrm>
          <a:prstGeom prst="rect">
            <a:avLst/>
          </a:prstGeom>
          <a:noFill/>
          <a:effectLst/>
        </p:spPr>
        <p:txBody>
          <a:bodyPr wrap="square" lIns="0" rIns="0" tIns="0" bIns="0" anchor="t">
            <a:spAutoFit/>
          </a:bodyPr>
          <a:lstStyle/>
          <a:p>
            <a:pPr>
              <a:lnSpc>
                <a:spcPct val="112000"/>
              </a:lnSpc>
              <a:spcAft>
                <a:spcPts val="500"/>
              </a:spcAft>
              <a:defRPr sz="1450" b="0">
                <a:solidFill>
                  <a:srgbClr val="FFFFFF"/>
                </a:solidFill>
                <a:latin typeface="Courier New"/>
              </a:defRPr>
            </a:pPr>
            <a:r>
              <a:t>CRM-ANA-Extension</a:t>
            </a:r>
          </a:p>
          <a:p>
            <a:pPr>
              <a:lnSpc>
                <a:spcPct val="112000"/>
              </a:lnSpc>
              <a:spcAft>
                <a:spcPts val="500"/>
              </a:spcAft>
              <a:defRPr sz="1450" b="0">
                <a:solidFill>
                  <a:srgbClr val="FFFFFF"/>
                </a:solidFill>
                <a:latin typeface="Courier New"/>
              </a:defRPr>
            </a:pPr>
            <a:r>
              <a:t>  manifest.json</a:t>
            </a:r>
          </a:p>
          <a:p>
            <a:pPr>
              <a:lnSpc>
                <a:spcPct val="112000"/>
              </a:lnSpc>
              <a:spcAft>
                <a:spcPts val="500"/>
              </a:spcAft>
              <a:defRPr sz="1450" b="0">
                <a:solidFill>
                  <a:srgbClr val="FFFFFF"/>
                </a:solidFill>
                <a:latin typeface="Courier New"/>
              </a:defRPr>
            </a:pPr>
            <a:r>
              <a:t>  background.js</a:t>
            </a:r>
          </a:p>
          <a:p>
            <a:pPr>
              <a:lnSpc>
                <a:spcPct val="112000"/>
              </a:lnSpc>
              <a:spcAft>
                <a:spcPts val="500"/>
              </a:spcAft>
              <a:defRPr sz="1450" b="0">
                <a:solidFill>
                  <a:srgbClr val="FFFFFF"/>
                </a:solidFill>
                <a:latin typeface="Courier New"/>
              </a:defRPr>
            </a:pPr>
            <a:r>
              <a:t>  content_script.js</a:t>
            </a:r>
          </a:p>
          <a:p>
            <a:pPr>
              <a:lnSpc>
                <a:spcPct val="112000"/>
              </a:lnSpc>
              <a:spcAft>
                <a:spcPts val="500"/>
              </a:spcAft>
              <a:defRPr sz="1450" b="0">
                <a:solidFill>
                  <a:srgbClr val="FFFFFF"/>
                </a:solidFill>
                <a:latin typeface="Courier New"/>
              </a:defRPr>
            </a:pPr>
            <a:r>
              <a:t>  index.html</a:t>
            </a:r>
          </a:p>
          <a:p>
            <a:pPr>
              <a:lnSpc>
                <a:spcPct val="112000"/>
              </a:lnSpc>
              <a:spcAft>
                <a:spcPts val="500"/>
              </a:spcAft>
              <a:defRPr sz="1450" b="0">
                <a:solidFill>
                  <a:srgbClr val="FFFFFF"/>
                </a:solidFill>
                <a:latin typeface="Courier New"/>
              </a:defRPr>
            </a:pPr>
            <a:r>
              <a:t>  shell.js · shell.css · protocol.js</a:t>
            </a:r>
          </a:p>
          <a:p>
            <a:pPr>
              <a:lnSpc>
                <a:spcPct val="112000"/>
              </a:lnSpc>
              <a:spcAft>
                <a:spcPts val="500"/>
              </a:spcAft>
              <a:defRPr sz="1450" b="0">
                <a:solidFill>
                  <a:srgbClr val="FFFFFF"/>
                </a:solidFill>
                <a:latin typeface="Courier New"/>
              </a:defRPr>
            </a:pPr>
            <a:r>
              <a:t>  ana-logo.png · icons/</a:t>
            </a:r>
          </a:p>
        </p:txBody>
      </p:sp>
      <p:sp>
        <p:nvSpPr>
          <p:cNvPr id="22" name="Rounded Rectangle 21">
            <a:hlinkClick r:id="rId3" tooltip="Descargar extensión 1.2.1  ↗"/>
          </p:cNvPr>
          <p:cNvSpPr/>
          <p:nvPr/>
        </p:nvSpPr>
        <p:spPr>
          <a:xfrm>
            <a:off x="6400800" y="5596128"/>
            <a:ext cx="4480560" cy="51206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a:hlinkClick r:id="rId3" tooltip="Descargar extensión 1.2.1  ↗"/>
          </p:cNvPr>
          <p:cNvSpPr txBox="1"/>
          <p:nvPr/>
        </p:nvSpPr>
        <p:spPr>
          <a:xfrm>
            <a:off x="6492240" y="5609844"/>
            <a:ext cx="4297680" cy="484632"/>
          </a:xfrm>
          <a:prstGeom prst="rect">
            <a:avLst/>
          </a:prstGeom>
          <a:noFill/>
          <a:effectLst/>
        </p:spPr>
        <p:txBody>
          <a:bodyPr wrap="square" lIns="0" rIns="0" tIns="0" bIns="0" anchor="ctr">
            <a:spAutoFit/>
          </a:bodyPr>
          <a:lstStyle/>
          <a:p>
            <a:pPr algn="ctr">
              <a:lnSpc>
                <a:spcPct val="112000"/>
              </a:lnSpc>
              <a:spcAft>
                <a:spcPts val="500"/>
              </a:spcAft>
              <a:defRPr sz="1300" b="1">
                <a:solidFill>
                  <a:srgbClr val="FFFFFF"/>
                </a:solidFill>
                <a:latin typeface="Arial"/>
              </a:defRPr>
            </a:pPr>
            <a:r>
              <a:t>Descargar extensión 1.2.1  ↗</a:t>
            </a:r>
          </a:p>
        </p:txBody>
      </p:sp>
      <p:sp>
        <p:nvSpPr>
          <p:cNvPr id="24" name="Rectangle 23"/>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26" name="TextBox 25">
            <a:hlinkClick action="ppaction://hlinksldjump" r:id="rId5"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27" name="TextBox 26">
            <a:hlinkClick action="ppaction://hlinksldjump" r:id="rId6"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28" name="TextBox 27">
            <a:hlinkClick action="ppaction://hlinksldjump" r:id="rId7"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29" name="TextBox 28">
            <a:hlinkClick action="ppaction://hlinksldjump" r:id="rId8"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30" name="TextBox 29">
            <a:hlinkClick action="ppaction://hlinksldjump" r:id="rId9"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1" name="TextBox 30">
            <a:hlinkClick action="ppaction://hlinksldjump" r:id="rId10"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32" name="TextBox 31">
            <a:hlinkClick action="ppaction://hlinksldjump" r:id="rId11"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3" name="TextBox 32"/>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06 / 33</a:t>
            </a:r>
          </a:p>
        </p:txBody>
      </p:sp>
    </p:spTree>
  </p:cSld>
  <p:clrMapOvr>
    <a:masterClrMapping/>
  </p:clrMapOvr>
  <p:transition advClick="1"/>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INSTALAR EN CADA PC</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2. Carga la carpeta en Chrome</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Escribe chrome://extensions en la barra de direcciones y presiona Enter.</a:t>
            </a:r>
          </a:p>
        </p:txBody>
      </p:sp>
      <p:sp>
        <p:nvSpPr>
          <p:cNvPr id="7" name="Rounded Rectangle 6"/>
          <p:cNvSpPr/>
          <p:nvPr/>
        </p:nvSpPr>
        <p:spPr>
          <a:xfrm>
            <a:off x="594360" y="2194560"/>
            <a:ext cx="7498079" cy="3520440"/>
          </a:xfrm>
          <a:prstGeom prst="roundRect">
            <a:avLst>
              <a:gd name="adj" fmla="val 8000"/>
            </a:avLst>
          </a:prstGeom>
          <a:solidFill>
            <a:srgbClr val="EEF4FC"/>
          </a:solidFill>
          <a:ln w="10160">
            <a:solidFill>
              <a:srgbClr val="D8E3F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94360" y="2194560"/>
            <a:ext cx="7498079" cy="502920"/>
          </a:xfrm>
          <a:prstGeom prst="rect">
            <a:avLst/>
          </a:prstGeom>
          <a:solidFill>
            <a:srgbClr val="17345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13816" y="2313432"/>
            <a:ext cx="6949440" cy="274320"/>
          </a:xfrm>
          <a:prstGeom prst="rect">
            <a:avLst/>
          </a:prstGeom>
          <a:noFill/>
          <a:effectLst/>
        </p:spPr>
        <p:txBody>
          <a:bodyPr wrap="square" lIns="0" rIns="0" tIns="0" bIns="0" anchor="t">
            <a:spAutoFit/>
          </a:bodyPr>
          <a:lstStyle/>
          <a:p>
            <a:pPr>
              <a:lnSpc>
                <a:spcPct val="112000"/>
              </a:lnSpc>
              <a:spcAft>
                <a:spcPts val="500"/>
              </a:spcAft>
              <a:defRPr sz="1500" b="0">
                <a:solidFill>
                  <a:srgbClr val="FFFFFF"/>
                </a:solidFill>
                <a:latin typeface="Courier New"/>
              </a:defRPr>
            </a:pPr>
            <a:r>
              <a:t>chrome://extensions</a:t>
            </a:r>
          </a:p>
        </p:txBody>
      </p:sp>
      <p:sp>
        <p:nvSpPr>
          <p:cNvPr id="10" name="TextBox 9"/>
          <p:cNvSpPr txBox="1"/>
          <p:nvPr/>
        </p:nvSpPr>
        <p:spPr>
          <a:xfrm>
            <a:off x="868680" y="2971800"/>
            <a:ext cx="3657600" cy="411480"/>
          </a:xfrm>
          <a:prstGeom prst="rect">
            <a:avLst/>
          </a:prstGeom>
          <a:noFill/>
          <a:effectLst/>
        </p:spPr>
        <p:txBody>
          <a:bodyPr wrap="square" lIns="0" rIns="0" tIns="0" bIns="0" anchor="t">
            <a:spAutoFit/>
          </a:bodyPr>
          <a:lstStyle/>
          <a:p>
            <a:pPr>
              <a:lnSpc>
                <a:spcPct val="112000"/>
              </a:lnSpc>
              <a:spcAft>
                <a:spcPts val="500"/>
              </a:spcAft>
              <a:defRPr sz="2500" b="1">
                <a:solidFill>
                  <a:srgbClr val="1D3555"/>
                </a:solidFill>
                <a:latin typeface="Arial"/>
              </a:defRPr>
            </a:pPr>
            <a:r>
              <a:t>Extensiones</a:t>
            </a:r>
          </a:p>
        </p:txBody>
      </p:sp>
      <p:sp>
        <p:nvSpPr>
          <p:cNvPr id="11" name="TextBox 10"/>
          <p:cNvSpPr txBox="1"/>
          <p:nvPr/>
        </p:nvSpPr>
        <p:spPr>
          <a:xfrm>
            <a:off x="5084064" y="3081528"/>
            <a:ext cx="1828800" cy="292608"/>
          </a:xfrm>
          <a:prstGeom prst="rect">
            <a:avLst/>
          </a:prstGeom>
          <a:noFill/>
          <a:effectLst/>
        </p:spPr>
        <p:txBody>
          <a:bodyPr wrap="square" lIns="0" rIns="0" tIns="0" bIns="0" anchor="t">
            <a:spAutoFit/>
          </a:bodyPr>
          <a:lstStyle/>
          <a:p>
            <a:pPr>
              <a:lnSpc>
                <a:spcPct val="112000"/>
              </a:lnSpc>
              <a:spcAft>
                <a:spcPts val="500"/>
              </a:spcAft>
              <a:defRPr sz="1300" b="0">
                <a:solidFill>
                  <a:srgbClr val="1D3555"/>
                </a:solidFill>
                <a:latin typeface="Arial"/>
              </a:defRPr>
            </a:pPr>
            <a:r>
              <a:t>Modo desarrollador</a:t>
            </a:r>
          </a:p>
        </p:txBody>
      </p:sp>
      <p:sp>
        <p:nvSpPr>
          <p:cNvPr id="12" name="Rounded Rectangle 11"/>
          <p:cNvSpPr/>
          <p:nvPr/>
        </p:nvSpPr>
        <p:spPr>
          <a:xfrm>
            <a:off x="7022592" y="3063240"/>
            <a:ext cx="576072" cy="265176"/>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7333488" y="3090672"/>
            <a:ext cx="192024" cy="20116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ounded Rectangle 13">
            <a:hlinkClick action="ppaction://hlinksldjump" r:id="rId4" tooltip="Cargar descomprimida"/>
          </p:cNvPr>
          <p:cNvSpPr/>
          <p:nvPr/>
        </p:nvSpPr>
        <p:spPr>
          <a:xfrm>
            <a:off x="914400" y="3721608"/>
            <a:ext cx="3054096" cy="48463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a:hlinkClick action="ppaction://hlinksldjump" r:id="rId4" tooltip="Cargar descomprimida"/>
          </p:cNvPr>
          <p:cNvSpPr txBox="1"/>
          <p:nvPr/>
        </p:nvSpPr>
        <p:spPr>
          <a:xfrm>
            <a:off x="1005840" y="3735324"/>
            <a:ext cx="2871215" cy="457200"/>
          </a:xfrm>
          <a:prstGeom prst="rect">
            <a:avLst/>
          </a:prstGeom>
          <a:noFill/>
          <a:effectLst/>
        </p:spPr>
        <p:txBody>
          <a:bodyPr wrap="square" lIns="0" rIns="0" tIns="0" bIns="0" anchor="ctr">
            <a:spAutoFit/>
          </a:bodyPr>
          <a:lstStyle/>
          <a:p>
            <a:pPr algn="ctr">
              <a:lnSpc>
                <a:spcPct val="112000"/>
              </a:lnSpc>
              <a:spcAft>
                <a:spcPts val="500"/>
              </a:spcAft>
              <a:defRPr sz="1300" b="1">
                <a:solidFill>
                  <a:srgbClr val="FFFFFF"/>
                </a:solidFill>
                <a:latin typeface="Arial"/>
              </a:defRPr>
            </a:pPr>
            <a:r>
              <a:t>Cargar descomprimida</a:t>
            </a:r>
          </a:p>
        </p:txBody>
      </p:sp>
      <p:sp>
        <p:nvSpPr>
          <p:cNvPr id="16" name="Rounded Rectangle 15"/>
          <p:cNvSpPr/>
          <p:nvPr/>
        </p:nvSpPr>
        <p:spPr>
          <a:xfrm>
            <a:off x="914400" y="4507992"/>
            <a:ext cx="6784848" cy="886968"/>
          </a:xfrm>
          <a:prstGeom prst="roundRect">
            <a:avLst>
              <a:gd name="adj" fmla="val 8000"/>
            </a:avLst>
          </a:prstGeom>
          <a:solidFill>
            <a:srgbClr val="FFFFFF"/>
          </a:solidFill>
          <a:ln w="10160">
            <a:solidFill>
              <a:srgbClr val="D8E3F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115568" y="4672584"/>
            <a:ext cx="6355080" cy="301752"/>
          </a:xfrm>
          <a:prstGeom prst="rect">
            <a:avLst/>
          </a:prstGeom>
          <a:noFill/>
          <a:effectLst/>
        </p:spPr>
        <p:txBody>
          <a:bodyPr wrap="square" lIns="0" rIns="0" tIns="0" bIns="0" anchor="t">
            <a:spAutoFit/>
          </a:bodyPr>
          <a:lstStyle/>
          <a:p>
            <a:pPr>
              <a:lnSpc>
                <a:spcPct val="112000"/>
              </a:lnSpc>
              <a:spcAft>
                <a:spcPts val="500"/>
              </a:spcAft>
              <a:defRPr sz="1800" b="1">
                <a:solidFill>
                  <a:srgbClr val="1D3555"/>
                </a:solidFill>
                <a:latin typeface="Arial"/>
              </a:defRPr>
            </a:pPr>
            <a:r>
              <a:t>CRM &amp; Agenda Cloud · Coordinación ANA</a:t>
            </a:r>
          </a:p>
        </p:txBody>
      </p:sp>
      <p:sp>
        <p:nvSpPr>
          <p:cNvPr id="18" name="TextBox 17"/>
          <p:cNvSpPr txBox="1"/>
          <p:nvPr/>
        </p:nvSpPr>
        <p:spPr>
          <a:xfrm>
            <a:off x="1115568" y="5084064"/>
            <a:ext cx="6309360" cy="228600"/>
          </a:xfrm>
          <a:prstGeom prst="rect">
            <a:avLst/>
          </a:prstGeom>
          <a:noFill/>
          <a:effectLst/>
        </p:spPr>
        <p:txBody>
          <a:bodyPr wrap="square" lIns="0" rIns="0" tIns="0" bIns="0" anchor="t">
            <a:spAutoFit/>
          </a:bodyPr>
          <a:lstStyle/>
          <a:p>
            <a:pPr>
              <a:lnSpc>
                <a:spcPct val="112000"/>
              </a:lnSpc>
              <a:spcAft>
                <a:spcPts val="500"/>
              </a:spcAft>
              <a:defRPr sz="1200" b="0">
                <a:solidFill>
                  <a:srgbClr val="2957A4"/>
                </a:solidFill>
                <a:latin typeface="Arial"/>
              </a:defRPr>
            </a:pPr>
            <a:r>
              <a:t>Versión 1.2.1  ·  Activada</a:t>
            </a:r>
          </a:p>
        </p:txBody>
      </p:sp>
      <p:sp>
        <p:nvSpPr>
          <p:cNvPr id="19" name="Rounded Rectangle 18"/>
          <p:cNvSpPr/>
          <p:nvPr/>
        </p:nvSpPr>
        <p:spPr>
          <a:xfrm>
            <a:off x="8394192" y="2331720"/>
            <a:ext cx="3200400" cy="105156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8558784" y="2514600"/>
            <a:ext cx="347472" cy="34747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577072" y="2528315"/>
            <a:ext cx="310896" cy="292608"/>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1</a:t>
            </a:r>
          </a:p>
        </p:txBody>
      </p:sp>
      <p:sp>
        <p:nvSpPr>
          <p:cNvPr id="22" name="TextBox 21"/>
          <p:cNvSpPr txBox="1"/>
          <p:nvPr/>
        </p:nvSpPr>
        <p:spPr>
          <a:xfrm>
            <a:off x="9061704" y="2478024"/>
            <a:ext cx="2368296"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Activa el interruptor</a:t>
            </a:r>
          </a:p>
        </p:txBody>
      </p:sp>
      <p:sp>
        <p:nvSpPr>
          <p:cNvPr id="23" name="TextBox 22"/>
          <p:cNvSpPr txBox="1"/>
          <p:nvPr/>
        </p:nvSpPr>
        <p:spPr>
          <a:xfrm>
            <a:off x="9061704" y="2843784"/>
            <a:ext cx="2368296" cy="502919"/>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Modo desarrollador debe estar encendido.</a:t>
            </a:r>
          </a:p>
        </p:txBody>
      </p:sp>
      <p:sp>
        <p:nvSpPr>
          <p:cNvPr id="24" name="Rounded Rectangle 23"/>
          <p:cNvSpPr/>
          <p:nvPr/>
        </p:nvSpPr>
        <p:spPr>
          <a:xfrm>
            <a:off x="8394192" y="3584448"/>
            <a:ext cx="3200400" cy="105156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ounded Rectangle 24"/>
          <p:cNvSpPr/>
          <p:nvPr/>
        </p:nvSpPr>
        <p:spPr>
          <a:xfrm>
            <a:off x="8558784" y="3767328"/>
            <a:ext cx="347472" cy="34747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8577072" y="3781044"/>
            <a:ext cx="310896" cy="292608"/>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2</a:t>
            </a:r>
          </a:p>
        </p:txBody>
      </p:sp>
      <p:sp>
        <p:nvSpPr>
          <p:cNvPr id="27" name="TextBox 26"/>
          <p:cNvSpPr txBox="1"/>
          <p:nvPr/>
        </p:nvSpPr>
        <p:spPr>
          <a:xfrm>
            <a:off x="9061704" y="3730752"/>
            <a:ext cx="2368296"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Elige la carpeta</a:t>
            </a:r>
          </a:p>
        </p:txBody>
      </p:sp>
      <p:sp>
        <p:nvSpPr>
          <p:cNvPr id="28" name="TextBox 27"/>
          <p:cNvSpPr txBox="1"/>
          <p:nvPr/>
        </p:nvSpPr>
        <p:spPr>
          <a:xfrm>
            <a:off x="9061704" y="4096512"/>
            <a:ext cx="2368296" cy="502919"/>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Selecciona la que contiene manifest.json.</a:t>
            </a:r>
          </a:p>
        </p:txBody>
      </p:sp>
      <p:sp>
        <p:nvSpPr>
          <p:cNvPr id="29" name="Rounded Rectangle 28"/>
          <p:cNvSpPr/>
          <p:nvPr/>
        </p:nvSpPr>
        <p:spPr>
          <a:xfrm>
            <a:off x="8394192" y="4837176"/>
            <a:ext cx="3200400" cy="105156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8558784" y="5020056"/>
            <a:ext cx="347472" cy="34747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8577072" y="5033772"/>
            <a:ext cx="310896" cy="292608"/>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3</a:t>
            </a:r>
          </a:p>
        </p:txBody>
      </p:sp>
      <p:sp>
        <p:nvSpPr>
          <p:cNvPr id="32" name="TextBox 31"/>
          <p:cNvSpPr txBox="1"/>
          <p:nvPr/>
        </p:nvSpPr>
        <p:spPr>
          <a:xfrm>
            <a:off x="9061704" y="4983480"/>
            <a:ext cx="2368296"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Comprueba la tarjeta</a:t>
            </a:r>
          </a:p>
        </p:txBody>
      </p:sp>
      <p:sp>
        <p:nvSpPr>
          <p:cNvPr id="33" name="TextBox 32"/>
          <p:cNvSpPr txBox="1"/>
          <p:nvPr/>
        </p:nvSpPr>
        <p:spPr>
          <a:xfrm>
            <a:off x="9061704" y="5349240"/>
            <a:ext cx="2368296" cy="502919"/>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La extensión debe aparecer activa, versión 1.2.1.</a:t>
            </a:r>
          </a:p>
        </p:txBody>
      </p:sp>
      <p:sp>
        <p:nvSpPr>
          <p:cNvPr id="34" name="TextBox 33"/>
          <p:cNvSpPr txBox="1"/>
          <p:nvPr/>
        </p:nvSpPr>
        <p:spPr>
          <a:xfrm>
            <a:off x="777240" y="5916168"/>
            <a:ext cx="7315200" cy="256032"/>
          </a:xfrm>
          <a:prstGeom prst="rect">
            <a:avLst/>
          </a:prstGeom>
          <a:noFill/>
          <a:effectLst/>
        </p:spPr>
        <p:txBody>
          <a:bodyPr wrap="square" lIns="0" rIns="0" tIns="0" bIns="0" anchor="t">
            <a:spAutoFit/>
          </a:bodyPr>
          <a:lstStyle/>
          <a:p>
            <a:pPr>
              <a:lnSpc>
                <a:spcPct val="112000"/>
              </a:lnSpc>
              <a:spcAft>
                <a:spcPts val="500"/>
              </a:spcAft>
              <a:defRPr sz="1050" b="0">
                <a:solidFill>
                  <a:srgbClr val="617793"/>
                </a:solidFill>
                <a:latin typeface="Arial"/>
              </a:defRPr>
            </a:pPr>
            <a:r>
              <a:t>Esquema orientativo de Chrome; los textos pueden variar según la versión.</a:t>
            </a:r>
          </a:p>
        </p:txBody>
      </p:sp>
      <p:sp>
        <p:nvSpPr>
          <p:cNvPr id="35" name="Rectangle 34"/>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37" name="TextBox 36">
            <a:hlinkClick action="ppaction://hlinksldjump" r:id="rId5"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38" name="TextBox 37">
            <a:hlinkClick action="ppaction://hlinksldjump" r:id="rId6"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39" name="TextBox 38">
            <a:hlinkClick action="ppaction://hlinksldjump" r:id="rId7"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40" name="TextBox 39">
            <a:hlinkClick action="ppaction://hlinksldjump" r:id="rId8"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41" name="TextBox 40">
            <a:hlinkClick action="ppaction://hlinksldjump" r:id="rId9"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42" name="TextBox 41">
            <a:hlinkClick action="ppaction://hlinksldjump" r:id="rId10"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43" name="TextBox 42">
            <a:hlinkClick action="ppaction://hlinksldjump" r:id="rId4"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44" name="TextBox 43"/>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07 / 33</a:t>
            </a:r>
          </a:p>
        </p:txBody>
      </p:sp>
    </p:spTree>
  </p:cSld>
  <p:clrMapOvr>
    <a:masterClrMapping/>
  </p:clrMapOvr>
  <p:transition advClick="1"/>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INSTALAR EN CADA PC</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3. Abre el panel e ingresa al CRM</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Abre web.whatsapp.com, inicia tu sesión de WhatsApp y pulsa el icono de la extensión.</a:t>
            </a:r>
          </a:p>
        </p:txBody>
      </p:sp>
      <p:sp>
        <p:nvSpPr>
          <p:cNvPr id="7" name="Rounded Rectangle 6"/>
          <p:cNvSpPr/>
          <p:nvPr/>
        </p:nvSpPr>
        <p:spPr>
          <a:xfrm>
            <a:off x="786384" y="1929384"/>
            <a:ext cx="2926080" cy="4352544"/>
          </a:xfrm>
          <a:prstGeom prst="roundRect">
            <a:avLst>
              <a:gd name="adj" fmla="val 8000"/>
            </a:avLst>
          </a:prstGeom>
          <a:solidFill>
            <a:srgbClr val="FFFFFF"/>
          </a:solidFill>
          <a:ln w="10160">
            <a:solidFill>
              <a:srgbClr val="D8E3F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8" name="Picture 7" descr="Captura real del CRM con datos de demostración: 01-acceso"/>
          <p:cNvPicPr>
            <a:picLocks noChangeAspect="1"/>
          </p:cNvPicPr>
          <p:nvPr/>
        </p:nvPicPr>
        <p:blipFill>
          <a:blip r:embed="rId3"/>
          <a:stretch>
            <a:fillRect/>
          </a:stretch>
        </p:blipFill>
        <p:spPr>
          <a:xfrm>
            <a:off x="1179576" y="1965960"/>
            <a:ext cx="2139696" cy="4279392"/>
          </a:xfrm>
          <a:prstGeom prst="rect">
            <a:avLst/>
          </a:prstGeom>
          <a:effectLst/>
        </p:spPr>
      </p:pic>
      <p:sp>
        <p:nvSpPr>
          <p:cNvPr id="9" name="Rounded Rectangle 8"/>
          <p:cNvSpPr/>
          <p:nvPr/>
        </p:nvSpPr>
        <p:spPr>
          <a:xfrm>
            <a:off x="4206240" y="2194560"/>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242816" y="2226564"/>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1</a:t>
            </a:r>
          </a:p>
        </p:txBody>
      </p:sp>
      <p:sp>
        <p:nvSpPr>
          <p:cNvPr id="11" name="TextBox 10"/>
          <p:cNvSpPr txBox="1"/>
          <p:nvPr/>
        </p:nvSpPr>
        <p:spPr>
          <a:xfrm>
            <a:off x="4800600" y="2167128"/>
            <a:ext cx="6400800"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Fija y abre la extensión</a:t>
            </a:r>
          </a:p>
        </p:txBody>
      </p:sp>
      <p:sp>
        <p:nvSpPr>
          <p:cNvPr id="12" name="TextBox 11"/>
          <p:cNvSpPr txBox="1"/>
          <p:nvPr/>
        </p:nvSpPr>
        <p:spPr>
          <a:xfrm>
            <a:off x="4800600" y="2596896"/>
            <a:ext cx="6400800"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En el menú de extensiones de Chrome, busca CRM ANA y fija su icono.</a:t>
            </a:r>
          </a:p>
        </p:txBody>
      </p:sp>
      <p:sp>
        <p:nvSpPr>
          <p:cNvPr id="13" name="Rounded Rectangle 12"/>
          <p:cNvSpPr/>
          <p:nvPr/>
        </p:nvSpPr>
        <p:spPr>
          <a:xfrm>
            <a:off x="4206240" y="3456432"/>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242816" y="3488436"/>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2</a:t>
            </a:r>
          </a:p>
        </p:txBody>
      </p:sp>
      <p:sp>
        <p:nvSpPr>
          <p:cNvPr id="15" name="TextBox 14"/>
          <p:cNvSpPr txBox="1"/>
          <p:nvPr/>
        </p:nvSpPr>
        <p:spPr>
          <a:xfrm>
            <a:off x="4800600" y="3429000"/>
            <a:ext cx="6400800"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Introduce el token del equipo</a:t>
            </a:r>
          </a:p>
        </p:txBody>
      </p:sp>
      <p:sp>
        <p:nvSpPr>
          <p:cNvPr id="16" name="TextBox 15"/>
          <p:cNvSpPr txBox="1"/>
          <p:nvPr/>
        </p:nvSpPr>
        <p:spPr>
          <a:xfrm>
            <a:off x="4800600" y="3858768"/>
            <a:ext cx="6400800"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El administrador te lo entrega por un canal privado. La dirección del CRM ya viene configurada.</a:t>
            </a:r>
          </a:p>
        </p:txBody>
      </p:sp>
      <p:sp>
        <p:nvSpPr>
          <p:cNvPr id="17" name="Rounded Rectangle 16"/>
          <p:cNvSpPr/>
          <p:nvPr/>
        </p:nvSpPr>
        <p:spPr>
          <a:xfrm>
            <a:off x="4206240" y="4718304"/>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242816" y="4750308"/>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3</a:t>
            </a:r>
          </a:p>
        </p:txBody>
      </p:sp>
      <p:sp>
        <p:nvSpPr>
          <p:cNvPr id="19" name="TextBox 18"/>
          <p:cNvSpPr txBox="1"/>
          <p:nvPr/>
        </p:nvSpPr>
        <p:spPr>
          <a:xfrm>
            <a:off x="4800600" y="4690872"/>
            <a:ext cx="6400800"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Entra al espacio de trabajo</a:t>
            </a:r>
          </a:p>
        </p:txBody>
      </p:sp>
      <p:sp>
        <p:nvSpPr>
          <p:cNvPr id="20" name="TextBox 19"/>
          <p:cNvSpPr txBox="1"/>
          <p:nvPr/>
        </p:nvSpPr>
        <p:spPr>
          <a:xfrm>
            <a:off x="4800600" y="5120640"/>
            <a:ext cx="6400800"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Pulsa el botón de acceso. Después selecciona quién está operando esta PC.</a:t>
            </a:r>
          </a:p>
        </p:txBody>
      </p:sp>
      <p:sp>
        <p:nvSpPr>
          <p:cNvPr id="21" name="Rectangle 20"/>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23" name="TextBox 22">
            <a:hlinkClick action="ppaction://hlinksldjump" r:id="rId5"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24" name="TextBox 23">
            <a:hlinkClick action="ppaction://hlinksldjump" r:id="rId6"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25" name="TextBox 24">
            <a:hlinkClick action="ppaction://hlinksldjump" r:id="rId7"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26" name="TextBox 25">
            <a:hlinkClick action="ppaction://hlinksldjump" r:id="rId8"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27" name="TextBox 26">
            <a:hlinkClick action="ppaction://hlinksldjump" r:id="rId9"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28" name="TextBox 27">
            <a:hlinkClick action="ppaction://hlinksldjump" r:id="rId10"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29" name="TextBox 28">
            <a:hlinkClick action="ppaction://hlinksldjump" r:id="rId11"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0" name="TextBox 29"/>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08 / 33</a:t>
            </a:r>
          </a:p>
        </p:txBody>
      </p:sp>
    </p:spTree>
  </p:cSld>
  <p:clrMapOvr>
    <a:masterClrMapping/>
  </p:clrMapOvr>
  <p:transition advClick="1"/>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PRIMER ACCESO</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4. Elige quién opera esta PC</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Las notas, tareas, reuniones y acuerdos registran al operador activo. Revisa tu nombre al comenzar.</a:t>
            </a:r>
          </a:p>
        </p:txBody>
      </p:sp>
      <p:sp>
        <p:nvSpPr>
          <p:cNvPr id="7" name="Rounded Rectangle 6"/>
          <p:cNvSpPr/>
          <p:nvPr/>
        </p:nvSpPr>
        <p:spPr>
          <a:xfrm>
            <a:off x="594360" y="2487168"/>
            <a:ext cx="1508760" cy="28346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49224" y="2500884"/>
            <a:ext cx="1399031" cy="256032"/>
          </a:xfrm>
          <a:prstGeom prst="rect">
            <a:avLst/>
          </a:prstGeom>
          <a:noFill/>
          <a:effectLst/>
        </p:spPr>
        <p:txBody>
          <a:bodyPr wrap="square" lIns="0" rIns="0" tIns="0" bIns="0" anchor="ctr">
            <a:spAutoFit/>
          </a:bodyPr>
          <a:lstStyle/>
          <a:p>
            <a:pPr algn="ctr">
              <a:lnSpc>
                <a:spcPct val="112000"/>
              </a:lnSpc>
              <a:spcAft>
                <a:spcPts val="500"/>
              </a:spcAft>
              <a:defRPr sz="1400" b="1">
                <a:solidFill>
                  <a:srgbClr val="2957A4"/>
                </a:solidFill>
                <a:latin typeface="Arial"/>
              </a:defRPr>
            </a:pPr>
            <a:r>
              <a:t>Hanz</a:t>
            </a:r>
          </a:p>
        </p:txBody>
      </p:sp>
      <p:sp>
        <p:nvSpPr>
          <p:cNvPr id="9" name="Rounded Rectangle 8"/>
          <p:cNvSpPr/>
          <p:nvPr/>
        </p:nvSpPr>
        <p:spPr>
          <a:xfrm>
            <a:off x="2286000" y="2487168"/>
            <a:ext cx="1508760" cy="28346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340864" y="2500884"/>
            <a:ext cx="1399031" cy="256032"/>
          </a:xfrm>
          <a:prstGeom prst="rect">
            <a:avLst/>
          </a:prstGeom>
          <a:noFill/>
          <a:effectLst/>
        </p:spPr>
        <p:txBody>
          <a:bodyPr wrap="square" lIns="0" rIns="0" tIns="0" bIns="0" anchor="ctr">
            <a:spAutoFit/>
          </a:bodyPr>
          <a:lstStyle/>
          <a:p>
            <a:pPr algn="ctr">
              <a:lnSpc>
                <a:spcPct val="112000"/>
              </a:lnSpc>
              <a:spcAft>
                <a:spcPts val="500"/>
              </a:spcAft>
              <a:defRPr sz="1400" b="1">
                <a:solidFill>
                  <a:srgbClr val="2957A4"/>
                </a:solidFill>
                <a:latin typeface="Arial"/>
              </a:defRPr>
            </a:pPr>
            <a:r>
              <a:t>Fernando</a:t>
            </a:r>
          </a:p>
        </p:txBody>
      </p:sp>
      <p:sp>
        <p:nvSpPr>
          <p:cNvPr id="11" name="Rounded Rectangle 10"/>
          <p:cNvSpPr/>
          <p:nvPr/>
        </p:nvSpPr>
        <p:spPr>
          <a:xfrm>
            <a:off x="3977640" y="2487168"/>
            <a:ext cx="1508760" cy="28346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032504" y="2500884"/>
            <a:ext cx="1399031" cy="256032"/>
          </a:xfrm>
          <a:prstGeom prst="rect">
            <a:avLst/>
          </a:prstGeom>
          <a:noFill/>
          <a:effectLst/>
        </p:spPr>
        <p:txBody>
          <a:bodyPr wrap="square" lIns="0" rIns="0" tIns="0" bIns="0" anchor="ctr">
            <a:spAutoFit/>
          </a:bodyPr>
          <a:lstStyle/>
          <a:p>
            <a:pPr algn="ctr">
              <a:lnSpc>
                <a:spcPct val="112000"/>
              </a:lnSpc>
              <a:spcAft>
                <a:spcPts val="500"/>
              </a:spcAft>
              <a:defRPr sz="1400" b="1">
                <a:solidFill>
                  <a:srgbClr val="FFFFFF"/>
                </a:solidFill>
                <a:latin typeface="Arial"/>
              </a:defRPr>
            </a:pPr>
            <a:r>
              <a:t>Acxel</a:t>
            </a:r>
          </a:p>
        </p:txBody>
      </p:sp>
      <p:sp>
        <p:nvSpPr>
          <p:cNvPr id="13" name="Rounded Rectangle 12"/>
          <p:cNvSpPr/>
          <p:nvPr/>
        </p:nvSpPr>
        <p:spPr>
          <a:xfrm>
            <a:off x="594360" y="3118104"/>
            <a:ext cx="1508760" cy="28346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49224" y="3131820"/>
            <a:ext cx="1399031" cy="256032"/>
          </a:xfrm>
          <a:prstGeom prst="rect">
            <a:avLst/>
          </a:prstGeom>
          <a:noFill/>
          <a:effectLst/>
        </p:spPr>
        <p:txBody>
          <a:bodyPr wrap="square" lIns="0" rIns="0" tIns="0" bIns="0" anchor="ctr">
            <a:spAutoFit/>
          </a:bodyPr>
          <a:lstStyle/>
          <a:p>
            <a:pPr algn="ctr">
              <a:lnSpc>
                <a:spcPct val="112000"/>
              </a:lnSpc>
              <a:spcAft>
                <a:spcPts val="500"/>
              </a:spcAft>
              <a:defRPr sz="1400" b="1">
                <a:solidFill>
                  <a:srgbClr val="2957A4"/>
                </a:solidFill>
                <a:latin typeface="Arial"/>
              </a:defRPr>
            </a:pPr>
            <a:r>
              <a:t>Andrés</a:t>
            </a:r>
          </a:p>
        </p:txBody>
      </p:sp>
      <p:sp>
        <p:nvSpPr>
          <p:cNvPr id="15" name="Rounded Rectangle 14"/>
          <p:cNvSpPr/>
          <p:nvPr/>
        </p:nvSpPr>
        <p:spPr>
          <a:xfrm>
            <a:off x="2286000" y="3118104"/>
            <a:ext cx="1508760" cy="28346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340864" y="3131820"/>
            <a:ext cx="1399031" cy="256032"/>
          </a:xfrm>
          <a:prstGeom prst="rect">
            <a:avLst/>
          </a:prstGeom>
          <a:noFill/>
          <a:effectLst/>
        </p:spPr>
        <p:txBody>
          <a:bodyPr wrap="square" lIns="0" rIns="0" tIns="0" bIns="0" anchor="ctr">
            <a:spAutoFit/>
          </a:bodyPr>
          <a:lstStyle/>
          <a:p>
            <a:pPr algn="ctr">
              <a:lnSpc>
                <a:spcPct val="112000"/>
              </a:lnSpc>
              <a:spcAft>
                <a:spcPts val="500"/>
              </a:spcAft>
              <a:defRPr sz="1400" b="1">
                <a:solidFill>
                  <a:srgbClr val="2957A4"/>
                </a:solidFill>
                <a:latin typeface="Arial"/>
              </a:defRPr>
            </a:pPr>
            <a:r>
              <a:t>Shirley</a:t>
            </a:r>
          </a:p>
        </p:txBody>
      </p:sp>
      <p:sp>
        <p:nvSpPr>
          <p:cNvPr id="17" name="Rounded Rectangle 16"/>
          <p:cNvSpPr/>
          <p:nvPr/>
        </p:nvSpPr>
        <p:spPr>
          <a:xfrm>
            <a:off x="3977640" y="3118104"/>
            <a:ext cx="1508760" cy="28346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032504" y="3131820"/>
            <a:ext cx="1399031" cy="256032"/>
          </a:xfrm>
          <a:prstGeom prst="rect">
            <a:avLst/>
          </a:prstGeom>
          <a:noFill/>
          <a:effectLst/>
        </p:spPr>
        <p:txBody>
          <a:bodyPr wrap="square" lIns="0" rIns="0" tIns="0" bIns="0" anchor="ctr">
            <a:spAutoFit/>
          </a:bodyPr>
          <a:lstStyle/>
          <a:p>
            <a:pPr algn="ctr">
              <a:lnSpc>
                <a:spcPct val="112000"/>
              </a:lnSpc>
              <a:spcAft>
                <a:spcPts val="500"/>
              </a:spcAft>
              <a:defRPr sz="1400" b="1">
                <a:solidFill>
                  <a:srgbClr val="2957A4"/>
                </a:solidFill>
                <a:latin typeface="Arial"/>
              </a:defRPr>
            </a:pPr>
            <a:r>
              <a:t>Jaruska</a:t>
            </a:r>
          </a:p>
        </p:txBody>
      </p:sp>
      <p:sp>
        <p:nvSpPr>
          <p:cNvPr id="19" name="Rounded Rectangle 18"/>
          <p:cNvSpPr/>
          <p:nvPr/>
        </p:nvSpPr>
        <p:spPr>
          <a:xfrm>
            <a:off x="594360" y="3749039"/>
            <a:ext cx="1508760" cy="28346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49224" y="3762755"/>
            <a:ext cx="1399031" cy="256032"/>
          </a:xfrm>
          <a:prstGeom prst="rect">
            <a:avLst/>
          </a:prstGeom>
          <a:noFill/>
          <a:effectLst/>
        </p:spPr>
        <p:txBody>
          <a:bodyPr wrap="square" lIns="0" rIns="0" tIns="0" bIns="0" anchor="ctr">
            <a:spAutoFit/>
          </a:bodyPr>
          <a:lstStyle/>
          <a:p>
            <a:pPr algn="ctr">
              <a:lnSpc>
                <a:spcPct val="112000"/>
              </a:lnSpc>
              <a:spcAft>
                <a:spcPts val="500"/>
              </a:spcAft>
              <a:defRPr sz="1400" b="1">
                <a:solidFill>
                  <a:srgbClr val="2957A4"/>
                </a:solidFill>
                <a:latin typeface="Arial"/>
              </a:defRPr>
            </a:pPr>
            <a:r>
              <a:t>Marco</a:t>
            </a:r>
          </a:p>
        </p:txBody>
      </p:sp>
      <p:sp>
        <p:nvSpPr>
          <p:cNvPr id="21" name="Rounded Rectangle 20"/>
          <p:cNvSpPr/>
          <p:nvPr/>
        </p:nvSpPr>
        <p:spPr>
          <a:xfrm>
            <a:off x="2286000" y="3749039"/>
            <a:ext cx="1508760" cy="28346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2340864" y="3762755"/>
            <a:ext cx="1399031" cy="256032"/>
          </a:xfrm>
          <a:prstGeom prst="rect">
            <a:avLst/>
          </a:prstGeom>
          <a:noFill/>
          <a:effectLst/>
        </p:spPr>
        <p:txBody>
          <a:bodyPr wrap="square" lIns="0" rIns="0" tIns="0" bIns="0" anchor="ctr">
            <a:spAutoFit/>
          </a:bodyPr>
          <a:lstStyle/>
          <a:p>
            <a:pPr algn="ctr">
              <a:lnSpc>
                <a:spcPct val="112000"/>
              </a:lnSpc>
              <a:spcAft>
                <a:spcPts val="500"/>
              </a:spcAft>
              <a:defRPr sz="1400" b="1">
                <a:solidFill>
                  <a:srgbClr val="2957A4"/>
                </a:solidFill>
                <a:latin typeface="Arial"/>
              </a:defRPr>
            </a:pPr>
            <a:r>
              <a:t>Alejandra</a:t>
            </a:r>
          </a:p>
        </p:txBody>
      </p:sp>
      <p:sp>
        <p:nvSpPr>
          <p:cNvPr id="23" name="Rounded Rectangle 22"/>
          <p:cNvSpPr/>
          <p:nvPr/>
        </p:nvSpPr>
        <p:spPr>
          <a:xfrm>
            <a:off x="3977640" y="3749039"/>
            <a:ext cx="1508760" cy="28346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032504" y="3762755"/>
            <a:ext cx="1399031" cy="256032"/>
          </a:xfrm>
          <a:prstGeom prst="rect">
            <a:avLst/>
          </a:prstGeom>
          <a:noFill/>
          <a:effectLst/>
        </p:spPr>
        <p:txBody>
          <a:bodyPr wrap="square" lIns="0" rIns="0" tIns="0" bIns="0" anchor="ctr">
            <a:spAutoFit/>
          </a:bodyPr>
          <a:lstStyle/>
          <a:p>
            <a:pPr algn="ctr">
              <a:lnSpc>
                <a:spcPct val="112000"/>
              </a:lnSpc>
              <a:spcAft>
                <a:spcPts val="500"/>
              </a:spcAft>
              <a:defRPr sz="1400" b="1">
                <a:solidFill>
                  <a:srgbClr val="2957A4"/>
                </a:solidFill>
                <a:latin typeface="Arial"/>
              </a:defRPr>
            </a:pPr>
            <a:r>
              <a:t>Marcelo</a:t>
            </a:r>
          </a:p>
        </p:txBody>
      </p:sp>
      <p:sp>
        <p:nvSpPr>
          <p:cNvPr id="25" name="Rounded Rectangle 24"/>
          <p:cNvSpPr/>
          <p:nvPr/>
        </p:nvSpPr>
        <p:spPr>
          <a:xfrm>
            <a:off x="594360" y="4379976"/>
            <a:ext cx="1508760" cy="28346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9224" y="4393692"/>
            <a:ext cx="1399031" cy="256032"/>
          </a:xfrm>
          <a:prstGeom prst="rect">
            <a:avLst/>
          </a:prstGeom>
          <a:noFill/>
          <a:effectLst/>
        </p:spPr>
        <p:txBody>
          <a:bodyPr wrap="square" lIns="0" rIns="0" tIns="0" bIns="0" anchor="ctr">
            <a:spAutoFit/>
          </a:bodyPr>
          <a:lstStyle/>
          <a:p>
            <a:pPr algn="ctr">
              <a:lnSpc>
                <a:spcPct val="112000"/>
              </a:lnSpc>
              <a:spcAft>
                <a:spcPts val="500"/>
              </a:spcAft>
              <a:defRPr sz="1400" b="1">
                <a:solidFill>
                  <a:srgbClr val="2957A4"/>
                </a:solidFill>
                <a:latin typeface="Arial"/>
              </a:defRPr>
            </a:pPr>
            <a:r>
              <a:t>Luciano</a:t>
            </a:r>
          </a:p>
        </p:txBody>
      </p:sp>
      <p:sp>
        <p:nvSpPr>
          <p:cNvPr id="27" name="Rounded Rectangle 26"/>
          <p:cNvSpPr/>
          <p:nvPr/>
        </p:nvSpPr>
        <p:spPr>
          <a:xfrm>
            <a:off x="2286000" y="4379976"/>
            <a:ext cx="1508760" cy="28346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2340864" y="4393692"/>
            <a:ext cx="1399031" cy="256032"/>
          </a:xfrm>
          <a:prstGeom prst="rect">
            <a:avLst/>
          </a:prstGeom>
          <a:noFill/>
          <a:effectLst/>
        </p:spPr>
        <p:txBody>
          <a:bodyPr wrap="square" lIns="0" rIns="0" tIns="0" bIns="0" anchor="ctr">
            <a:spAutoFit/>
          </a:bodyPr>
          <a:lstStyle/>
          <a:p>
            <a:pPr algn="ctr">
              <a:lnSpc>
                <a:spcPct val="112000"/>
              </a:lnSpc>
              <a:spcAft>
                <a:spcPts val="500"/>
              </a:spcAft>
              <a:defRPr sz="1400" b="1">
                <a:solidFill>
                  <a:srgbClr val="2957A4"/>
                </a:solidFill>
                <a:latin typeface="Arial"/>
              </a:defRPr>
            </a:pPr>
            <a:r>
              <a:t>Sheila</a:t>
            </a:r>
          </a:p>
        </p:txBody>
      </p:sp>
      <p:sp>
        <p:nvSpPr>
          <p:cNvPr id="29" name="Rounded Rectangle 28"/>
          <p:cNvSpPr/>
          <p:nvPr/>
        </p:nvSpPr>
        <p:spPr>
          <a:xfrm>
            <a:off x="3977640" y="4379976"/>
            <a:ext cx="1508760" cy="28346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032504" y="4393692"/>
            <a:ext cx="1399031" cy="256032"/>
          </a:xfrm>
          <a:prstGeom prst="rect">
            <a:avLst/>
          </a:prstGeom>
          <a:noFill/>
          <a:effectLst/>
        </p:spPr>
        <p:txBody>
          <a:bodyPr wrap="square" lIns="0" rIns="0" tIns="0" bIns="0" anchor="ctr">
            <a:spAutoFit/>
          </a:bodyPr>
          <a:lstStyle/>
          <a:p>
            <a:pPr algn="ctr">
              <a:lnSpc>
                <a:spcPct val="112000"/>
              </a:lnSpc>
              <a:spcAft>
                <a:spcPts val="500"/>
              </a:spcAft>
              <a:defRPr sz="1400" b="1">
                <a:solidFill>
                  <a:srgbClr val="2957A4"/>
                </a:solidFill>
                <a:latin typeface="Arial"/>
              </a:defRPr>
            </a:pPr>
            <a:r>
              <a:t>Cristina</a:t>
            </a:r>
          </a:p>
        </p:txBody>
      </p:sp>
      <p:sp>
        <p:nvSpPr>
          <p:cNvPr id="31" name="TextBox 30"/>
          <p:cNvSpPr txBox="1"/>
          <p:nvPr/>
        </p:nvSpPr>
        <p:spPr>
          <a:xfrm>
            <a:off x="612648" y="2066543"/>
            <a:ext cx="4846320" cy="292608"/>
          </a:xfrm>
          <a:prstGeom prst="rect">
            <a:avLst/>
          </a:prstGeom>
          <a:noFill/>
          <a:effectLst/>
        </p:spPr>
        <p:txBody>
          <a:bodyPr wrap="square" lIns="0" rIns="0" tIns="0" bIns="0" anchor="t">
            <a:spAutoFit/>
          </a:bodyPr>
          <a:lstStyle/>
          <a:p>
            <a:pPr>
              <a:lnSpc>
                <a:spcPct val="112000"/>
              </a:lnSpc>
              <a:spcAft>
                <a:spcPts val="500"/>
              </a:spcAft>
              <a:defRPr sz="1100" b="1">
                <a:solidFill>
                  <a:srgbClr val="617793"/>
                </a:solidFill>
                <a:latin typeface="Arial"/>
              </a:defRPr>
            </a:pPr>
            <a:r>
              <a:t>OPERADORES INICIALES</a:t>
            </a:r>
          </a:p>
        </p:txBody>
      </p:sp>
      <p:sp>
        <p:nvSpPr>
          <p:cNvPr id="32" name="Rounded Rectangle 31"/>
          <p:cNvSpPr/>
          <p:nvPr/>
        </p:nvSpPr>
        <p:spPr>
          <a:xfrm>
            <a:off x="6080760" y="2313432"/>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6117336" y="2345436"/>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1</a:t>
            </a:r>
          </a:p>
        </p:txBody>
      </p:sp>
      <p:sp>
        <p:nvSpPr>
          <p:cNvPr id="34" name="TextBox 33"/>
          <p:cNvSpPr txBox="1"/>
          <p:nvPr/>
        </p:nvSpPr>
        <p:spPr>
          <a:xfrm>
            <a:off x="6675120" y="2286000"/>
            <a:ext cx="4709159"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Selecciona tu nombre</a:t>
            </a:r>
          </a:p>
        </p:txBody>
      </p:sp>
      <p:sp>
        <p:nvSpPr>
          <p:cNvPr id="35" name="TextBox 34"/>
          <p:cNvSpPr txBox="1"/>
          <p:nvPr/>
        </p:nvSpPr>
        <p:spPr>
          <a:xfrm>
            <a:off x="6675120" y="2715768"/>
            <a:ext cx="4709159"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Usa “¿Quién opera esta PC?” en la barra superior.</a:t>
            </a:r>
          </a:p>
        </p:txBody>
      </p:sp>
      <p:sp>
        <p:nvSpPr>
          <p:cNvPr id="36" name="Rounded Rectangle 35"/>
          <p:cNvSpPr/>
          <p:nvPr/>
        </p:nvSpPr>
        <p:spPr>
          <a:xfrm>
            <a:off x="6080760" y="3511296"/>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6117336" y="3543300"/>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2</a:t>
            </a:r>
          </a:p>
        </p:txBody>
      </p:sp>
      <p:sp>
        <p:nvSpPr>
          <p:cNvPr id="38" name="TextBox 37"/>
          <p:cNvSpPr txBox="1"/>
          <p:nvPr/>
        </p:nvSpPr>
        <p:spPr>
          <a:xfrm>
            <a:off x="6675120" y="3483864"/>
            <a:ext cx="4709159"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Agrega nuevos integrantes</a:t>
            </a:r>
          </a:p>
        </p:txBody>
      </p:sp>
      <p:sp>
        <p:nvSpPr>
          <p:cNvPr id="39" name="TextBox 38"/>
          <p:cNvSpPr txBox="1"/>
          <p:nvPr/>
        </p:nvSpPr>
        <p:spPr>
          <a:xfrm>
            <a:off x="6675120" y="3913632"/>
            <a:ext cx="4709159"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Pulsa +, escribe el nombre y elige Crear operador.</a:t>
            </a:r>
          </a:p>
        </p:txBody>
      </p:sp>
      <p:sp>
        <p:nvSpPr>
          <p:cNvPr id="40" name="Rounded Rectangle 39"/>
          <p:cNvSpPr/>
          <p:nvPr/>
        </p:nvSpPr>
        <p:spPr>
          <a:xfrm>
            <a:off x="6080760" y="4709160"/>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6117336" y="4741164"/>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3</a:t>
            </a:r>
          </a:p>
        </p:txBody>
      </p:sp>
      <p:sp>
        <p:nvSpPr>
          <p:cNvPr id="42" name="TextBox 41"/>
          <p:cNvSpPr txBox="1"/>
          <p:nvPr/>
        </p:nvSpPr>
        <p:spPr>
          <a:xfrm>
            <a:off x="6675120" y="4681728"/>
            <a:ext cx="4709159"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Gestiona cambios del equipo</a:t>
            </a:r>
          </a:p>
        </p:txBody>
      </p:sp>
      <p:sp>
        <p:nvSpPr>
          <p:cNvPr id="43" name="TextBox 42"/>
          <p:cNvSpPr txBox="1"/>
          <p:nvPr/>
        </p:nvSpPr>
        <p:spPr>
          <a:xfrm>
            <a:off x="6675120" y="5111496"/>
            <a:ext cx="4709159"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Antes de eliminar a alguien, reasigna sus espacios y tareas pendientes.</a:t>
            </a:r>
          </a:p>
        </p:txBody>
      </p:sp>
      <p:sp>
        <p:nvSpPr>
          <p:cNvPr id="44" name="Rounded Rectangle 43"/>
          <p:cNvSpPr/>
          <p:nvPr/>
        </p:nvSpPr>
        <p:spPr>
          <a:xfrm>
            <a:off x="502920" y="5971032"/>
            <a:ext cx="11183112" cy="41148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640080" y="6035040"/>
            <a:ext cx="10908792" cy="301752"/>
          </a:xfrm>
          <a:prstGeom prst="rect">
            <a:avLst/>
          </a:prstGeom>
          <a:noFill/>
          <a:effectLst/>
        </p:spPr>
        <p:txBody>
          <a:bodyPr wrap="square" lIns="0" rIns="0" tIns="0" bIns="0" anchor="t">
            <a:spAutoFit/>
          </a:bodyPr>
          <a:lstStyle/>
          <a:p>
            <a:pPr>
              <a:lnSpc>
                <a:spcPct val="112000"/>
              </a:lnSpc>
              <a:spcAft>
                <a:spcPts val="500"/>
              </a:spcAft>
              <a:defRPr sz="1250" b="0">
                <a:solidFill>
                  <a:srgbClr val="2957A4"/>
                </a:solidFill>
                <a:latin typeface="Arial"/>
              </a:defRPr>
            </a:pPr>
            <a:r>
              <a:t>El token es compartido; el selector atribuye el trabajo al nombre elegido y no crea permisos individuales.</a:t>
            </a:r>
          </a:p>
        </p:txBody>
      </p:sp>
      <p:sp>
        <p:nvSpPr>
          <p:cNvPr id="46" name="Rectangle 45"/>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48" name="TextBox 47">
            <a:hlinkClick action="ppaction://hlinksldjump" r:id="rId4"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49" name="TextBox 48">
            <a:hlinkClick action="ppaction://hlinksldjump" r:id="rId5"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50" name="TextBox 49">
            <a:hlinkClick action="ppaction://hlinksldjump" r:id="rId6"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51" name="TextBox 50">
            <a:hlinkClick action="ppaction://hlinksldjump" r:id="rId7"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52" name="TextBox 51">
            <a:hlinkClick action="ppaction://hlinksldjump" r:id="rId8"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53" name="TextBox 52">
            <a:hlinkClick action="ppaction://hlinksldjump" r:id="rId9"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54" name="TextBox 53">
            <a:hlinkClick action="ppaction://hlinksldjump" r:id="rId5"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55" name="TextBox 54"/>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09 / 33</a:t>
            </a:r>
          </a:p>
        </p:txBody>
      </p:sp>
    </p:spTree>
  </p:cSld>
  <p:clrMapOvr>
    <a:masterClrMapping/>
  </p:clrMapOvr>
  <p:transition advClick="1"/>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USO DIARIO</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Encuentra la coordinación en segundos</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Directorio es el punto de partida para abrir una ficha, ver pendientes y priorizar el trabajo.</a:t>
            </a:r>
          </a:p>
        </p:txBody>
      </p:sp>
      <p:sp>
        <p:nvSpPr>
          <p:cNvPr id="7" name="Rounded Rectangle 6"/>
          <p:cNvSpPr/>
          <p:nvPr/>
        </p:nvSpPr>
        <p:spPr>
          <a:xfrm>
            <a:off x="493775" y="2020824"/>
            <a:ext cx="7434072" cy="3895344"/>
          </a:xfrm>
          <a:prstGeom prst="roundRect">
            <a:avLst>
              <a:gd name="adj" fmla="val 8000"/>
            </a:avLst>
          </a:prstGeom>
          <a:solidFill>
            <a:srgbClr val="FFFFFF"/>
          </a:solidFill>
          <a:ln w="10160">
            <a:solidFill>
              <a:srgbClr val="D8E3F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8" name="Picture 7" descr="Captura real del CRM con datos de demostración: 02-directorio"/>
          <p:cNvPicPr>
            <a:picLocks noChangeAspect="1"/>
          </p:cNvPicPr>
          <p:nvPr/>
        </p:nvPicPr>
        <p:blipFill>
          <a:blip r:embed="rId3"/>
          <a:stretch>
            <a:fillRect/>
          </a:stretch>
        </p:blipFill>
        <p:spPr>
          <a:xfrm>
            <a:off x="1153058" y="2057400"/>
            <a:ext cx="6115507" cy="3822191"/>
          </a:xfrm>
          <a:prstGeom prst="rect">
            <a:avLst/>
          </a:prstGeom>
          <a:effectLst/>
        </p:spPr>
      </p:pic>
      <p:sp>
        <p:nvSpPr>
          <p:cNvPr id="9" name="Rounded Rectangle 8"/>
          <p:cNvSpPr/>
          <p:nvPr/>
        </p:nvSpPr>
        <p:spPr>
          <a:xfrm>
            <a:off x="694944" y="5989320"/>
            <a:ext cx="4023360" cy="28346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49808" y="6003036"/>
            <a:ext cx="3913632" cy="256032"/>
          </a:xfrm>
          <a:prstGeom prst="rect">
            <a:avLst/>
          </a:prstGeom>
          <a:noFill/>
          <a:effectLst/>
        </p:spPr>
        <p:txBody>
          <a:bodyPr wrap="square" lIns="0" rIns="0" tIns="0" bIns="0" anchor="ctr">
            <a:spAutoFit/>
          </a:bodyPr>
          <a:lstStyle/>
          <a:p>
            <a:pPr algn="ctr">
              <a:lnSpc>
                <a:spcPct val="112000"/>
              </a:lnSpc>
              <a:spcAft>
                <a:spcPts val="500"/>
              </a:spcAft>
              <a:defRPr sz="900" b="1">
                <a:solidFill>
                  <a:srgbClr val="2957A4"/>
                </a:solidFill>
                <a:latin typeface="Arial"/>
              </a:defRPr>
            </a:pPr>
            <a:r>
              <a:t>CAPTURA · DATOS DE DEMOSTRACIÓN</a:t>
            </a:r>
          </a:p>
        </p:txBody>
      </p:sp>
      <p:sp>
        <p:nvSpPr>
          <p:cNvPr id="11" name="Rounded Rectangle 10"/>
          <p:cNvSpPr/>
          <p:nvPr/>
        </p:nvSpPr>
        <p:spPr>
          <a:xfrm>
            <a:off x="8183879" y="2048256"/>
            <a:ext cx="3474720" cy="123444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8348471" y="2231136"/>
            <a:ext cx="347472" cy="34747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366759" y="2244852"/>
            <a:ext cx="310896" cy="292608"/>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1</a:t>
            </a:r>
          </a:p>
        </p:txBody>
      </p:sp>
      <p:sp>
        <p:nvSpPr>
          <p:cNvPr id="14" name="TextBox 13"/>
          <p:cNvSpPr txBox="1"/>
          <p:nvPr/>
        </p:nvSpPr>
        <p:spPr>
          <a:xfrm>
            <a:off x="8851392" y="2194560"/>
            <a:ext cx="2642615"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Busca por contexto</a:t>
            </a:r>
          </a:p>
        </p:txBody>
      </p:sp>
      <p:sp>
        <p:nvSpPr>
          <p:cNvPr id="15" name="TextBox 14"/>
          <p:cNvSpPr txBox="1"/>
          <p:nvPr/>
        </p:nvSpPr>
        <p:spPr>
          <a:xfrm>
            <a:off x="8851392" y="2560320"/>
            <a:ext cx="2642615" cy="685800"/>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Nombre, teléfono, CUT, órgano, texto de una nota o tarea.</a:t>
            </a:r>
          </a:p>
        </p:txBody>
      </p:sp>
      <p:sp>
        <p:nvSpPr>
          <p:cNvPr id="16" name="Rounded Rectangle 15"/>
          <p:cNvSpPr/>
          <p:nvPr/>
        </p:nvSpPr>
        <p:spPr>
          <a:xfrm>
            <a:off x="8183879" y="3328416"/>
            <a:ext cx="3474720" cy="123444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8348471" y="3511296"/>
            <a:ext cx="347472" cy="34747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366759" y="3525012"/>
            <a:ext cx="310896" cy="292608"/>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2</a:t>
            </a:r>
          </a:p>
        </p:txBody>
      </p:sp>
      <p:sp>
        <p:nvSpPr>
          <p:cNvPr id="19" name="TextBox 18"/>
          <p:cNvSpPr txBox="1"/>
          <p:nvPr/>
        </p:nvSpPr>
        <p:spPr>
          <a:xfrm>
            <a:off x="8851392" y="3474720"/>
            <a:ext cx="2642615"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Filtra el directorio</a:t>
            </a:r>
          </a:p>
        </p:txBody>
      </p:sp>
      <p:sp>
        <p:nvSpPr>
          <p:cNvPr id="20" name="TextBox 19"/>
          <p:cNvSpPr txBox="1"/>
          <p:nvPr/>
        </p:nvSpPr>
        <p:spPr>
          <a:xfrm>
            <a:off x="8851392" y="3840480"/>
            <a:ext cx="2642615" cy="685800"/>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Combina órgano/unidad y responsable asignado.</a:t>
            </a:r>
          </a:p>
        </p:txBody>
      </p:sp>
      <p:sp>
        <p:nvSpPr>
          <p:cNvPr id="21" name="Rounded Rectangle 20"/>
          <p:cNvSpPr/>
          <p:nvPr/>
        </p:nvSpPr>
        <p:spPr>
          <a:xfrm>
            <a:off x="8183879" y="4608576"/>
            <a:ext cx="3474720" cy="123444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8348471" y="4791456"/>
            <a:ext cx="347472" cy="34747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366759" y="4805172"/>
            <a:ext cx="310896" cy="292608"/>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3</a:t>
            </a:r>
          </a:p>
        </p:txBody>
      </p:sp>
      <p:sp>
        <p:nvSpPr>
          <p:cNvPr id="24" name="TextBox 23"/>
          <p:cNvSpPr txBox="1"/>
          <p:nvPr/>
        </p:nvSpPr>
        <p:spPr>
          <a:xfrm>
            <a:off x="8851392" y="4754880"/>
            <a:ext cx="2642615"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Prioriza con bandejas</a:t>
            </a:r>
          </a:p>
        </p:txBody>
      </p:sp>
      <p:sp>
        <p:nvSpPr>
          <p:cNvPr id="25" name="TextBox 24"/>
          <p:cNvSpPr txBox="1"/>
          <p:nvPr/>
        </p:nvSpPr>
        <p:spPr>
          <a:xfrm>
            <a:off x="8851392" y="5120640"/>
            <a:ext cx="2642615" cy="685800"/>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Urgentes, Pendientes, En elaboración, Para V°B°, Cerrado y Mis Coordinaciones.</a:t>
            </a:r>
          </a:p>
        </p:txBody>
      </p:sp>
      <p:sp>
        <p:nvSpPr>
          <p:cNvPr id="26" name="Rectangle 25"/>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28" name="TextBox 27">
            <a:hlinkClick action="ppaction://hlinksldjump" r:id="rId5"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29" name="TextBox 28">
            <a:hlinkClick action="ppaction://hlinksldjump" r:id="rId6"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30" name="TextBox 29">
            <a:hlinkClick action="ppaction://hlinksldjump" r:id="rId7"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31" name="TextBox 30">
            <a:hlinkClick action="ppaction://hlinksldjump" r:id="rId8"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32" name="TextBox 31">
            <a:hlinkClick action="ppaction://hlinksldjump" r:id="rId9"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3" name="TextBox 32">
            <a:hlinkClick action="ppaction://hlinksldjump" r:id="rId10"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34" name="TextBox 33">
            <a:hlinkClick action="ppaction://hlinksldjump" r:id="rId11"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5" name="TextBox 34"/>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10 / 33</a:t>
            </a:r>
          </a:p>
        </p:txBody>
      </p:sp>
    </p:spTree>
  </p:cSld>
  <p:clrMapOvr>
    <a:masterClrMapping/>
  </p:clrMapOvr>
  <p:transition advClick="1"/>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USO CON WHATSAPP WEB</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Abre un chat: el CRM muestra su contexto</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El lector observa el nombre o teléfono del encabezado. El trabajo de coordinación ocurre dentro del panel.</a:t>
            </a:r>
          </a:p>
        </p:txBody>
      </p:sp>
      <p:sp>
        <p:nvSpPr>
          <p:cNvPr id="7" name="Rounded Rectangle 6"/>
          <p:cNvSpPr/>
          <p:nvPr/>
        </p:nvSpPr>
        <p:spPr>
          <a:xfrm>
            <a:off x="594360" y="2167128"/>
            <a:ext cx="11018520" cy="704088"/>
          </a:xfrm>
          <a:prstGeom prst="roundRect">
            <a:avLst>
              <a:gd name="adj" fmla="val 8000"/>
            </a:avLst>
          </a:prstGeom>
          <a:solidFill>
            <a:srgbClr val="17345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68680" y="2368296"/>
            <a:ext cx="10469880" cy="347472"/>
          </a:xfrm>
          <a:prstGeom prst="rect">
            <a:avLst/>
          </a:prstGeom>
          <a:noFill/>
          <a:effectLst/>
        </p:spPr>
        <p:txBody>
          <a:bodyPr wrap="square" lIns="0" rIns="0" tIns="0" bIns="0" anchor="t">
            <a:spAutoFit/>
          </a:bodyPr>
          <a:lstStyle/>
          <a:p>
            <a:pPr>
              <a:lnSpc>
                <a:spcPct val="112000"/>
              </a:lnSpc>
              <a:spcAft>
                <a:spcPts val="500"/>
              </a:spcAft>
              <a:defRPr sz="2100" b="1">
                <a:solidFill>
                  <a:srgbClr val="FFFFFF"/>
                </a:solidFill>
                <a:latin typeface="Arial"/>
              </a:defRPr>
            </a:pPr>
            <a:r>
              <a:t>CHAT DE WHATSAPP  →  [Demo] Coordinación de Prensa</a:t>
            </a:r>
          </a:p>
        </p:txBody>
      </p:sp>
      <p:sp>
        <p:nvSpPr>
          <p:cNvPr id="9" name="Rounded Rectangle 8"/>
          <p:cNvSpPr/>
          <p:nvPr/>
        </p:nvSpPr>
        <p:spPr>
          <a:xfrm>
            <a:off x="594360" y="3273552"/>
            <a:ext cx="3493008" cy="219456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04672" y="3493008"/>
            <a:ext cx="3063240" cy="713232"/>
          </a:xfrm>
          <a:prstGeom prst="rect">
            <a:avLst/>
          </a:prstGeom>
          <a:noFill/>
          <a:effectLst/>
        </p:spPr>
        <p:txBody>
          <a:bodyPr wrap="square" lIns="0" rIns="0" tIns="0" bIns="0" anchor="t">
            <a:spAutoFit/>
          </a:bodyPr>
          <a:lstStyle/>
          <a:p>
            <a:pPr>
              <a:lnSpc>
                <a:spcPct val="112000"/>
              </a:lnSpc>
              <a:spcAft>
                <a:spcPts val="500"/>
              </a:spcAft>
              <a:defRPr sz="2100" b="1">
                <a:solidFill>
                  <a:srgbClr val="2957A4"/>
                </a:solidFill>
                <a:latin typeface="Arial"/>
              </a:defRPr>
            </a:pPr>
            <a:r>
              <a:t>Ya existe una ficha</a:t>
            </a:r>
          </a:p>
        </p:txBody>
      </p:sp>
      <p:sp>
        <p:nvSpPr>
          <p:cNvPr id="11" name="TextBox 10"/>
          <p:cNvSpPr txBox="1"/>
          <p:nvPr/>
        </p:nvSpPr>
        <p:spPr>
          <a:xfrm>
            <a:off x="804672" y="4325112"/>
            <a:ext cx="3063240" cy="969264"/>
          </a:xfrm>
          <a:prstGeom prst="rect">
            <a:avLst/>
          </a:prstGeom>
          <a:noFill/>
          <a:effectLst/>
        </p:spPr>
        <p:txBody>
          <a:bodyPr wrap="square" lIns="0" rIns="0" tIns="0" bIns="0" anchor="t">
            <a:spAutoFit/>
          </a:bodyPr>
          <a:lstStyle/>
          <a:p>
            <a:pPr>
              <a:lnSpc>
                <a:spcPct val="112000"/>
              </a:lnSpc>
              <a:spcAft>
                <a:spcPts val="500"/>
              </a:spcAft>
              <a:defRPr sz="1500" b="0">
                <a:solidFill>
                  <a:srgbClr val="1D3555"/>
                </a:solidFill>
                <a:latin typeface="Arial"/>
              </a:defRPr>
            </a:pPr>
            <a:r>
              <a:t>Si la coincidencia es única, se abre. También puedes usar Abrir ficha de este chat.</a:t>
            </a:r>
          </a:p>
        </p:txBody>
      </p:sp>
      <p:sp>
        <p:nvSpPr>
          <p:cNvPr id="12" name="Rounded Rectangle 11">
            <a:hlinkClick action="ppaction://hlinksldjump" r:id="rId4" tooltip="Ver cómo  →"/>
          </p:cNvPr>
          <p:cNvSpPr/>
          <p:nvPr/>
        </p:nvSpPr>
        <p:spPr>
          <a:xfrm>
            <a:off x="804672" y="5650992"/>
            <a:ext cx="3063240" cy="438912"/>
          </a:xfrm>
          <a:prstGeom prst="roundRect">
            <a:avLst>
              <a:gd name="adj" fmla="val 8000"/>
            </a:avLst>
          </a:prstGeom>
          <a:solidFill>
            <a:srgbClr val="FFFFFF"/>
          </a:solidFill>
          <a:ln w="10160">
            <a:solidFill>
              <a:srgbClr val="D8E3F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a:hlinkClick action="ppaction://hlinksldjump" r:id="rId4" tooltip="Ver cómo  →"/>
          </p:cNvPr>
          <p:cNvSpPr txBox="1"/>
          <p:nvPr/>
        </p:nvSpPr>
        <p:spPr>
          <a:xfrm>
            <a:off x="896112" y="5664707"/>
            <a:ext cx="2880360" cy="411479"/>
          </a:xfrm>
          <a:prstGeom prst="rect">
            <a:avLst/>
          </a:prstGeom>
          <a:noFill/>
          <a:effectLst/>
        </p:spPr>
        <p:txBody>
          <a:bodyPr wrap="square" lIns="0" rIns="0" tIns="0" bIns="0" anchor="ctr">
            <a:spAutoFit/>
          </a:bodyPr>
          <a:lstStyle/>
          <a:p>
            <a:pPr algn="ctr">
              <a:lnSpc>
                <a:spcPct val="112000"/>
              </a:lnSpc>
              <a:spcAft>
                <a:spcPts val="500"/>
              </a:spcAft>
              <a:defRPr sz="1300" b="1">
                <a:solidFill>
                  <a:srgbClr val="2957A4"/>
                </a:solidFill>
                <a:latin typeface="Arial"/>
              </a:defRPr>
            </a:pPr>
            <a:r>
              <a:t>Ver cómo  →</a:t>
            </a:r>
          </a:p>
        </p:txBody>
      </p:sp>
      <p:sp>
        <p:nvSpPr>
          <p:cNvPr id="14" name="Rounded Rectangle 13"/>
          <p:cNvSpPr/>
          <p:nvPr/>
        </p:nvSpPr>
        <p:spPr>
          <a:xfrm>
            <a:off x="4361688" y="3273552"/>
            <a:ext cx="3493008" cy="219456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572000" y="3493008"/>
            <a:ext cx="3063240" cy="713232"/>
          </a:xfrm>
          <a:prstGeom prst="rect">
            <a:avLst/>
          </a:prstGeom>
          <a:noFill/>
          <a:effectLst/>
        </p:spPr>
        <p:txBody>
          <a:bodyPr wrap="square" lIns="0" rIns="0" tIns="0" bIns="0" anchor="t">
            <a:spAutoFit/>
          </a:bodyPr>
          <a:lstStyle/>
          <a:p>
            <a:pPr>
              <a:lnSpc>
                <a:spcPct val="112000"/>
              </a:lnSpc>
              <a:spcAft>
                <a:spcPts val="500"/>
              </a:spcAft>
              <a:defRPr sz="2100" b="1">
                <a:solidFill>
                  <a:srgbClr val="2957A4"/>
                </a:solidFill>
                <a:latin typeface="Arial"/>
              </a:defRPr>
            </a:pPr>
            <a:r>
              <a:t>Es un contacto nuevo</a:t>
            </a:r>
          </a:p>
        </p:txBody>
      </p:sp>
      <p:sp>
        <p:nvSpPr>
          <p:cNvPr id="16" name="TextBox 15"/>
          <p:cNvSpPr txBox="1"/>
          <p:nvPr/>
        </p:nvSpPr>
        <p:spPr>
          <a:xfrm>
            <a:off x="4572000" y="4325112"/>
            <a:ext cx="3063240" cy="969264"/>
          </a:xfrm>
          <a:prstGeom prst="rect">
            <a:avLst/>
          </a:prstGeom>
          <a:noFill/>
          <a:effectLst/>
        </p:spPr>
        <p:txBody>
          <a:bodyPr wrap="square" lIns="0" rIns="0" tIns="0" bIns="0" anchor="t">
            <a:spAutoFit/>
          </a:bodyPr>
          <a:lstStyle/>
          <a:p>
            <a:pPr>
              <a:lnSpc>
                <a:spcPct val="112000"/>
              </a:lnSpc>
              <a:spcAft>
                <a:spcPts val="500"/>
              </a:spcAft>
              <a:defRPr sz="1500" b="0">
                <a:solidFill>
                  <a:srgbClr val="1D3555"/>
                </a:solidFill>
                <a:latin typeface="Arial"/>
              </a:defRPr>
            </a:pPr>
            <a:r>
              <a:t>Pulsa Crear espacio para este chat y completa su teléfono o ID conocido.</a:t>
            </a:r>
          </a:p>
        </p:txBody>
      </p:sp>
      <p:sp>
        <p:nvSpPr>
          <p:cNvPr id="17" name="Rounded Rectangle 16">
            <a:hlinkClick action="ppaction://hlinksldjump" r:id="rId4" tooltip="Ver cómo  →"/>
          </p:cNvPr>
          <p:cNvSpPr/>
          <p:nvPr/>
        </p:nvSpPr>
        <p:spPr>
          <a:xfrm>
            <a:off x="4572000" y="5650992"/>
            <a:ext cx="3063240" cy="438912"/>
          </a:xfrm>
          <a:prstGeom prst="roundRect">
            <a:avLst>
              <a:gd name="adj" fmla="val 8000"/>
            </a:avLst>
          </a:prstGeom>
          <a:solidFill>
            <a:srgbClr val="FFFFFF"/>
          </a:solidFill>
          <a:ln w="10160">
            <a:solidFill>
              <a:srgbClr val="D8E3F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a:hlinkClick action="ppaction://hlinksldjump" r:id="rId4" tooltip="Ver cómo  →"/>
          </p:cNvPr>
          <p:cNvSpPr txBox="1"/>
          <p:nvPr/>
        </p:nvSpPr>
        <p:spPr>
          <a:xfrm>
            <a:off x="4663440" y="5664707"/>
            <a:ext cx="2880360" cy="411479"/>
          </a:xfrm>
          <a:prstGeom prst="rect">
            <a:avLst/>
          </a:prstGeom>
          <a:noFill/>
          <a:effectLst/>
        </p:spPr>
        <p:txBody>
          <a:bodyPr wrap="square" lIns="0" rIns="0" tIns="0" bIns="0" anchor="ctr">
            <a:spAutoFit/>
          </a:bodyPr>
          <a:lstStyle/>
          <a:p>
            <a:pPr algn="ctr">
              <a:lnSpc>
                <a:spcPct val="112000"/>
              </a:lnSpc>
              <a:spcAft>
                <a:spcPts val="500"/>
              </a:spcAft>
              <a:defRPr sz="1300" b="1">
                <a:solidFill>
                  <a:srgbClr val="2957A4"/>
                </a:solidFill>
                <a:latin typeface="Arial"/>
              </a:defRPr>
            </a:pPr>
            <a:r>
              <a:t>Ver cómo  →</a:t>
            </a:r>
          </a:p>
        </p:txBody>
      </p:sp>
      <p:sp>
        <p:nvSpPr>
          <p:cNvPr id="19" name="Rounded Rectangle 18"/>
          <p:cNvSpPr/>
          <p:nvPr/>
        </p:nvSpPr>
        <p:spPr>
          <a:xfrm>
            <a:off x="8129016" y="3273552"/>
            <a:ext cx="3493008" cy="219456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339328" y="3493008"/>
            <a:ext cx="3063240" cy="713232"/>
          </a:xfrm>
          <a:prstGeom prst="rect">
            <a:avLst/>
          </a:prstGeom>
          <a:noFill/>
          <a:effectLst/>
        </p:spPr>
        <p:txBody>
          <a:bodyPr wrap="square" lIns="0" rIns="0" tIns="0" bIns="0" anchor="t">
            <a:spAutoFit/>
          </a:bodyPr>
          <a:lstStyle/>
          <a:p>
            <a:pPr>
              <a:lnSpc>
                <a:spcPct val="112000"/>
              </a:lnSpc>
              <a:spcAft>
                <a:spcPts val="500"/>
              </a:spcAft>
              <a:defRPr sz="2100" b="1">
                <a:solidFill>
                  <a:srgbClr val="2957A4"/>
                </a:solidFill>
                <a:latin typeface="Arial"/>
              </a:defRPr>
            </a:pPr>
            <a:r>
              <a:t>Hay nombres repetidos</a:t>
            </a:r>
          </a:p>
        </p:txBody>
      </p:sp>
      <p:sp>
        <p:nvSpPr>
          <p:cNvPr id="21" name="TextBox 20"/>
          <p:cNvSpPr txBox="1"/>
          <p:nvPr/>
        </p:nvSpPr>
        <p:spPr>
          <a:xfrm>
            <a:off x="8339328" y="4325112"/>
            <a:ext cx="3063240" cy="969264"/>
          </a:xfrm>
          <a:prstGeom prst="rect">
            <a:avLst/>
          </a:prstGeom>
          <a:noFill/>
          <a:effectLst/>
        </p:spPr>
        <p:txBody>
          <a:bodyPr wrap="square" lIns="0" rIns="0" tIns="0" bIns="0" anchor="t">
            <a:spAutoFit/>
          </a:bodyPr>
          <a:lstStyle/>
          <a:p>
            <a:pPr>
              <a:lnSpc>
                <a:spcPct val="112000"/>
              </a:lnSpc>
              <a:spcAft>
                <a:spcPts val="500"/>
              </a:spcAft>
              <a:defRPr sz="1500" b="0">
                <a:solidFill>
                  <a:srgbClr val="1D3555"/>
                </a:solidFill>
                <a:latin typeface="Arial"/>
              </a:defRPr>
            </a:pPr>
            <a:r>
              <a:t>Selecciona manualmente la ficha correcta desde Directorio.</a:t>
            </a:r>
          </a:p>
        </p:txBody>
      </p:sp>
      <p:sp>
        <p:nvSpPr>
          <p:cNvPr id="22" name="Rounded Rectangle 21">
            <a:hlinkClick action="ppaction://hlinksldjump" r:id="rId5" tooltip="Ver cómo  →"/>
          </p:cNvPr>
          <p:cNvSpPr/>
          <p:nvPr/>
        </p:nvSpPr>
        <p:spPr>
          <a:xfrm>
            <a:off x="8339328" y="5650992"/>
            <a:ext cx="3063240" cy="438912"/>
          </a:xfrm>
          <a:prstGeom prst="roundRect">
            <a:avLst>
              <a:gd name="adj" fmla="val 8000"/>
            </a:avLst>
          </a:prstGeom>
          <a:solidFill>
            <a:srgbClr val="FFFFFF"/>
          </a:solidFill>
          <a:ln w="10160">
            <a:solidFill>
              <a:srgbClr val="D8E3F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a:hlinkClick action="ppaction://hlinksldjump" r:id="rId5" tooltip="Ver cómo  →"/>
          </p:cNvPr>
          <p:cNvSpPr txBox="1"/>
          <p:nvPr/>
        </p:nvSpPr>
        <p:spPr>
          <a:xfrm>
            <a:off x="8430768" y="5664707"/>
            <a:ext cx="2880360" cy="411479"/>
          </a:xfrm>
          <a:prstGeom prst="rect">
            <a:avLst/>
          </a:prstGeom>
          <a:noFill/>
          <a:effectLst/>
        </p:spPr>
        <p:txBody>
          <a:bodyPr wrap="square" lIns="0" rIns="0" tIns="0" bIns="0" anchor="ctr">
            <a:spAutoFit/>
          </a:bodyPr>
          <a:lstStyle/>
          <a:p>
            <a:pPr algn="ctr">
              <a:lnSpc>
                <a:spcPct val="112000"/>
              </a:lnSpc>
              <a:spcAft>
                <a:spcPts val="500"/>
              </a:spcAft>
              <a:defRPr sz="1300" b="1">
                <a:solidFill>
                  <a:srgbClr val="2957A4"/>
                </a:solidFill>
                <a:latin typeface="Arial"/>
              </a:defRPr>
            </a:pPr>
            <a:r>
              <a:t>Ver cómo  →</a:t>
            </a:r>
          </a:p>
        </p:txBody>
      </p:sp>
      <p:sp>
        <p:nvSpPr>
          <p:cNvPr id="24" name="Rectangle 23"/>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26" name="TextBox 25">
            <a:hlinkClick action="ppaction://hlinksldjump" r:id="rId6"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27" name="TextBox 26">
            <a:hlinkClick action="ppaction://hlinksldjump" r:id="rId5"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28" name="TextBox 27">
            <a:hlinkClick action="ppaction://hlinksldjump" r:id="rId7"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29" name="TextBox 28">
            <a:hlinkClick action="ppaction://hlinksldjump" r:id="rId8"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30" name="TextBox 29">
            <a:hlinkClick action="ppaction://hlinksldjump" r:id="rId5"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1" name="TextBox 30">
            <a:hlinkClick action="ppaction://hlinksldjump" r:id="rId9"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32" name="TextBox 31">
            <a:hlinkClick action="ppaction://hlinksldjump" r:id="rId4"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3" name="TextBox 32"/>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11 / 33</a:t>
            </a:r>
          </a:p>
        </p:txBody>
      </p:sp>
    </p:spTree>
  </p:cSld>
  <p:clrMapOvr>
    <a:masterClrMapping/>
  </p:clrMapOvr>
  <p:transition advClick="1"/>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ESPACIOS DE CONTACTO</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Crea una ficha útil para todo el equipo</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En Directorio pulsa Nuevo espacio o, desde el chat, Crear espacio para este chat.</a:t>
            </a:r>
          </a:p>
        </p:txBody>
      </p:sp>
      <p:sp>
        <p:nvSpPr>
          <p:cNvPr id="7" name="Rounded Rectangle 6"/>
          <p:cNvSpPr/>
          <p:nvPr/>
        </p:nvSpPr>
        <p:spPr>
          <a:xfrm>
            <a:off x="594360" y="2221992"/>
            <a:ext cx="5312664" cy="271576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13816" y="2441448"/>
            <a:ext cx="4846320" cy="411480"/>
          </a:xfrm>
          <a:prstGeom prst="rect">
            <a:avLst/>
          </a:prstGeom>
          <a:noFill/>
          <a:effectLst/>
        </p:spPr>
        <p:txBody>
          <a:bodyPr wrap="square" lIns="0" rIns="0" tIns="0" bIns="0" anchor="t">
            <a:spAutoFit/>
          </a:bodyPr>
          <a:lstStyle/>
          <a:p>
            <a:pPr>
              <a:lnSpc>
                <a:spcPct val="112000"/>
              </a:lnSpc>
              <a:spcAft>
                <a:spcPts val="500"/>
              </a:spcAft>
              <a:defRPr sz="2300" b="1">
                <a:solidFill>
                  <a:srgbClr val="2957A4"/>
                </a:solidFill>
                <a:latin typeface="Arial"/>
              </a:defRPr>
            </a:pPr>
            <a:r>
              <a:t>Identidad del contacto</a:t>
            </a:r>
          </a:p>
        </p:txBody>
      </p:sp>
      <p:sp>
        <p:nvSpPr>
          <p:cNvPr id="9" name="TextBox 8"/>
          <p:cNvSpPr txBox="1"/>
          <p:nvPr/>
        </p:nvSpPr>
        <p:spPr>
          <a:xfrm>
            <a:off x="822960" y="3072384"/>
            <a:ext cx="4800600" cy="365760"/>
          </a:xfrm>
          <a:prstGeom prst="rect">
            <a:avLst/>
          </a:prstGeom>
          <a:noFill/>
          <a:effectLst/>
        </p:spPr>
        <p:txBody>
          <a:bodyPr wrap="square" lIns="0" rIns="0" tIns="0" bIns="0" anchor="t">
            <a:spAutoFit/>
          </a:bodyPr>
          <a:lstStyle/>
          <a:p>
            <a:pPr>
              <a:lnSpc>
                <a:spcPct val="112000"/>
              </a:lnSpc>
              <a:spcAft>
                <a:spcPts val="500"/>
              </a:spcAft>
              <a:defRPr sz="1600" b="0">
                <a:solidFill>
                  <a:srgbClr val="1D3555"/>
                </a:solidFill>
                <a:latin typeface="Arial"/>
              </a:defRPr>
            </a:pPr>
            <a:r>
              <a:t>• Nombre y cargo</a:t>
            </a:r>
          </a:p>
        </p:txBody>
      </p:sp>
      <p:sp>
        <p:nvSpPr>
          <p:cNvPr id="10" name="TextBox 9"/>
          <p:cNvSpPr txBox="1"/>
          <p:nvPr/>
        </p:nvSpPr>
        <p:spPr>
          <a:xfrm>
            <a:off x="822960" y="3465576"/>
            <a:ext cx="4800600" cy="365760"/>
          </a:xfrm>
          <a:prstGeom prst="rect">
            <a:avLst/>
          </a:prstGeom>
          <a:noFill/>
          <a:effectLst/>
        </p:spPr>
        <p:txBody>
          <a:bodyPr wrap="square" lIns="0" rIns="0" tIns="0" bIns="0" anchor="t">
            <a:spAutoFit/>
          </a:bodyPr>
          <a:lstStyle/>
          <a:p>
            <a:pPr>
              <a:lnSpc>
                <a:spcPct val="112000"/>
              </a:lnSpc>
              <a:spcAft>
                <a:spcPts val="500"/>
              </a:spcAft>
              <a:defRPr sz="1600" b="0">
                <a:solidFill>
                  <a:srgbClr val="1D3555"/>
                </a:solidFill>
                <a:latin typeface="Arial"/>
              </a:defRPr>
            </a:pPr>
            <a:r>
              <a:t>• Teléfono internacional o ID del grupo</a:t>
            </a:r>
          </a:p>
        </p:txBody>
      </p:sp>
      <p:sp>
        <p:nvSpPr>
          <p:cNvPr id="11" name="TextBox 10"/>
          <p:cNvSpPr txBox="1"/>
          <p:nvPr/>
        </p:nvSpPr>
        <p:spPr>
          <a:xfrm>
            <a:off x="822960" y="3858768"/>
            <a:ext cx="4800600" cy="365760"/>
          </a:xfrm>
          <a:prstGeom prst="rect">
            <a:avLst/>
          </a:prstGeom>
          <a:noFill/>
          <a:effectLst/>
        </p:spPr>
        <p:txBody>
          <a:bodyPr wrap="square" lIns="0" rIns="0" tIns="0" bIns="0" anchor="t">
            <a:spAutoFit/>
          </a:bodyPr>
          <a:lstStyle/>
          <a:p>
            <a:pPr>
              <a:lnSpc>
                <a:spcPct val="112000"/>
              </a:lnSpc>
              <a:spcAft>
                <a:spcPts val="500"/>
              </a:spcAft>
              <a:defRPr sz="1600" b="0">
                <a:solidFill>
                  <a:srgbClr val="1D3555"/>
                </a:solidFill>
                <a:latin typeface="Arial"/>
              </a:defRPr>
            </a:pPr>
            <a:r>
              <a:t>• Órgano / Unidad, oficina y entidad</a:t>
            </a:r>
          </a:p>
        </p:txBody>
      </p:sp>
      <p:sp>
        <p:nvSpPr>
          <p:cNvPr id="12" name="TextBox 11"/>
          <p:cNvSpPr txBox="1"/>
          <p:nvPr/>
        </p:nvSpPr>
        <p:spPr>
          <a:xfrm>
            <a:off x="822960" y="4251960"/>
            <a:ext cx="4800600" cy="365760"/>
          </a:xfrm>
          <a:prstGeom prst="rect">
            <a:avLst/>
          </a:prstGeom>
          <a:noFill/>
          <a:effectLst/>
        </p:spPr>
        <p:txBody>
          <a:bodyPr wrap="square" lIns="0" rIns="0" tIns="0" bIns="0" anchor="t">
            <a:spAutoFit/>
          </a:bodyPr>
          <a:lstStyle/>
          <a:p>
            <a:pPr>
              <a:lnSpc>
                <a:spcPct val="112000"/>
              </a:lnSpc>
              <a:spcAft>
                <a:spcPts val="500"/>
              </a:spcAft>
              <a:defRPr sz="1600" b="0">
                <a:solidFill>
                  <a:srgbClr val="1D3555"/>
                </a:solidFill>
                <a:latin typeface="Arial"/>
              </a:defRPr>
            </a:pPr>
            <a:r>
              <a:t>• Correo, anexo y ubicación</a:t>
            </a:r>
          </a:p>
        </p:txBody>
      </p:sp>
      <p:sp>
        <p:nvSpPr>
          <p:cNvPr id="13" name="Rounded Rectangle 12"/>
          <p:cNvSpPr/>
          <p:nvPr/>
        </p:nvSpPr>
        <p:spPr>
          <a:xfrm>
            <a:off x="6263640" y="2221992"/>
            <a:ext cx="5312664" cy="271576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483096" y="2441448"/>
            <a:ext cx="4846320" cy="411480"/>
          </a:xfrm>
          <a:prstGeom prst="rect">
            <a:avLst/>
          </a:prstGeom>
          <a:noFill/>
          <a:effectLst/>
        </p:spPr>
        <p:txBody>
          <a:bodyPr wrap="square" lIns="0" rIns="0" tIns="0" bIns="0" anchor="t">
            <a:spAutoFit/>
          </a:bodyPr>
          <a:lstStyle/>
          <a:p>
            <a:pPr>
              <a:lnSpc>
                <a:spcPct val="112000"/>
              </a:lnSpc>
              <a:spcAft>
                <a:spcPts val="500"/>
              </a:spcAft>
              <a:defRPr sz="2300" b="1">
                <a:solidFill>
                  <a:srgbClr val="2957A4"/>
                </a:solidFill>
                <a:latin typeface="Arial"/>
              </a:defRPr>
            </a:pPr>
            <a:r>
              <a:t>Seguimiento de la gestión</a:t>
            </a:r>
          </a:p>
        </p:txBody>
      </p:sp>
      <p:sp>
        <p:nvSpPr>
          <p:cNvPr id="15" name="TextBox 14"/>
          <p:cNvSpPr txBox="1"/>
          <p:nvPr/>
        </p:nvSpPr>
        <p:spPr>
          <a:xfrm>
            <a:off x="6492240" y="3072384"/>
            <a:ext cx="4800600" cy="365760"/>
          </a:xfrm>
          <a:prstGeom prst="rect">
            <a:avLst/>
          </a:prstGeom>
          <a:noFill/>
          <a:effectLst/>
        </p:spPr>
        <p:txBody>
          <a:bodyPr wrap="square" lIns="0" rIns="0" tIns="0" bIns="0" anchor="t">
            <a:spAutoFit/>
          </a:bodyPr>
          <a:lstStyle/>
          <a:p>
            <a:pPr>
              <a:lnSpc>
                <a:spcPct val="112000"/>
              </a:lnSpc>
              <a:spcAft>
                <a:spcPts val="500"/>
              </a:spcAft>
              <a:defRPr sz="1600" b="0">
                <a:solidFill>
                  <a:srgbClr val="1D3555"/>
                </a:solidFill>
                <a:latin typeface="Arial"/>
              </a:defRPr>
            </a:pPr>
            <a:r>
              <a:t>• Estado y responsables del equipo</a:t>
            </a:r>
          </a:p>
        </p:txBody>
      </p:sp>
      <p:sp>
        <p:nvSpPr>
          <p:cNvPr id="16" name="TextBox 15"/>
          <p:cNvSpPr txBox="1"/>
          <p:nvPr/>
        </p:nvSpPr>
        <p:spPr>
          <a:xfrm>
            <a:off x="6492240" y="3465576"/>
            <a:ext cx="4800600" cy="365760"/>
          </a:xfrm>
          <a:prstGeom prst="rect">
            <a:avLst/>
          </a:prstGeom>
          <a:noFill/>
          <a:effectLst/>
        </p:spPr>
        <p:txBody>
          <a:bodyPr wrap="square" lIns="0" rIns="0" tIns="0" bIns="0" anchor="t">
            <a:spAutoFit/>
          </a:bodyPr>
          <a:lstStyle/>
          <a:p>
            <a:pPr>
              <a:lnSpc>
                <a:spcPct val="112000"/>
              </a:lnSpc>
              <a:spcAft>
                <a:spcPts val="500"/>
              </a:spcAft>
              <a:defRPr sz="1600" b="0">
                <a:solidFill>
                  <a:srgbClr val="1D3555"/>
                </a:solidFill>
                <a:latin typeface="Arial"/>
              </a:defRPr>
            </a:pPr>
            <a:r>
              <a:t>• Código CUT y documento de referencia</a:t>
            </a:r>
          </a:p>
        </p:txBody>
      </p:sp>
      <p:sp>
        <p:nvSpPr>
          <p:cNvPr id="17" name="TextBox 16"/>
          <p:cNvSpPr txBox="1"/>
          <p:nvPr/>
        </p:nvSpPr>
        <p:spPr>
          <a:xfrm>
            <a:off x="6492240" y="3858768"/>
            <a:ext cx="4800600" cy="365760"/>
          </a:xfrm>
          <a:prstGeom prst="rect">
            <a:avLst/>
          </a:prstGeom>
          <a:noFill/>
          <a:effectLst/>
        </p:spPr>
        <p:txBody>
          <a:bodyPr wrap="square" lIns="0" rIns="0" tIns="0" bIns="0" anchor="t">
            <a:spAutoFit/>
          </a:bodyPr>
          <a:lstStyle/>
          <a:p>
            <a:pPr>
              <a:lnSpc>
                <a:spcPct val="112000"/>
              </a:lnSpc>
              <a:spcAft>
                <a:spcPts val="500"/>
              </a:spcAft>
              <a:defRPr sz="1600" b="0">
                <a:solidFill>
                  <a:srgbClr val="1D3555"/>
                </a:solidFill>
                <a:latin typeface="Arial"/>
              </a:defRPr>
            </a:pPr>
            <a:r>
              <a:t>• Sede Central y Prensa ya están disponibles</a:t>
            </a:r>
          </a:p>
        </p:txBody>
      </p:sp>
      <p:sp>
        <p:nvSpPr>
          <p:cNvPr id="18" name="TextBox 17"/>
          <p:cNvSpPr txBox="1"/>
          <p:nvPr/>
        </p:nvSpPr>
        <p:spPr>
          <a:xfrm>
            <a:off x="6492240" y="4251960"/>
            <a:ext cx="4800600" cy="365760"/>
          </a:xfrm>
          <a:prstGeom prst="rect">
            <a:avLst/>
          </a:prstGeom>
          <a:noFill/>
          <a:effectLst/>
        </p:spPr>
        <p:txBody>
          <a:bodyPr wrap="square" lIns="0" rIns="0" tIns="0" bIns="0" anchor="t">
            <a:spAutoFit/>
          </a:bodyPr>
          <a:lstStyle/>
          <a:p>
            <a:pPr>
              <a:lnSpc>
                <a:spcPct val="112000"/>
              </a:lnSpc>
              <a:spcAft>
                <a:spcPts val="500"/>
              </a:spcAft>
              <a:defRPr sz="1600" b="0">
                <a:solidFill>
                  <a:srgbClr val="1D3555"/>
                </a:solidFill>
                <a:latin typeface="Arial"/>
              </a:defRPr>
            </a:pPr>
            <a:r>
              <a:t>• Añadir órgano/unidad → Guardar unidad</a:t>
            </a:r>
          </a:p>
        </p:txBody>
      </p:sp>
      <p:sp>
        <p:nvSpPr>
          <p:cNvPr id="19" name="TextBox 18"/>
          <p:cNvSpPr txBox="1"/>
          <p:nvPr/>
        </p:nvSpPr>
        <p:spPr>
          <a:xfrm>
            <a:off x="658368" y="5266944"/>
            <a:ext cx="10881360" cy="338328"/>
          </a:xfrm>
          <a:prstGeom prst="rect">
            <a:avLst/>
          </a:prstGeom>
          <a:noFill/>
          <a:effectLst/>
        </p:spPr>
        <p:txBody>
          <a:bodyPr wrap="square" lIns="0" rIns="0" tIns="0" bIns="0" anchor="t">
            <a:spAutoFit/>
          </a:bodyPr>
          <a:lstStyle/>
          <a:p>
            <a:pPr>
              <a:lnSpc>
                <a:spcPct val="112000"/>
              </a:lnSpc>
              <a:spcAft>
                <a:spcPts val="500"/>
              </a:spcAft>
              <a:defRPr sz="1800" b="1">
                <a:solidFill>
                  <a:srgbClr val="1D3555"/>
                </a:solidFill>
                <a:latin typeface="Arial"/>
              </a:defRPr>
            </a:pPr>
            <a:r>
              <a:t>Guarda la ficha y elige una herramienta:</a:t>
            </a:r>
          </a:p>
        </p:txBody>
      </p:sp>
      <p:sp>
        <p:nvSpPr>
          <p:cNvPr id="20" name="Rounded Rectangle 19">
            <a:hlinkClick action="ppaction://hlinksldjump" r:id="rId4" tooltip="Bitácora"/>
          </p:cNvPr>
          <p:cNvSpPr/>
          <p:nvPr/>
        </p:nvSpPr>
        <p:spPr>
          <a:xfrm>
            <a:off x="658368" y="5760720"/>
            <a:ext cx="2633472" cy="43891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a:hlinkClick action="ppaction://hlinksldjump" r:id="rId4" tooltip="Bitácora"/>
          </p:cNvPr>
          <p:cNvSpPr txBox="1"/>
          <p:nvPr/>
        </p:nvSpPr>
        <p:spPr>
          <a:xfrm>
            <a:off x="749808" y="5774436"/>
            <a:ext cx="2450591" cy="411479"/>
          </a:xfrm>
          <a:prstGeom prst="rect">
            <a:avLst/>
          </a:prstGeom>
          <a:noFill/>
          <a:effectLst/>
        </p:spPr>
        <p:txBody>
          <a:bodyPr wrap="square" lIns="0" rIns="0" tIns="0" bIns="0" anchor="ctr">
            <a:spAutoFit/>
          </a:bodyPr>
          <a:lstStyle/>
          <a:p>
            <a:pPr algn="ctr">
              <a:lnSpc>
                <a:spcPct val="112000"/>
              </a:lnSpc>
              <a:spcAft>
                <a:spcPts val="500"/>
              </a:spcAft>
              <a:defRPr sz="1300" b="1">
                <a:solidFill>
                  <a:srgbClr val="FFFFFF"/>
                </a:solidFill>
                <a:latin typeface="Arial"/>
              </a:defRPr>
            </a:pPr>
            <a:r>
              <a:t>Bitácora</a:t>
            </a:r>
          </a:p>
        </p:txBody>
      </p:sp>
      <p:sp>
        <p:nvSpPr>
          <p:cNvPr id="22" name="Rounded Rectangle 21">
            <a:hlinkClick action="ppaction://hlinksldjump" r:id="rId5" tooltip="Tareas"/>
          </p:cNvPr>
          <p:cNvSpPr/>
          <p:nvPr/>
        </p:nvSpPr>
        <p:spPr>
          <a:xfrm>
            <a:off x="3538728" y="5760720"/>
            <a:ext cx="2633472" cy="43891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a:hlinkClick action="ppaction://hlinksldjump" r:id="rId5" tooltip="Tareas"/>
          </p:cNvPr>
          <p:cNvSpPr txBox="1"/>
          <p:nvPr/>
        </p:nvSpPr>
        <p:spPr>
          <a:xfrm>
            <a:off x="3630168" y="5774436"/>
            <a:ext cx="2450591" cy="411479"/>
          </a:xfrm>
          <a:prstGeom prst="rect">
            <a:avLst/>
          </a:prstGeom>
          <a:noFill/>
          <a:effectLst/>
        </p:spPr>
        <p:txBody>
          <a:bodyPr wrap="square" lIns="0" rIns="0" tIns="0" bIns="0" anchor="ctr">
            <a:spAutoFit/>
          </a:bodyPr>
          <a:lstStyle/>
          <a:p>
            <a:pPr algn="ctr">
              <a:lnSpc>
                <a:spcPct val="112000"/>
              </a:lnSpc>
              <a:spcAft>
                <a:spcPts val="500"/>
              </a:spcAft>
              <a:defRPr sz="1300" b="1">
                <a:solidFill>
                  <a:srgbClr val="FFFFFF"/>
                </a:solidFill>
                <a:latin typeface="Arial"/>
              </a:defRPr>
            </a:pPr>
            <a:r>
              <a:t>Tareas</a:t>
            </a:r>
          </a:p>
        </p:txBody>
      </p:sp>
      <p:sp>
        <p:nvSpPr>
          <p:cNvPr id="24" name="Rounded Rectangle 23">
            <a:hlinkClick action="ppaction://hlinksldjump" r:id="rId6" tooltip="Reuniones"/>
          </p:cNvPr>
          <p:cNvSpPr/>
          <p:nvPr/>
        </p:nvSpPr>
        <p:spPr>
          <a:xfrm>
            <a:off x="6419088" y="5760720"/>
            <a:ext cx="2633472" cy="43891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a:hlinkClick action="ppaction://hlinksldjump" r:id="rId6" tooltip="Reuniones"/>
          </p:cNvPr>
          <p:cNvSpPr txBox="1"/>
          <p:nvPr/>
        </p:nvSpPr>
        <p:spPr>
          <a:xfrm>
            <a:off x="6510527" y="5774436"/>
            <a:ext cx="2450591" cy="411479"/>
          </a:xfrm>
          <a:prstGeom prst="rect">
            <a:avLst/>
          </a:prstGeom>
          <a:noFill/>
          <a:effectLst/>
        </p:spPr>
        <p:txBody>
          <a:bodyPr wrap="square" lIns="0" rIns="0" tIns="0" bIns="0" anchor="ctr">
            <a:spAutoFit/>
          </a:bodyPr>
          <a:lstStyle/>
          <a:p>
            <a:pPr algn="ctr">
              <a:lnSpc>
                <a:spcPct val="112000"/>
              </a:lnSpc>
              <a:spcAft>
                <a:spcPts val="500"/>
              </a:spcAft>
              <a:defRPr sz="1300" b="1">
                <a:solidFill>
                  <a:srgbClr val="FFFFFF"/>
                </a:solidFill>
                <a:latin typeface="Arial"/>
              </a:defRPr>
            </a:pPr>
            <a:r>
              <a:t>Reuniones</a:t>
            </a:r>
          </a:p>
        </p:txBody>
      </p:sp>
      <p:sp>
        <p:nvSpPr>
          <p:cNvPr id="26" name="Rounded Rectangle 25">
            <a:hlinkClick action="ppaction://hlinksldjump" r:id="rId7" tooltip="Formatos /"/>
          </p:cNvPr>
          <p:cNvSpPr/>
          <p:nvPr/>
        </p:nvSpPr>
        <p:spPr>
          <a:xfrm>
            <a:off x="9299448" y="5760720"/>
            <a:ext cx="2633472" cy="43891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a:hlinkClick action="ppaction://hlinksldjump" r:id="rId7" tooltip="Formatos /"/>
          </p:cNvPr>
          <p:cNvSpPr txBox="1"/>
          <p:nvPr/>
        </p:nvSpPr>
        <p:spPr>
          <a:xfrm>
            <a:off x="9390888" y="5774436"/>
            <a:ext cx="2450591" cy="411479"/>
          </a:xfrm>
          <a:prstGeom prst="rect">
            <a:avLst/>
          </a:prstGeom>
          <a:noFill/>
          <a:effectLst/>
        </p:spPr>
        <p:txBody>
          <a:bodyPr wrap="square" lIns="0" rIns="0" tIns="0" bIns="0" anchor="ctr">
            <a:spAutoFit/>
          </a:bodyPr>
          <a:lstStyle/>
          <a:p>
            <a:pPr algn="ctr">
              <a:lnSpc>
                <a:spcPct val="112000"/>
              </a:lnSpc>
              <a:spcAft>
                <a:spcPts val="500"/>
              </a:spcAft>
              <a:defRPr sz="1300" b="1">
                <a:solidFill>
                  <a:srgbClr val="FFFFFF"/>
                </a:solidFill>
                <a:latin typeface="Arial"/>
              </a:defRPr>
            </a:pPr>
            <a:r>
              <a:t>Formatos /</a:t>
            </a:r>
          </a:p>
        </p:txBody>
      </p:sp>
      <p:sp>
        <p:nvSpPr>
          <p:cNvPr id="28" name="Rectangle 27"/>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30" name="TextBox 29">
            <a:hlinkClick action="ppaction://hlinksldjump" r:id="rId8"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31" name="TextBox 30">
            <a:hlinkClick action="ppaction://hlinksldjump" r:id="rId9"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32" name="TextBox 31">
            <a:hlinkClick action="ppaction://hlinksldjump" r:id="rId10"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33" name="TextBox 32">
            <a:hlinkClick action="ppaction://hlinksldjump" r:id="rId11"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34" name="TextBox 33">
            <a:hlinkClick action="ppaction://hlinksldjump" r:id="rId12"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5" name="TextBox 34">
            <a:hlinkClick action="ppaction://hlinksldjump" r:id="rId13"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36" name="TextBox 35">
            <a:hlinkClick action="ppaction://hlinksldjump" r:id="rId4"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7" name="TextBox 36"/>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12 / 33</a:t>
            </a:r>
          </a:p>
        </p:txBody>
      </p:sp>
    </p:spTree>
  </p:cSld>
  <p:clrMapOvr>
    <a:masterClrMapping/>
  </p:clrMapOvr>
  <p:transition advClick="1"/>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HERRAMIENTAS DEL CONTACTO</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Bitácora: deja la coordinación por escrito</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Registra hechos, próximos pasos y contexto que otro integrante necesitará retomar.</a:t>
            </a:r>
          </a:p>
        </p:txBody>
      </p:sp>
      <p:sp>
        <p:nvSpPr>
          <p:cNvPr id="7" name="Rounded Rectangle 6"/>
          <p:cNvSpPr/>
          <p:nvPr/>
        </p:nvSpPr>
        <p:spPr>
          <a:xfrm>
            <a:off x="603503" y="1975104"/>
            <a:ext cx="3895344" cy="4233672"/>
          </a:xfrm>
          <a:prstGeom prst="roundRect">
            <a:avLst>
              <a:gd name="adj" fmla="val 8000"/>
            </a:avLst>
          </a:prstGeom>
          <a:solidFill>
            <a:srgbClr val="FFFFFF"/>
          </a:solidFill>
          <a:ln w="10160">
            <a:solidFill>
              <a:srgbClr val="D8E3F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8" name="Picture 7" descr="Captura real del CRM con datos de demostración: 03-bitacora"/>
          <p:cNvPicPr>
            <a:picLocks noChangeAspect="1"/>
          </p:cNvPicPr>
          <p:nvPr/>
        </p:nvPicPr>
        <p:blipFill>
          <a:blip r:embed="rId3"/>
          <a:stretch>
            <a:fillRect/>
          </a:stretch>
        </p:blipFill>
        <p:spPr>
          <a:xfrm>
            <a:off x="1185168" y="2011680"/>
            <a:ext cx="2732015" cy="4160520"/>
          </a:xfrm>
          <a:prstGeom prst="rect">
            <a:avLst/>
          </a:prstGeom>
          <a:effectLst/>
        </p:spPr>
      </p:pic>
      <p:sp>
        <p:nvSpPr>
          <p:cNvPr id="9" name="Rounded Rectangle 8"/>
          <p:cNvSpPr/>
          <p:nvPr/>
        </p:nvSpPr>
        <p:spPr>
          <a:xfrm>
            <a:off x="4937760" y="2203703"/>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974336" y="2235708"/>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1</a:t>
            </a:r>
          </a:p>
        </p:txBody>
      </p:sp>
      <p:sp>
        <p:nvSpPr>
          <p:cNvPr id="11" name="TextBox 10"/>
          <p:cNvSpPr txBox="1"/>
          <p:nvPr/>
        </p:nvSpPr>
        <p:spPr>
          <a:xfrm>
            <a:off x="5532120" y="2176272"/>
            <a:ext cx="5733288"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Abre Bitácora</a:t>
            </a:r>
          </a:p>
        </p:txBody>
      </p:sp>
      <p:sp>
        <p:nvSpPr>
          <p:cNvPr id="12" name="TextBox 11"/>
          <p:cNvSpPr txBox="1"/>
          <p:nvPr/>
        </p:nvSpPr>
        <p:spPr>
          <a:xfrm>
            <a:off x="5532120" y="2606039"/>
            <a:ext cx="5733288"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Dentro de la ficha del contacto, escribe una actualización concreta.</a:t>
            </a:r>
          </a:p>
        </p:txBody>
      </p:sp>
      <p:sp>
        <p:nvSpPr>
          <p:cNvPr id="13" name="Rounded Rectangle 12"/>
          <p:cNvSpPr/>
          <p:nvPr/>
        </p:nvSpPr>
        <p:spPr>
          <a:xfrm>
            <a:off x="4937760" y="3410712"/>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974336" y="3442716"/>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2</a:t>
            </a:r>
          </a:p>
        </p:txBody>
      </p:sp>
      <p:sp>
        <p:nvSpPr>
          <p:cNvPr id="15" name="TextBox 14"/>
          <p:cNvSpPr txBox="1"/>
          <p:nvPr/>
        </p:nvSpPr>
        <p:spPr>
          <a:xfrm>
            <a:off x="5532120" y="3383280"/>
            <a:ext cx="5733288"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Pulsa Registrar nota</a:t>
            </a:r>
          </a:p>
        </p:txBody>
      </p:sp>
      <p:sp>
        <p:nvSpPr>
          <p:cNvPr id="16" name="TextBox 15"/>
          <p:cNvSpPr txBox="1"/>
          <p:nvPr/>
        </p:nvSpPr>
        <p:spPr>
          <a:xfrm>
            <a:off x="5532120" y="3813048"/>
            <a:ext cx="5733288"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El CRM agrega automáticamente autor, fecha y hora de Perú.</a:t>
            </a:r>
          </a:p>
        </p:txBody>
      </p:sp>
      <p:sp>
        <p:nvSpPr>
          <p:cNvPr id="17" name="Rounded Rectangle 16"/>
          <p:cNvSpPr/>
          <p:nvPr/>
        </p:nvSpPr>
        <p:spPr>
          <a:xfrm>
            <a:off x="4937760" y="4617720"/>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974336" y="4649724"/>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3</a:t>
            </a:r>
          </a:p>
        </p:txBody>
      </p:sp>
      <p:sp>
        <p:nvSpPr>
          <p:cNvPr id="19" name="TextBox 18"/>
          <p:cNvSpPr txBox="1"/>
          <p:nvPr/>
        </p:nvSpPr>
        <p:spPr>
          <a:xfrm>
            <a:off x="5532120" y="4590288"/>
            <a:ext cx="5733288"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Elimina solo si corresponde</a:t>
            </a:r>
          </a:p>
        </p:txBody>
      </p:sp>
      <p:sp>
        <p:nvSpPr>
          <p:cNvPr id="20" name="TextBox 19"/>
          <p:cNvSpPr txBox="1"/>
          <p:nvPr/>
        </p:nvSpPr>
        <p:spPr>
          <a:xfrm>
            <a:off x="5532120" y="5020055"/>
            <a:ext cx="5733288"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Pulsa Eliminar nota y confirma. Se borra ese registro para todo el equipo.</a:t>
            </a:r>
          </a:p>
        </p:txBody>
      </p:sp>
      <p:sp>
        <p:nvSpPr>
          <p:cNvPr id="21" name="Rectangle 20"/>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23" name="TextBox 22">
            <a:hlinkClick action="ppaction://hlinksldjump" r:id="rId5"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24" name="TextBox 23">
            <a:hlinkClick action="ppaction://hlinksldjump" r:id="rId6"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25" name="TextBox 24">
            <a:hlinkClick action="ppaction://hlinksldjump" r:id="rId7"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26" name="TextBox 25">
            <a:hlinkClick action="ppaction://hlinksldjump" r:id="rId8"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27" name="TextBox 26">
            <a:hlinkClick action="ppaction://hlinksldjump" r:id="rId9"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28" name="TextBox 27">
            <a:hlinkClick action="ppaction://hlinksldjump" r:id="rId10"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29" name="TextBox 28">
            <a:hlinkClick action="ppaction://hlinksldjump" r:id="rId11"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0" name="TextBox 29"/>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13 / 33</a:t>
            </a:r>
          </a:p>
        </p:txBody>
      </p:sp>
    </p:spTree>
  </p:cSld>
  <p:clrMapOvr>
    <a:masterClrMapping/>
  </p:clrMapOvr>
  <p:transition advClick="1"/>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USO DIARIO</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Una sección de Tareas, dos vistas</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Lista y Tablero Kanban muestran los mismos registros. Cada tarea conserva el contacto y su CUT.</a:t>
            </a:r>
          </a:p>
        </p:txBody>
      </p:sp>
      <p:sp>
        <p:nvSpPr>
          <p:cNvPr id="7" name="Rounded Rectangle 6"/>
          <p:cNvSpPr/>
          <p:nvPr/>
        </p:nvSpPr>
        <p:spPr>
          <a:xfrm>
            <a:off x="493775" y="2020824"/>
            <a:ext cx="7434072" cy="3895344"/>
          </a:xfrm>
          <a:prstGeom prst="roundRect">
            <a:avLst>
              <a:gd name="adj" fmla="val 8000"/>
            </a:avLst>
          </a:prstGeom>
          <a:solidFill>
            <a:srgbClr val="FFFFFF"/>
          </a:solidFill>
          <a:ln w="10160">
            <a:solidFill>
              <a:srgbClr val="D8E3F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8" name="Picture 7" descr="Captura real del CRM con datos de demostración: 07-tareas"/>
          <p:cNvPicPr>
            <a:picLocks noChangeAspect="1"/>
          </p:cNvPicPr>
          <p:nvPr/>
        </p:nvPicPr>
        <p:blipFill>
          <a:blip r:embed="rId3"/>
          <a:stretch>
            <a:fillRect/>
          </a:stretch>
        </p:blipFill>
        <p:spPr>
          <a:xfrm>
            <a:off x="1153058" y="2057400"/>
            <a:ext cx="6115507" cy="3822191"/>
          </a:xfrm>
          <a:prstGeom prst="rect">
            <a:avLst/>
          </a:prstGeom>
          <a:effectLst/>
        </p:spPr>
      </p:pic>
      <p:sp>
        <p:nvSpPr>
          <p:cNvPr id="9" name="Rounded Rectangle 8"/>
          <p:cNvSpPr/>
          <p:nvPr/>
        </p:nvSpPr>
        <p:spPr>
          <a:xfrm>
            <a:off x="694944" y="5989320"/>
            <a:ext cx="4023360" cy="28346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49808" y="6003036"/>
            <a:ext cx="3913632" cy="256032"/>
          </a:xfrm>
          <a:prstGeom prst="rect">
            <a:avLst/>
          </a:prstGeom>
          <a:noFill/>
          <a:effectLst/>
        </p:spPr>
        <p:txBody>
          <a:bodyPr wrap="square" lIns="0" rIns="0" tIns="0" bIns="0" anchor="ctr">
            <a:spAutoFit/>
          </a:bodyPr>
          <a:lstStyle/>
          <a:p>
            <a:pPr algn="ctr">
              <a:lnSpc>
                <a:spcPct val="112000"/>
              </a:lnSpc>
              <a:spcAft>
                <a:spcPts val="500"/>
              </a:spcAft>
              <a:defRPr sz="900" b="1">
                <a:solidFill>
                  <a:srgbClr val="2957A4"/>
                </a:solidFill>
                <a:latin typeface="Arial"/>
              </a:defRPr>
            </a:pPr>
            <a:r>
              <a:t>CAPTURA · DATOS DE DEMOSTRACIÓN</a:t>
            </a:r>
          </a:p>
        </p:txBody>
      </p:sp>
      <p:sp>
        <p:nvSpPr>
          <p:cNvPr id="11" name="Rounded Rectangle 10"/>
          <p:cNvSpPr/>
          <p:nvPr/>
        </p:nvSpPr>
        <p:spPr>
          <a:xfrm>
            <a:off x="8183879" y="2048256"/>
            <a:ext cx="3474720" cy="123444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8348471" y="2231136"/>
            <a:ext cx="347472" cy="34747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366759" y="2244852"/>
            <a:ext cx="310896" cy="292608"/>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1</a:t>
            </a:r>
          </a:p>
        </p:txBody>
      </p:sp>
      <p:sp>
        <p:nvSpPr>
          <p:cNvPr id="14" name="TextBox 13"/>
          <p:cNvSpPr txBox="1"/>
          <p:nvPr/>
        </p:nvSpPr>
        <p:spPr>
          <a:xfrm>
            <a:off x="8851392" y="2194560"/>
            <a:ext cx="2642615"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Crea una tarea</a:t>
            </a:r>
          </a:p>
        </p:txBody>
      </p:sp>
      <p:sp>
        <p:nvSpPr>
          <p:cNvPr id="15" name="TextBox 14"/>
          <p:cNvSpPr txBox="1"/>
          <p:nvPr/>
        </p:nvSpPr>
        <p:spPr>
          <a:xfrm>
            <a:off x="8851392" y="2560320"/>
            <a:ext cx="2642615" cy="685800"/>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Nueva tarea → contacto, título, responsable y vencimiento. Pega el texto de origen si lo necesitas.</a:t>
            </a:r>
          </a:p>
        </p:txBody>
      </p:sp>
      <p:sp>
        <p:nvSpPr>
          <p:cNvPr id="16" name="Rounded Rectangle 15"/>
          <p:cNvSpPr/>
          <p:nvPr/>
        </p:nvSpPr>
        <p:spPr>
          <a:xfrm>
            <a:off x="8183879" y="3328416"/>
            <a:ext cx="3474720" cy="123444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8348471" y="3511296"/>
            <a:ext cx="347472" cy="34747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366759" y="3525012"/>
            <a:ext cx="310896" cy="292608"/>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2</a:t>
            </a:r>
          </a:p>
        </p:txBody>
      </p:sp>
      <p:sp>
        <p:nvSpPr>
          <p:cNvPr id="19" name="TextBox 18"/>
          <p:cNvSpPr txBox="1"/>
          <p:nvPr/>
        </p:nvSpPr>
        <p:spPr>
          <a:xfrm>
            <a:off x="8851392" y="3474720"/>
            <a:ext cx="2642615"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Actualiza su estado</a:t>
            </a:r>
          </a:p>
        </p:txBody>
      </p:sp>
      <p:sp>
        <p:nvSpPr>
          <p:cNvPr id="20" name="TextBox 19"/>
          <p:cNvSpPr txBox="1"/>
          <p:nvPr/>
        </p:nvSpPr>
        <p:spPr>
          <a:xfrm>
            <a:off x="8851392" y="3840480"/>
            <a:ext cx="2642615" cy="685800"/>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Por hacer → En proceso → En revisión → Completado. Usa el selector de cada tarjeta.</a:t>
            </a:r>
          </a:p>
        </p:txBody>
      </p:sp>
      <p:sp>
        <p:nvSpPr>
          <p:cNvPr id="21" name="Rounded Rectangle 20"/>
          <p:cNvSpPr/>
          <p:nvPr/>
        </p:nvSpPr>
        <p:spPr>
          <a:xfrm>
            <a:off x="8183879" y="4608576"/>
            <a:ext cx="3474720" cy="123444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8348471" y="4791456"/>
            <a:ext cx="347472" cy="34747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366759" y="4805172"/>
            <a:ext cx="310896" cy="292608"/>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3</a:t>
            </a:r>
          </a:p>
        </p:txBody>
      </p:sp>
      <p:sp>
        <p:nvSpPr>
          <p:cNvPr id="24" name="TextBox 23"/>
          <p:cNvSpPr txBox="1"/>
          <p:nvPr/>
        </p:nvSpPr>
        <p:spPr>
          <a:xfrm>
            <a:off x="8851392" y="4754880"/>
            <a:ext cx="2642615"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Revisa tu carga</a:t>
            </a:r>
          </a:p>
        </p:txBody>
      </p:sp>
      <p:sp>
        <p:nvSpPr>
          <p:cNvPr id="25" name="TextBox 24"/>
          <p:cNvSpPr txBox="1"/>
          <p:nvPr/>
        </p:nvSpPr>
        <p:spPr>
          <a:xfrm>
            <a:off x="8851392" y="5120640"/>
            <a:ext cx="2642615" cy="685800"/>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Filtra por integrante o usa Mis tareas. En la ficha del contacto también está su checklist.</a:t>
            </a:r>
          </a:p>
        </p:txBody>
      </p:sp>
      <p:sp>
        <p:nvSpPr>
          <p:cNvPr id="26" name="Rectangle 25"/>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28" name="TextBox 27">
            <a:hlinkClick action="ppaction://hlinksldjump" r:id="rId5"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29" name="TextBox 28">
            <a:hlinkClick action="ppaction://hlinksldjump" r:id="rId6"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30" name="TextBox 29">
            <a:hlinkClick action="ppaction://hlinksldjump" r:id="rId7"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31" name="TextBox 30">
            <a:hlinkClick action="ppaction://hlinksldjump" r:id="rId8"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32" name="TextBox 31">
            <a:hlinkClick action="ppaction://hlinksldjump" r:id="rId9"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3" name="TextBox 32">
            <a:hlinkClick action="ppaction://hlinksldjump" r:id="rId10"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34" name="TextBox 33">
            <a:hlinkClick action="ppaction://hlinksldjump" r:id="rId11"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5" name="TextBox 34"/>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14 / 33</a:t>
            </a:r>
          </a:p>
        </p:txBody>
      </p:sp>
    </p:spTree>
  </p:cSld>
  <p:clrMapOvr>
    <a:masterClrMapping/>
  </p:clrMapOvr>
  <p:transition advClick="1"/>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USO DIARIO</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Agenda compartida: crea un evento nuevo</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Usa Agenda → Nuevo evento. Puedes vincularlo a un contacto o dejarlo como evento general.</a:t>
            </a:r>
          </a:p>
        </p:txBody>
      </p:sp>
      <p:sp>
        <p:nvSpPr>
          <p:cNvPr id="7" name="Rounded Rectangle 6"/>
          <p:cNvSpPr/>
          <p:nvPr/>
        </p:nvSpPr>
        <p:spPr>
          <a:xfrm>
            <a:off x="493775" y="2020824"/>
            <a:ext cx="7434072" cy="3895344"/>
          </a:xfrm>
          <a:prstGeom prst="roundRect">
            <a:avLst>
              <a:gd name="adj" fmla="val 8000"/>
            </a:avLst>
          </a:prstGeom>
          <a:solidFill>
            <a:srgbClr val="FFFFFF"/>
          </a:solidFill>
          <a:ln w="10160">
            <a:solidFill>
              <a:srgbClr val="D8E3F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8" name="Picture 7" descr="Captura real del CRM con datos de demostración: 08-agenda"/>
          <p:cNvPicPr>
            <a:picLocks noChangeAspect="1"/>
          </p:cNvPicPr>
          <p:nvPr/>
        </p:nvPicPr>
        <p:blipFill>
          <a:blip r:embed="rId3"/>
          <a:stretch>
            <a:fillRect/>
          </a:stretch>
        </p:blipFill>
        <p:spPr>
          <a:xfrm>
            <a:off x="1153058" y="2057400"/>
            <a:ext cx="6115507" cy="3822191"/>
          </a:xfrm>
          <a:prstGeom prst="rect">
            <a:avLst/>
          </a:prstGeom>
          <a:effectLst/>
        </p:spPr>
      </p:pic>
      <p:sp>
        <p:nvSpPr>
          <p:cNvPr id="9" name="Rounded Rectangle 8"/>
          <p:cNvSpPr/>
          <p:nvPr/>
        </p:nvSpPr>
        <p:spPr>
          <a:xfrm>
            <a:off x="694944" y="5989320"/>
            <a:ext cx="4023360" cy="28346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49808" y="6003036"/>
            <a:ext cx="3913632" cy="256032"/>
          </a:xfrm>
          <a:prstGeom prst="rect">
            <a:avLst/>
          </a:prstGeom>
          <a:noFill/>
          <a:effectLst/>
        </p:spPr>
        <p:txBody>
          <a:bodyPr wrap="square" lIns="0" rIns="0" tIns="0" bIns="0" anchor="ctr">
            <a:spAutoFit/>
          </a:bodyPr>
          <a:lstStyle/>
          <a:p>
            <a:pPr algn="ctr">
              <a:lnSpc>
                <a:spcPct val="112000"/>
              </a:lnSpc>
              <a:spcAft>
                <a:spcPts val="500"/>
              </a:spcAft>
              <a:defRPr sz="900" b="1">
                <a:solidFill>
                  <a:srgbClr val="2957A4"/>
                </a:solidFill>
                <a:latin typeface="Arial"/>
              </a:defRPr>
            </a:pPr>
            <a:r>
              <a:t>CAPTURA · DATOS DE DEMOSTRACIÓN</a:t>
            </a:r>
          </a:p>
        </p:txBody>
      </p:sp>
      <p:sp>
        <p:nvSpPr>
          <p:cNvPr id="11" name="Rounded Rectangle 10"/>
          <p:cNvSpPr/>
          <p:nvPr/>
        </p:nvSpPr>
        <p:spPr>
          <a:xfrm>
            <a:off x="8183879" y="2048256"/>
            <a:ext cx="3474720" cy="123444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8348471" y="2231136"/>
            <a:ext cx="347472" cy="34747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366759" y="2244852"/>
            <a:ext cx="310896" cy="292608"/>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1</a:t>
            </a:r>
          </a:p>
        </p:txBody>
      </p:sp>
      <p:sp>
        <p:nvSpPr>
          <p:cNvPr id="14" name="TextBox 13"/>
          <p:cNvSpPr txBox="1"/>
          <p:nvPr/>
        </p:nvSpPr>
        <p:spPr>
          <a:xfrm>
            <a:off x="8851392" y="2194560"/>
            <a:ext cx="2642615"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Define cuándo</a:t>
            </a:r>
          </a:p>
        </p:txBody>
      </p:sp>
      <p:sp>
        <p:nvSpPr>
          <p:cNvPr id="15" name="TextBox 14"/>
          <p:cNvSpPr txBox="1"/>
          <p:nvPr/>
        </p:nvSpPr>
        <p:spPr>
          <a:xfrm>
            <a:off x="8851392" y="2560320"/>
            <a:ext cx="2642615" cy="685800"/>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Título, inicio y fin en hora de Perú. El fin debe ser posterior al inicio.</a:t>
            </a:r>
          </a:p>
        </p:txBody>
      </p:sp>
      <p:sp>
        <p:nvSpPr>
          <p:cNvPr id="16" name="Rounded Rectangle 15"/>
          <p:cNvSpPr/>
          <p:nvPr/>
        </p:nvSpPr>
        <p:spPr>
          <a:xfrm>
            <a:off x="8183879" y="3328416"/>
            <a:ext cx="3474720" cy="123444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8348471" y="3511296"/>
            <a:ext cx="347472" cy="34747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366759" y="3525012"/>
            <a:ext cx="310896" cy="292608"/>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2</a:t>
            </a:r>
          </a:p>
        </p:txBody>
      </p:sp>
      <p:sp>
        <p:nvSpPr>
          <p:cNvPr id="19" name="TextBox 18"/>
          <p:cNvSpPr txBox="1"/>
          <p:nvPr/>
        </p:nvSpPr>
        <p:spPr>
          <a:xfrm>
            <a:off x="8851392" y="3474720"/>
            <a:ext cx="2642615"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Completa el contexto</a:t>
            </a:r>
          </a:p>
        </p:txBody>
      </p:sp>
      <p:sp>
        <p:nvSpPr>
          <p:cNvPr id="20" name="TextBox 19"/>
          <p:cNvSpPr txBox="1"/>
          <p:nvPr/>
        </p:nvSpPr>
        <p:spPr>
          <a:xfrm>
            <a:off x="8851392" y="3840480"/>
            <a:ext cx="2642615" cy="685800"/>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Descripción, participantes, lugar y enlace de videollamada opcional.</a:t>
            </a:r>
          </a:p>
        </p:txBody>
      </p:sp>
      <p:sp>
        <p:nvSpPr>
          <p:cNvPr id="21" name="Rounded Rectangle 20"/>
          <p:cNvSpPr/>
          <p:nvPr/>
        </p:nvSpPr>
        <p:spPr>
          <a:xfrm>
            <a:off x="8183879" y="4608576"/>
            <a:ext cx="3474720" cy="123444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8348471" y="4791456"/>
            <a:ext cx="347472" cy="34747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366759" y="4805172"/>
            <a:ext cx="310896" cy="292608"/>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3</a:t>
            </a:r>
          </a:p>
        </p:txBody>
      </p:sp>
      <p:sp>
        <p:nvSpPr>
          <p:cNvPr id="24" name="TextBox 23"/>
          <p:cNvSpPr txBox="1"/>
          <p:nvPr/>
        </p:nvSpPr>
        <p:spPr>
          <a:xfrm>
            <a:off x="8851392" y="4754880"/>
            <a:ext cx="2642615"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Guarda y gestiona</a:t>
            </a:r>
          </a:p>
        </p:txBody>
      </p:sp>
      <p:sp>
        <p:nvSpPr>
          <p:cNvPr id="25" name="TextBox 24"/>
          <p:cNvSpPr txBox="1"/>
          <p:nvPr/>
        </p:nvSpPr>
        <p:spPr>
          <a:xfrm>
            <a:off x="8851392" y="5120640"/>
            <a:ext cx="2642615" cy="685800"/>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Crear evento. Después puedes editarlo, cancelarlo, eliminarlo o exportarlo.</a:t>
            </a:r>
          </a:p>
        </p:txBody>
      </p:sp>
      <p:sp>
        <p:nvSpPr>
          <p:cNvPr id="26" name="Rectangle 25"/>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28" name="TextBox 27">
            <a:hlinkClick action="ppaction://hlinksldjump" r:id="rId5"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29" name="TextBox 28">
            <a:hlinkClick action="ppaction://hlinksldjump" r:id="rId6"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30" name="TextBox 29">
            <a:hlinkClick action="ppaction://hlinksldjump" r:id="rId7"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31" name="TextBox 30">
            <a:hlinkClick action="ppaction://hlinksldjump" r:id="rId8"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32" name="TextBox 31">
            <a:hlinkClick action="ppaction://hlinksldjump" r:id="rId9"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3" name="TextBox 32">
            <a:hlinkClick action="ppaction://hlinksldjump" r:id="rId10"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34" name="TextBox 33">
            <a:hlinkClick action="ppaction://hlinksldjump" r:id="rId11"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5" name="TextBox 34"/>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15 / 33</a:t>
            </a:r>
          </a:p>
        </p:txBody>
      </p:sp>
    </p:spTree>
  </p:cSld>
  <p:clrMapOvr>
    <a:masterClrMapping/>
  </p:clrMapOvr>
  <p:transition advClick="1"/>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AGENDA Y CALENDARIOS</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Llévalo a Google, Apple u Outlook</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Abre el evento o la reunión guardada y elige cómo agregarlo a tu calendario personal.</a:t>
            </a:r>
          </a:p>
        </p:txBody>
      </p:sp>
      <p:sp>
        <p:nvSpPr>
          <p:cNvPr id="7" name="Rounded Rectangle 6"/>
          <p:cNvSpPr/>
          <p:nvPr/>
        </p:nvSpPr>
        <p:spPr>
          <a:xfrm>
            <a:off x="594360" y="2267712"/>
            <a:ext cx="3502152" cy="306324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13816" y="2505456"/>
            <a:ext cx="3063240" cy="530352"/>
          </a:xfrm>
          <a:prstGeom prst="rect">
            <a:avLst/>
          </a:prstGeom>
          <a:noFill/>
          <a:effectLst/>
        </p:spPr>
        <p:txBody>
          <a:bodyPr wrap="square" lIns="0" rIns="0" tIns="0" bIns="0" anchor="t">
            <a:spAutoFit/>
          </a:bodyPr>
          <a:lstStyle/>
          <a:p>
            <a:pPr>
              <a:lnSpc>
                <a:spcPct val="112000"/>
              </a:lnSpc>
              <a:spcAft>
                <a:spcPts val="500"/>
              </a:spcAft>
              <a:defRPr sz="3300" b="1">
                <a:solidFill>
                  <a:srgbClr val="2957A4"/>
                </a:solidFill>
                <a:latin typeface="Arial"/>
              </a:defRPr>
            </a:pPr>
            <a:r>
              <a:t>1</a:t>
            </a:r>
          </a:p>
        </p:txBody>
      </p:sp>
      <p:sp>
        <p:nvSpPr>
          <p:cNvPr id="9" name="TextBox 8"/>
          <p:cNvSpPr txBox="1"/>
          <p:nvPr/>
        </p:nvSpPr>
        <p:spPr>
          <a:xfrm>
            <a:off x="813816" y="3246120"/>
            <a:ext cx="3063240" cy="685800"/>
          </a:xfrm>
          <a:prstGeom prst="rect">
            <a:avLst/>
          </a:prstGeom>
          <a:noFill/>
          <a:effectLst/>
        </p:spPr>
        <p:txBody>
          <a:bodyPr wrap="square" lIns="0" rIns="0" tIns="0" bIns="0" anchor="t">
            <a:spAutoFit/>
          </a:bodyPr>
          <a:lstStyle/>
          <a:p>
            <a:pPr>
              <a:lnSpc>
                <a:spcPct val="112000"/>
              </a:lnSpc>
              <a:spcAft>
                <a:spcPts val="500"/>
              </a:spcAft>
              <a:defRPr sz="2200" b="1">
                <a:solidFill>
                  <a:srgbClr val="1D3555"/>
                </a:solidFill>
                <a:latin typeface="Arial"/>
              </a:defRPr>
            </a:pPr>
            <a:r>
              <a:t>Google Calendar</a:t>
            </a:r>
          </a:p>
        </p:txBody>
      </p:sp>
      <p:sp>
        <p:nvSpPr>
          <p:cNvPr id="10" name="TextBox 9"/>
          <p:cNvSpPr txBox="1"/>
          <p:nvPr/>
        </p:nvSpPr>
        <p:spPr>
          <a:xfrm>
            <a:off x="813816" y="4014215"/>
            <a:ext cx="3063240" cy="1097280"/>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Pulsa Google Calendar.</a:t>
            </a:r>
          </a:p>
          <a:p>
            <a:pPr>
              <a:lnSpc>
                <a:spcPct val="112000"/>
              </a:lnSpc>
              <a:spcAft>
                <a:spcPts val="500"/>
              </a:spcAft>
              <a:defRPr sz="1500" b="0">
                <a:solidFill>
                  <a:srgbClr val="617793"/>
                </a:solidFill>
                <a:latin typeface="Arial"/>
              </a:defRPr>
            </a:pPr>
            <a:r>
              <a:t>Se abre un borrador en tu cuenta.</a:t>
            </a:r>
          </a:p>
          <a:p>
            <a:pPr>
              <a:lnSpc>
                <a:spcPct val="112000"/>
              </a:lnSpc>
              <a:spcAft>
                <a:spcPts val="500"/>
              </a:spcAft>
              <a:defRPr sz="1500" b="0">
                <a:solidFill>
                  <a:srgbClr val="617793"/>
                </a:solidFill>
                <a:latin typeface="Arial"/>
              </a:defRPr>
            </a:pPr>
            <a:r>
              <a:t>Comprueba la hora y pulsa Guardar.</a:t>
            </a:r>
          </a:p>
        </p:txBody>
      </p:sp>
      <p:sp>
        <p:nvSpPr>
          <p:cNvPr id="11" name="Rounded Rectangle 10"/>
          <p:cNvSpPr/>
          <p:nvPr/>
        </p:nvSpPr>
        <p:spPr>
          <a:xfrm>
            <a:off x="4370832" y="2267712"/>
            <a:ext cx="3502152" cy="306324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590288" y="2505456"/>
            <a:ext cx="3063240" cy="530352"/>
          </a:xfrm>
          <a:prstGeom prst="rect">
            <a:avLst/>
          </a:prstGeom>
          <a:noFill/>
          <a:effectLst/>
        </p:spPr>
        <p:txBody>
          <a:bodyPr wrap="square" lIns="0" rIns="0" tIns="0" bIns="0" anchor="t">
            <a:spAutoFit/>
          </a:bodyPr>
          <a:lstStyle/>
          <a:p>
            <a:pPr>
              <a:lnSpc>
                <a:spcPct val="112000"/>
              </a:lnSpc>
              <a:spcAft>
                <a:spcPts val="500"/>
              </a:spcAft>
              <a:defRPr sz="3300" b="1">
                <a:solidFill>
                  <a:srgbClr val="2957A4"/>
                </a:solidFill>
                <a:latin typeface="Arial"/>
              </a:defRPr>
            </a:pPr>
            <a:r>
              <a:t>2</a:t>
            </a:r>
          </a:p>
        </p:txBody>
      </p:sp>
      <p:sp>
        <p:nvSpPr>
          <p:cNvPr id="13" name="TextBox 12"/>
          <p:cNvSpPr txBox="1"/>
          <p:nvPr/>
        </p:nvSpPr>
        <p:spPr>
          <a:xfrm>
            <a:off x="4590288" y="3246120"/>
            <a:ext cx="3063240" cy="685800"/>
          </a:xfrm>
          <a:prstGeom prst="rect">
            <a:avLst/>
          </a:prstGeom>
          <a:noFill/>
          <a:effectLst/>
        </p:spPr>
        <p:txBody>
          <a:bodyPr wrap="square" lIns="0" rIns="0" tIns="0" bIns="0" anchor="t">
            <a:spAutoFit/>
          </a:bodyPr>
          <a:lstStyle/>
          <a:p>
            <a:pPr>
              <a:lnSpc>
                <a:spcPct val="112000"/>
              </a:lnSpc>
              <a:spcAft>
                <a:spcPts val="500"/>
              </a:spcAft>
              <a:defRPr sz="2200" b="1">
                <a:solidFill>
                  <a:srgbClr val="1D3555"/>
                </a:solidFill>
                <a:latin typeface="Arial"/>
              </a:defRPr>
            </a:pPr>
            <a:r>
              <a:t>Apple / Outlook (.ics)</a:t>
            </a:r>
          </a:p>
        </p:txBody>
      </p:sp>
      <p:sp>
        <p:nvSpPr>
          <p:cNvPr id="14" name="TextBox 13"/>
          <p:cNvSpPr txBox="1"/>
          <p:nvPr/>
        </p:nvSpPr>
        <p:spPr>
          <a:xfrm>
            <a:off x="4590288" y="4014215"/>
            <a:ext cx="3063240" cy="1097280"/>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Descarga el archivo .ics.</a:t>
            </a:r>
          </a:p>
          <a:p>
            <a:pPr>
              <a:lnSpc>
                <a:spcPct val="112000"/>
              </a:lnSpc>
              <a:spcAft>
                <a:spcPts val="500"/>
              </a:spcAft>
              <a:defRPr sz="1500" b="0">
                <a:solidFill>
                  <a:srgbClr val="617793"/>
                </a:solidFill>
                <a:latin typeface="Arial"/>
              </a:defRPr>
            </a:pPr>
            <a:r>
              <a:t>Ábrelo o impórtalo en tu calendario.</a:t>
            </a:r>
          </a:p>
          <a:p>
            <a:pPr>
              <a:lnSpc>
                <a:spcPct val="112000"/>
              </a:lnSpc>
              <a:spcAft>
                <a:spcPts val="500"/>
              </a:spcAft>
              <a:defRPr sz="1500" b="0">
                <a:solidFill>
                  <a:srgbClr val="617793"/>
                </a:solidFill>
                <a:latin typeface="Arial"/>
              </a:defRPr>
            </a:pPr>
            <a:r>
              <a:t>Confirma el calendario de destino.</a:t>
            </a:r>
          </a:p>
        </p:txBody>
      </p:sp>
      <p:sp>
        <p:nvSpPr>
          <p:cNvPr id="15" name="Rounded Rectangle 14"/>
          <p:cNvSpPr/>
          <p:nvPr/>
        </p:nvSpPr>
        <p:spPr>
          <a:xfrm>
            <a:off x="8147304" y="2267712"/>
            <a:ext cx="3502152" cy="306324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366760" y="2505456"/>
            <a:ext cx="3063240" cy="530352"/>
          </a:xfrm>
          <a:prstGeom prst="rect">
            <a:avLst/>
          </a:prstGeom>
          <a:noFill/>
          <a:effectLst/>
        </p:spPr>
        <p:txBody>
          <a:bodyPr wrap="square" lIns="0" rIns="0" tIns="0" bIns="0" anchor="t">
            <a:spAutoFit/>
          </a:bodyPr>
          <a:lstStyle/>
          <a:p>
            <a:pPr>
              <a:lnSpc>
                <a:spcPct val="112000"/>
              </a:lnSpc>
              <a:spcAft>
                <a:spcPts val="500"/>
              </a:spcAft>
              <a:defRPr sz="3300" b="1">
                <a:solidFill>
                  <a:srgbClr val="2957A4"/>
                </a:solidFill>
                <a:latin typeface="Arial"/>
              </a:defRPr>
            </a:pPr>
            <a:r>
              <a:t>3</a:t>
            </a:r>
          </a:p>
        </p:txBody>
      </p:sp>
      <p:sp>
        <p:nvSpPr>
          <p:cNvPr id="17" name="TextBox 16"/>
          <p:cNvSpPr txBox="1"/>
          <p:nvPr/>
        </p:nvSpPr>
        <p:spPr>
          <a:xfrm>
            <a:off x="8366760" y="3246120"/>
            <a:ext cx="3063240" cy="685800"/>
          </a:xfrm>
          <a:prstGeom prst="rect">
            <a:avLst/>
          </a:prstGeom>
          <a:noFill/>
          <a:effectLst/>
        </p:spPr>
        <p:txBody>
          <a:bodyPr wrap="square" lIns="0" rIns="0" tIns="0" bIns="0" anchor="t">
            <a:spAutoFit/>
          </a:bodyPr>
          <a:lstStyle/>
          <a:p>
            <a:pPr>
              <a:lnSpc>
                <a:spcPct val="112000"/>
              </a:lnSpc>
              <a:spcAft>
                <a:spcPts val="500"/>
              </a:spcAft>
              <a:defRPr sz="2200" b="1">
                <a:solidFill>
                  <a:srgbClr val="1D3555"/>
                </a:solidFill>
                <a:latin typeface="Arial"/>
              </a:defRPr>
            </a:pPr>
            <a:r>
              <a:t>Varios eventos</a:t>
            </a:r>
          </a:p>
        </p:txBody>
      </p:sp>
      <p:sp>
        <p:nvSpPr>
          <p:cNvPr id="18" name="TextBox 17"/>
          <p:cNvSpPr txBox="1"/>
          <p:nvPr/>
        </p:nvSpPr>
        <p:spPr>
          <a:xfrm>
            <a:off x="8366760" y="4014215"/>
            <a:ext cx="3063240" cy="1097280"/>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Filtra el mes, el día o la búsqueda.</a:t>
            </a:r>
          </a:p>
          <a:p>
            <a:pPr>
              <a:lnSpc>
                <a:spcPct val="112000"/>
              </a:lnSpc>
              <a:spcAft>
                <a:spcPts val="500"/>
              </a:spcAft>
              <a:defRPr sz="1500" b="0">
                <a:solidFill>
                  <a:srgbClr val="617793"/>
                </a:solidFill>
                <a:latin typeface="Arial"/>
              </a:defRPr>
            </a:pPr>
            <a:r>
              <a:t>Pulsa Exportar selección .ics.</a:t>
            </a:r>
          </a:p>
          <a:p>
            <a:pPr>
              <a:lnSpc>
                <a:spcPct val="112000"/>
              </a:lnSpc>
              <a:spcAft>
                <a:spcPts val="500"/>
              </a:spcAft>
              <a:defRPr sz="1500" b="0">
                <a:solidFill>
                  <a:srgbClr val="617793"/>
                </a:solidFill>
                <a:latin typeface="Arial"/>
              </a:defRPr>
            </a:pPr>
            <a:r>
              <a:t>Importa la selección visible.</a:t>
            </a:r>
          </a:p>
        </p:txBody>
      </p:sp>
      <p:sp>
        <p:nvSpPr>
          <p:cNvPr id="19" name="Rounded Rectangle 18"/>
          <p:cNvSpPr/>
          <p:nvPr/>
        </p:nvSpPr>
        <p:spPr>
          <a:xfrm>
            <a:off x="502920" y="5669280"/>
            <a:ext cx="11183112" cy="41148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40080" y="5733288"/>
            <a:ext cx="10908792" cy="301752"/>
          </a:xfrm>
          <a:prstGeom prst="rect">
            <a:avLst/>
          </a:prstGeom>
          <a:noFill/>
          <a:effectLst/>
        </p:spPr>
        <p:txBody>
          <a:bodyPr wrap="square" lIns="0" rIns="0" tIns="0" bIns="0" anchor="t">
            <a:spAutoFit/>
          </a:bodyPr>
          <a:lstStyle/>
          <a:p>
            <a:pPr>
              <a:lnSpc>
                <a:spcPct val="112000"/>
              </a:lnSpc>
              <a:spcAft>
                <a:spcPts val="500"/>
              </a:spcAft>
              <a:defRPr sz="1250" b="0">
                <a:solidFill>
                  <a:srgbClr val="2957A4"/>
                </a:solidFill>
                <a:latin typeface="Arial"/>
              </a:defRPr>
            </a:pPr>
            <a:r>
              <a:t>Es una copia al calendario: si cambias o eliminas el evento en el CRM, actualiza también tu calendario personal.</a:t>
            </a:r>
          </a:p>
        </p:txBody>
      </p:sp>
      <p:sp>
        <p:nvSpPr>
          <p:cNvPr id="21" name="Rectangle 20"/>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23" name="TextBox 22">
            <a:hlinkClick action="ppaction://hlinksldjump" r:id="rId4"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24" name="TextBox 23">
            <a:hlinkClick action="ppaction://hlinksldjump" r:id="rId5"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25" name="TextBox 24">
            <a:hlinkClick action="ppaction://hlinksldjump" r:id="rId6"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26" name="TextBox 25">
            <a:hlinkClick action="ppaction://hlinksldjump" r:id="rId7"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27" name="TextBox 26">
            <a:hlinkClick action="ppaction://hlinksldjump" r:id="rId8"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28" name="TextBox 27">
            <a:hlinkClick action="ppaction://hlinksldjump" r:id="rId9"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29" name="TextBox 28">
            <a:hlinkClick action="ppaction://hlinksldjump" r:id="rId10"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0" name="TextBox 29"/>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16 / 33</a:t>
            </a:r>
          </a:p>
        </p:txBody>
      </p:sp>
    </p:spTree>
  </p:cSld>
  <p:clrMapOvr>
    <a:masterClrMapping/>
  </p:clrMapOvr>
  <p:transition advClick="1"/>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HERRAMIENTAS DEL CONTACTO</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De la reunión al acuerdo y a la tarea</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Dentro del contacto abre Reuniones: agenda el encuentro y registra lo que debe ocurrir después.</a:t>
            </a:r>
          </a:p>
        </p:txBody>
      </p:sp>
      <p:sp>
        <p:nvSpPr>
          <p:cNvPr id="7" name="Rounded Rectangle 6"/>
          <p:cNvSpPr/>
          <p:nvPr/>
        </p:nvSpPr>
        <p:spPr>
          <a:xfrm>
            <a:off x="594360" y="2231136"/>
            <a:ext cx="3502152" cy="2084831"/>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04672" y="2450592"/>
            <a:ext cx="3017520" cy="466344"/>
          </a:xfrm>
          <a:prstGeom prst="rect">
            <a:avLst/>
          </a:prstGeom>
          <a:noFill/>
          <a:effectLst/>
        </p:spPr>
        <p:txBody>
          <a:bodyPr wrap="square" lIns="0" rIns="0" tIns="0" bIns="0" anchor="t">
            <a:spAutoFit/>
          </a:bodyPr>
          <a:lstStyle/>
          <a:p>
            <a:pPr>
              <a:lnSpc>
                <a:spcPct val="112000"/>
              </a:lnSpc>
              <a:spcAft>
                <a:spcPts val="500"/>
              </a:spcAft>
              <a:defRPr sz="2800" b="1">
                <a:solidFill>
                  <a:srgbClr val="2957A4"/>
                </a:solidFill>
                <a:latin typeface="Arial"/>
              </a:defRPr>
            </a:pPr>
            <a:r>
              <a:t>01</a:t>
            </a:r>
          </a:p>
        </p:txBody>
      </p:sp>
      <p:sp>
        <p:nvSpPr>
          <p:cNvPr id="9" name="TextBox 8"/>
          <p:cNvSpPr txBox="1"/>
          <p:nvPr/>
        </p:nvSpPr>
        <p:spPr>
          <a:xfrm>
            <a:off x="804672" y="3063240"/>
            <a:ext cx="3063240" cy="393192"/>
          </a:xfrm>
          <a:prstGeom prst="rect">
            <a:avLst/>
          </a:prstGeom>
          <a:noFill/>
          <a:effectLst/>
        </p:spPr>
        <p:txBody>
          <a:bodyPr wrap="square" lIns="0" rIns="0" tIns="0" bIns="0" anchor="t">
            <a:spAutoFit/>
          </a:bodyPr>
          <a:lstStyle/>
          <a:p>
            <a:pPr>
              <a:lnSpc>
                <a:spcPct val="112000"/>
              </a:lnSpc>
              <a:spcAft>
                <a:spcPts val="500"/>
              </a:spcAft>
              <a:defRPr sz="2100" b="1">
                <a:solidFill>
                  <a:srgbClr val="1D3555"/>
                </a:solidFill>
                <a:latin typeface="Arial"/>
              </a:defRPr>
            </a:pPr>
            <a:r>
              <a:t>Agendar reunión</a:t>
            </a:r>
          </a:p>
        </p:txBody>
      </p:sp>
      <p:sp>
        <p:nvSpPr>
          <p:cNvPr id="10" name="TextBox 9"/>
          <p:cNvSpPr txBox="1"/>
          <p:nvPr/>
        </p:nvSpPr>
        <p:spPr>
          <a:xfrm>
            <a:off x="804672" y="3657600"/>
            <a:ext cx="3063240" cy="55778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Tema, fecha/hora, participantes, sala o Meet/Zoom y estado.</a:t>
            </a:r>
          </a:p>
        </p:txBody>
      </p:sp>
      <p:sp>
        <p:nvSpPr>
          <p:cNvPr id="11" name="Rounded Rectangle 10"/>
          <p:cNvSpPr/>
          <p:nvPr/>
        </p:nvSpPr>
        <p:spPr>
          <a:xfrm>
            <a:off x="4370832" y="2231136"/>
            <a:ext cx="3502152" cy="2084831"/>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581144" y="2450592"/>
            <a:ext cx="3017520" cy="466344"/>
          </a:xfrm>
          <a:prstGeom prst="rect">
            <a:avLst/>
          </a:prstGeom>
          <a:noFill/>
          <a:effectLst/>
        </p:spPr>
        <p:txBody>
          <a:bodyPr wrap="square" lIns="0" rIns="0" tIns="0" bIns="0" anchor="t">
            <a:spAutoFit/>
          </a:bodyPr>
          <a:lstStyle/>
          <a:p>
            <a:pPr>
              <a:lnSpc>
                <a:spcPct val="112000"/>
              </a:lnSpc>
              <a:spcAft>
                <a:spcPts val="500"/>
              </a:spcAft>
              <a:defRPr sz="2800" b="1">
                <a:solidFill>
                  <a:srgbClr val="2957A4"/>
                </a:solidFill>
                <a:latin typeface="Arial"/>
              </a:defRPr>
            </a:pPr>
            <a:r>
              <a:t>02</a:t>
            </a:r>
          </a:p>
        </p:txBody>
      </p:sp>
      <p:sp>
        <p:nvSpPr>
          <p:cNvPr id="13" name="TextBox 12"/>
          <p:cNvSpPr txBox="1"/>
          <p:nvPr/>
        </p:nvSpPr>
        <p:spPr>
          <a:xfrm>
            <a:off x="4581144" y="3063240"/>
            <a:ext cx="3063240" cy="393192"/>
          </a:xfrm>
          <a:prstGeom prst="rect">
            <a:avLst/>
          </a:prstGeom>
          <a:noFill/>
          <a:effectLst/>
        </p:spPr>
        <p:txBody>
          <a:bodyPr wrap="square" lIns="0" rIns="0" tIns="0" bIns="0" anchor="t">
            <a:spAutoFit/>
          </a:bodyPr>
          <a:lstStyle/>
          <a:p>
            <a:pPr>
              <a:lnSpc>
                <a:spcPct val="112000"/>
              </a:lnSpc>
              <a:spcAft>
                <a:spcPts val="500"/>
              </a:spcAft>
              <a:defRPr sz="2100" b="1">
                <a:solidFill>
                  <a:srgbClr val="1D3555"/>
                </a:solidFill>
                <a:latin typeface="Arial"/>
              </a:defRPr>
            </a:pPr>
            <a:r>
              <a:t>Añadir acuerdos</a:t>
            </a:r>
          </a:p>
        </p:txBody>
      </p:sp>
      <p:sp>
        <p:nvSpPr>
          <p:cNvPr id="14" name="TextBox 13"/>
          <p:cNvSpPr txBox="1"/>
          <p:nvPr/>
        </p:nvSpPr>
        <p:spPr>
          <a:xfrm>
            <a:off x="4581144" y="3657600"/>
            <a:ext cx="3063240" cy="55778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Escribe cada compromiso y define responsable y fecha.</a:t>
            </a:r>
          </a:p>
        </p:txBody>
      </p:sp>
      <p:sp>
        <p:nvSpPr>
          <p:cNvPr id="15" name="Rounded Rectangle 14"/>
          <p:cNvSpPr/>
          <p:nvPr/>
        </p:nvSpPr>
        <p:spPr>
          <a:xfrm>
            <a:off x="8147304" y="2231136"/>
            <a:ext cx="3502152" cy="2084831"/>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357616" y="2450592"/>
            <a:ext cx="3017520" cy="466344"/>
          </a:xfrm>
          <a:prstGeom prst="rect">
            <a:avLst/>
          </a:prstGeom>
          <a:noFill/>
          <a:effectLst/>
        </p:spPr>
        <p:txBody>
          <a:bodyPr wrap="square" lIns="0" rIns="0" tIns="0" bIns="0" anchor="t">
            <a:spAutoFit/>
          </a:bodyPr>
          <a:lstStyle/>
          <a:p>
            <a:pPr>
              <a:lnSpc>
                <a:spcPct val="112000"/>
              </a:lnSpc>
              <a:spcAft>
                <a:spcPts val="500"/>
              </a:spcAft>
              <a:defRPr sz="2800" b="1">
                <a:solidFill>
                  <a:srgbClr val="2957A4"/>
                </a:solidFill>
                <a:latin typeface="Arial"/>
              </a:defRPr>
            </a:pPr>
            <a:r>
              <a:t>03</a:t>
            </a:r>
          </a:p>
        </p:txBody>
      </p:sp>
      <p:sp>
        <p:nvSpPr>
          <p:cNvPr id="17" name="TextBox 16"/>
          <p:cNvSpPr txBox="1"/>
          <p:nvPr/>
        </p:nvSpPr>
        <p:spPr>
          <a:xfrm>
            <a:off x="8357616" y="3063240"/>
            <a:ext cx="3063240" cy="393192"/>
          </a:xfrm>
          <a:prstGeom prst="rect">
            <a:avLst/>
          </a:prstGeom>
          <a:noFill/>
          <a:effectLst/>
        </p:spPr>
        <p:txBody>
          <a:bodyPr wrap="square" lIns="0" rIns="0" tIns="0" bIns="0" anchor="t">
            <a:spAutoFit/>
          </a:bodyPr>
          <a:lstStyle/>
          <a:p>
            <a:pPr>
              <a:lnSpc>
                <a:spcPct val="112000"/>
              </a:lnSpc>
              <a:spcAft>
                <a:spcPts val="500"/>
              </a:spcAft>
              <a:defRPr sz="2100" b="1">
                <a:solidFill>
                  <a:srgbClr val="1D3555"/>
                </a:solidFill>
                <a:latin typeface="Arial"/>
              </a:defRPr>
            </a:pPr>
            <a:r>
              <a:t>Dar seguimiento</a:t>
            </a:r>
          </a:p>
        </p:txBody>
      </p:sp>
      <p:sp>
        <p:nvSpPr>
          <p:cNvPr id="18" name="TextBox 17"/>
          <p:cNvSpPr txBox="1"/>
          <p:nvPr/>
        </p:nvSpPr>
        <p:spPr>
          <a:xfrm>
            <a:off x="8357616" y="3657600"/>
            <a:ext cx="3063240" cy="55778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Crear tareas de acuerdos agrega los compromisos al tablero.</a:t>
            </a:r>
          </a:p>
        </p:txBody>
      </p:sp>
      <p:sp>
        <p:nvSpPr>
          <p:cNvPr id="19" name="Rounded Rectangle 18"/>
          <p:cNvSpPr/>
          <p:nvPr/>
        </p:nvSpPr>
        <p:spPr>
          <a:xfrm>
            <a:off x="594360" y="4617720"/>
            <a:ext cx="11027664" cy="1179576"/>
          </a:xfrm>
          <a:prstGeom prst="roundRect">
            <a:avLst>
              <a:gd name="adj" fmla="val 8000"/>
            </a:avLst>
          </a:prstGeom>
          <a:solidFill>
            <a:srgbClr val="17345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41248" y="4818888"/>
            <a:ext cx="2834640" cy="365760"/>
          </a:xfrm>
          <a:prstGeom prst="rect">
            <a:avLst/>
          </a:prstGeom>
          <a:noFill/>
          <a:effectLst/>
        </p:spPr>
        <p:txBody>
          <a:bodyPr wrap="square" lIns="0" rIns="0" tIns="0" bIns="0" anchor="t">
            <a:spAutoFit/>
          </a:bodyPr>
          <a:lstStyle/>
          <a:p>
            <a:pPr>
              <a:lnSpc>
                <a:spcPct val="112000"/>
              </a:lnSpc>
              <a:spcAft>
                <a:spcPts val="500"/>
              </a:spcAft>
              <a:defRPr sz="2300" b="1">
                <a:solidFill>
                  <a:srgbClr val="FFFFFF"/>
                </a:solidFill>
                <a:latin typeface="Arial"/>
              </a:defRPr>
            </a:pPr>
            <a:r>
              <a:t>Generar minuta</a:t>
            </a:r>
          </a:p>
        </p:txBody>
      </p:sp>
      <p:sp>
        <p:nvSpPr>
          <p:cNvPr id="21" name="TextBox 20"/>
          <p:cNvSpPr txBox="1"/>
          <p:nvPr/>
        </p:nvSpPr>
        <p:spPr>
          <a:xfrm>
            <a:off x="4069080" y="4828032"/>
            <a:ext cx="7196328" cy="731520"/>
          </a:xfrm>
          <a:prstGeom prst="rect">
            <a:avLst/>
          </a:prstGeom>
          <a:noFill/>
          <a:effectLst/>
        </p:spPr>
        <p:txBody>
          <a:bodyPr wrap="square" lIns="0" rIns="0" tIns="0" bIns="0" anchor="t">
            <a:spAutoFit/>
          </a:bodyPr>
          <a:lstStyle/>
          <a:p>
            <a:pPr>
              <a:lnSpc>
                <a:spcPct val="112000"/>
              </a:lnSpc>
              <a:spcAft>
                <a:spcPts val="500"/>
              </a:spcAft>
              <a:defRPr sz="1700" b="0">
                <a:solidFill>
                  <a:srgbClr val="FFFFFF"/>
                </a:solidFill>
                <a:latin typeface="Arial"/>
              </a:defRPr>
            </a:pPr>
            <a:r>
              <a:t>Prepara el resumen de la reunión en Formatos /.</a:t>
            </a:r>
          </a:p>
          <a:p>
            <a:pPr>
              <a:lnSpc>
                <a:spcPct val="112000"/>
              </a:lnSpc>
              <a:spcAft>
                <a:spcPts val="500"/>
              </a:spcAft>
              <a:defRPr sz="1700" b="0">
                <a:solidFill>
                  <a:srgbClr val="FFFFFF"/>
                </a:solidFill>
                <a:latin typeface="Arial"/>
              </a:defRPr>
            </a:pPr>
            <a:r>
              <a:t>Copia el texto o abre un borrador en WhatsApp para revisarlo y enviarlo tú.</a:t>
            </a:r>
          </a:p>
        </p:txBody>
      </p:sp>
      <p:sp>
        <p:nvSpPr>
          <p:cNvPr id="22" name="Rectangle 21"/>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24" name="TextBox 23">
            <a:hlinkClick action="ppaction://hlinksldjump" r:id="rId4"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25" name="TextBox 24">
            <a:hlinkClick action="ppaction://hlinksldjump" r:id="rId5"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26" name="TextBox 25">
            <a:hlinkClick action="ppaction://hlinksldjump" r:id="rId6"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27" name="TextBox 26">
            <a:hlinkClick action="ppaction://hlinksldjump" r:id="rId7"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28" name="TextBox 27">
            <a:hlinkClick action="ppaction://hlinksldjump" r:id="rId8"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29" name="TextBox 28">
            <a:hlinkClick action="ppaction://hlinksldjump" r:id="rId9"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30" name="TextBox 29">
            <a:hlinkClick action="ppaction://hlinksldjump" r:id="rId10"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1" name="TextBox 30"/>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17 / 33</a:t>
            </a:r>
          </a:p>
        </p:txBody>
      </p:sp>
    </p:spTree>
  </p:cSld>
  <p:clrMapOvr>
    <a:masterClrMapping/>
  </p:clrMapOvr>
  <p:transition advClick="1"/>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HERRAMIENTAS DEL CONTACTO</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Formatos /: responde con orden y firma</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Los textos y enlaces se comparten en la nube; cada operador puede preparar su propia respuesta.</a:t>
            </a:r>
          </a:p>
        </p:txBody>
      </p:sp>
      <p:sp>
        <p:nvSpPr>
          <p:cNvPr id="7" name="Rounded Rectangle 6"/>
          <p:cNvSpPr/>
          <p:nvPr/>
        </p:nvSpPr>
        <p:spPr>
          <a:xfrm>
            <a:off x="594360" y="2304288"/>
            <a:ext cx="1673352" cy="1088136"/>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49808" y="2496312"/>
            <a:ext cx="1371600" cy="365760"/>
          </a:xfrm>
          <a:prstGeom prst="rect">
            <a:avLst/>
          </a:prstGeom>
          <a:noFill/>
          <a:effectLst/>
        </p:spPr>
        <p:txBody>
          <a:bodyPr wrap="square" lIns="0" rIns="0" tIns="0" bIns="0" anchor="t">
            <a:spAutoFit/>
          </a:bodyPr>
          <a:lstStyle/>
          <a:p>
            <a:pPr>
              <a:lnSpc>
                <a:spcPct val="112000"/>
              </a:lnSpc>
              <a:spcAft>
                <a:spcPts val="500"/>
              </a:spcAft>
              <a:defRPr sz="2100" b="1">
                <a:solidFill>
                  <a:srgbClr val="2957A4"/>
                </a:solidFill>
                <a:latin typeface="Arial"/>
              </a:defRPr>
            </a:pPr>
            <a:r>
              <a:t>/drive</a:t>
            </a:r>
          </a:p>
        </p:txBody>
      </p:sp>
      <p:sp>
        <p:nvSpPr>
          <p:cNvPr id="9" name="TextBox 8"/>
          <p:cNvSpPr txBox="1"/>
          <p:nvPr/>
        </p:nvSpPr>
        <p:spPr>
          <a:xfrm>
            <a:off x="749808" y="2944368"/>
            <a:ext cx="1371600" cy="365760"/>
          </a:xfrm>
          <a:prstGeom prst="rect">
            <a:avLst/>
          </a:prstGeom>
          <a:noFill/>
          <a:effectLst/>
        </p:spPr>
        <p:txBody>
          <a:bodyPr wrap="square" lIns="0" rIns="0" tIns="0" bIns="0" anchor="t">
            <a:spAutoFit/>
          </a:bodyPr>
          <a:lstStyle/>
          <a:p>
            <a:pPr>
              <a:lnSpc>
                <a:spcPct val="112000"/>
              </a:lnSpc>
              <a:spcAft>
                <a:spcPts val="500"/>
              </a:spcAft>
              <a:defRPr sz="1100" b="0">
                <a:solidFill>
                  <a:srgbClr val="617793"/>
                </a:solidFill>
                <a:latin typeface="Arial"/>
              </a:defRPr>
            </a:pPr>
            <a:r>
              <a:t>Carpetas y enlaces</a:t>
            </a:r>
          </a:p>
        </p:txBody>
      </p:sp>
      <p:sp>
        <p:nvSpPr>
          <p:cNvPr id="10" name="Rounded Rectangle 9"/>
          <p:cNvSpPr/>
          <p:nvPr/>
        </p:nvSpPr>
        <p:spPr>
          <a:xfrm>
            <a:off x="2468879" y="2304288"/>
            <a:ext cx="1673352" cy="1088136"/>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2624327" y="2496312"/>
            <a:ext cx="1371600" cy="365760"/>
          </a:xfrm>
          <a:prstGeom prst="rect">
            <a:avLst/>
          </a:prstGeom>
          <a:noFill/>
          <a:effectLst/>
        </p:spPr>
        <p:txBody>
          <a:bodyPr wrap="square" lIns="0" rIns="0" tIns="0" bIns="0" anchor="t">
            <a:spAutoFit/>
          </a:bodyPr>
          <a:lstStyle/>
          <a:p>
            <a:pPr>
              <a:lnSpc>
                <a:spcPct val="112000"/>
              </a:lnSpc>
              <a:spcAft>
                <a:spcPts val="500"/>
              </a:spcAft>
              <a:defRPr sz="2100" b="1">
                <a:solidFill>
                  <a:srgbClr val="2957A4"/>
                </a:solidFill>
                <a:latin typeface="Arial"/>
              </a:defRPr>
            </a:pPr>
            <a:r>
              <a:t>/tdr</a:t>
            </a:r>
          </a:p>
        </p:txBody>
      </p:sp>
      <p:sp>
        <p:nvSpPr>
          <p:cNvPr id="12" name="TextBox 11"/>
          <p:cNvSpPr txBox="1"/>
          <p:nvPr/>
        </p:nvSpPr>
        <p:spPr>
          <a:xfrm>
            <a:off x="2624327" y="2944368"/>
            <a:ext cx="1371600" cy="365760"/>
          </a:xfrm>
          <a:prstGeom prst="rect">
            <a:avLst/>
          </a:prstGeom>
          <a:noFill/>
          <a:effectLst/>
        </p:spPr>
        <p:txBody>
          <a:bodyPr wrap="square" lIns="0" rIns="0" tIns="0" bIns="0" anchor="t">
            <a:spAutoFit/>
          </a:bodyPr>
          <a:lstStyle/>
          <a:p>
            <a:pPr>
              <a:lnSpc>
                <a:spcPct val="112000"/>
              </a:lnSpc>
              <a:spcAft>
                <a:spcPts val="500"/>
              </a:spcAft>
              <a:defRPr sz="1100" b="0">
                <a:solidFill>
                  <a:srgbClr val="617793"/>
                </a:solidFill>
                <a:latin typeface="Arial"/>
              </a:defRPr>
            </a:pPr>
            <a:r>
              <a:t>Textos reutilizables</a:t>
            </a:r>
          </a:p>
        </p:txBody>
      </p:sp>
      <p:sp>
        <p:nvSpPr>
          <p:cNvPr id="13" name="Rounded Rectangle 12"/>
          <p:cNvSpPr/>
          <p:nvPr/>
        </p:nvSpPr>
        <p:spPr>
          <a:xfrm>
            <a:off x="4343400" y="2304288"/>
            <a:ext cx="1673352" cy="1088136"/>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498848" y="2496312"/>
            <a:ext cx="1371600" cy="365760"/>
          </a:xfrm>
          <a:prstGeom prst="rect">
            <a:avLst/>
          </a:prstGeom>
          <a:noFill/>
          <a:effectLst/>
        </p:spPr>
        <p:txBody>
          <a:bodyPr wrap="square" lIns="0" rIns="0" tIns="0" bIns="0" anchor="t">
            <a:spAutoFit/>
          </a:bodyPr>
          <a:lstStyle/>
          <a:p>
            <a:pPr>
              <a:lnSpc>
                <a:spcPct val="112000"/>
              </a:lnSpc>
              <a:spcAft>
                <a:spcPts val="500"/>
              </a:spcAft>
              <a:defRPr sz="2100" b="1">
                <a:solidFill>
                  <a:srgbClr val="2957A4"/>
                </a:solidFill>
                <a:latin typeface="Arial"/>
              </a:defRPr>
            </a:pPr>
            <a:r>
              <a:t>/cut</a:t>
            </a:r>
          </a:p>
        </p:txBody>
      </p:sp>
      <p:sp>
        <p:nvSpPr>
          <p:cNvPr id="15" name="TextBox 14"/>
          <p:cNvSpPr txBox="1"/>
          <p:nvPr/>
        </p:nvSpPr>
        <p:spPr>
          <a:xfrm>
            <a:off x="4498848" y="2944368"/>
            <a:ext cx="1371600" cy="365760"/>
          </a:xfrm>
          <a:prstGeom prst="rect">
            <a:avLst/>
          </a:prstGeom>
          <a:noFill/>
          <a:effectLst/>
        </p:spPr>
        <p:txBody>
          <a:bodyPr wrap="square" lIns="0" rIns="0" tIns="0" bIns="0" anchor="t">
            <a:spAutoFit/>
          </a:bodyPr>
          <a:lstStyle/>
          <a:p>
            <a:pPr>
              <a:lnSpc>
                <a:spcPct val="112000"/>
              </a:lnSpc>
              <a:spcAft>
                <a:spcPts val="500"/>
              </a:spcAft>
              <a:defRPr sz="1100" b="0">
                <a:solidFill>
                  <a:srgbClr val="617793"/>
                </a:solidFill>
                <a:latin typeface="Arial"/>
              </a:defRPr>
            </a:pPr>
            <a:r>
              <a:t>Consultas de seguimiento</a:t>
            </a:r>
          </a:p>
        </p:txBody>
      </p:sp>
      <p:sp>
        <p:nvSpPr>
          <p:cNvPr id="16" name="Rounded Rectangle 15"/>
          <p:cNvSpPr/>
          <p:nvPr/>
        </p:nvSpPr>
        <p:spPr>
          <a:xfrm>
            <a:off x="621792" y="3739896"/>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58368" y="3771900"/>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1</a:t>
            </a:r>
          </a:p>
        </p:txBody>
      </p:sp>
      <p:sp>
        <p:nvSpPr>
          <p:cNvPr id="18" name="TextBox 17"/>
          <p:cNvSpPr txBox="1"/>
          <p:nvPr/>
        </p:nvSpPr>
        <p:spPr>
          <a:xfrm>
            <a:off x="1216152" y="3712463"/>
            <a:ext cx="4937759"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Selecciona un comando</a:t>
            </a:r>
          </a:p>
        </p:txBody>
      </p:sp>
      <p:sp>
        <p:nvSpPr>
          <p:cNvPr id="19" name="TextBox 18"/>
          <p:cNvSpPr txBox="1"/>
          <p:nvPr/>
        </p:nvSpPr>
        <p:spPr>
          <a:xfrm>
            <a:off x="1216152" y="4142231"/>
            <a:ext cx="4937759"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Carga el formato y ajusta el contenido al contacto.</a:t>
            </a:r>
          </a:p>
        </p:txBody>
      </p:sp>
      <p:sp>
        <p:nvSpPr>
          <p:cNvPr id="20" name="Rounded Rectangle 19"/>
          <p:cNvSpPr/>
          <p:nvPr/>
        </p:nvSpPr>
        <p:spPr>
          <a:xfrm>
            <a:off x="621792" y="4928616"/>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58368" y="4960620"/>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2</a:t>
            </a:r>
          </a:p>
        </p:txBody>
      </p:sp>
      <p:sp>
        <p:nvSpPr>
          <p:cNvPr id="22" name="TextBox 21"/>
          <p:cNvSpPr txBox="1"/>
          <p:nvPr/>
        </p:nvSpPr>
        <p:spPr>
          <a:xfrm>
            <a:off x="1216152" y="4901184"/>
            <a:ext cx="4937759"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Activa la firma si corresponde</a:t>
            </a:r>
          </a:p>
        </p:txBody>
      </p:sp>
      <p:sp>
        <p:nvSpPr>
          <p:cNvPr id="23" name="TextBox 22"/>
          <p:cNvSpPr txBox="1"/>
          <p:nvPr/>
        </p:nvSpPr>
        <p:spPr>
          <a:xfrm>
            <a:off x="1216152" y="5330952"/>
            <a:ext cx="4937759"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Ejemplo: *Acxel - Coord. ANA*.</a:t>
            </a:r>
          </a:p>
        </p:txBody>
      </p:sp>
      <p:sp>
        <p:nvSpPr>
          <p:cNvPr id="24" name="Rounded Rectangle 23"/>
          <p:cNvSpPr/>
          <p:nvPr/>
        </p:nvSpPr>
        <p:spPr>
          <a:xfrm>
            <a:off x="6547104" y="2011680"/>
            <a:ext cx="4782312" cy="4187952"/>
          </a:xfrm>
          <a:prstGeom prst="roundRect">
            <a:avLst>
              <a:gd name="adj" fmla="val 8000"/>
            </a:avLst>
          </a:prstGeom>
          <a:solidFill>
            <a:srgbClr val="FFFFFF"/>
          </a:solidFill>
          <a:ln w="10160">
            <a:solidFill>
              <a:srgbClr val="D8E3F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Captura real del CRM con datos de demostración: 06-formatos"/>
          <p:cNvPicPr>
            <a:picLocks noChangeAspect="1"/>
          </p:cNvPicPr>
          <p:nvPr/>
        </p:nvPicPr>
        <p:blipFill>
          <a:blip r:embed="rId3"/>
          <a:stretch>
            <a:fillRect/>
          </a:stretch>
        </p:blipFill>
        <p:spPr>
          <a:xfrm>
            <a:off x="7759300" y="2048256"/>
            <a:ext cx="2357919" cy="4114800"/>
          </a:xfrm>
          <a:prstGeom prst="rect">
            <a:avLst/>
          </a:prstGeom>
          <a:effectLst/>
        </p:spPr>
      </p:pic>
      <p:sp>
        <p:nvSpPr>
          <p:cNvPr id="26" name="Rectangle 25"/>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28" name="TextBox 27">
            <a:hlinkClick action="ppaction://hlinksldjump" r:id="rId5"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29" name="TextBox 28">
            <a:hlinkClick action="ppaction://hlinksldjump" r:id="rId6"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30" name="TextBox 29">
            <a:hlinkClick action="ppaction://hlinksldjump" r:id="rId7"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31" name="TextBox 30">
            <a:hlinkClick action="ppaction://hlinksldjump" r:id="rId8"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32" name="TextBox 31">
            <a:hlinkClick action="ppaction://hlinksldjump" r:id="rId9"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3" name="TextBox 32">
            <a:hlinkClick action="ppaction://hlinksldjump" r:id="rId10"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34" name="TextBox 33">
            <a:hlinkClick action="ppaction://hlinksldjump" r:id="rId11"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5" name="TextBox 34"/>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18 / 33</a:t>
            </a:r>
          </a:p>
        </p:txBody>
      </p:sp>
    </p:spTree>
  </p:cSld>
  <p:clrMapOvr>
    <a:masterClrMapping/>
  </p:clrMapOvr>
  <p:transition advClick="1"/>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AVISOS ENTRE OPERADORES</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“Jaruska, este contacto quiere hablar contigo”</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Envía el aviso dentro del CRM y conserva el vínculo a la ficha del contacto.</a:t>
            </a:r>
          </a:p>
        </p:txBody>
      </p:sp>
      <p:sp>
        <p:nvSpPr>
          <p:cNvPr id="7" name="Rounded Rectangle 6"/>
          <p:cNvSpPr/>
          <p:nvPr/>
        </p:nvSpPr>
        <p:spPr>
          <a:xfrm>
            <a:off x="594360" y="2157984"/>
            <a:ext cx="5330952" cy="3593592"/>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95528" y="2350008"/>
            <a:ext cx="4928616" cy="365760"/>
          </a:xfrm>
          <a:prstGeom prst="rect">
            <a:avLst/>
          </a:prstGeom>
          <a:noFill/>
          <a:effectLst/>
        </p:spPr>
        <p:txBody>
          <a:bodyPr wrap="square" lIns="0" rIns="0" tIns="0" bIns="0" anchor="t">
            <a:spAutoFit/>
          </a:bodyPr>
          <a:lstStyle/>
          <a:p>
            <a:pPr>
              <a:lnSpc>
                <a:spcPct val="112000"/>
              </a:lnSpc>
              <a:spcAft>
                <a:spcPts val="500"/>
              </a:spcAft>
              <a:defRPr sz="1800" b="1">
                <a:solidFill>
                  <a:srgbClr val="2957A4"/>
                </a:solidFill>
                <a:latin typeface="Arial"/>
              </a:defRPr>
            </a:pPr>
            <a:r>
              <a:t>1 · Acxel envía desde la ficha</a:t>
            </a:r>
          </a:p>
        </p:txBody>
      </p:sp>
      <p:sp>
        <p:nvSpPr>
          <p:cNvPr id="9" name="Rounded Rectangle 8"/>
          <p:cNvSpPr/>
          <p:nvPr/>
        </p:nvSpPr>
        <p:spPr>
          <a:xfrm>
            <a:off x="6254496" y="2157984"/>
            <a:ext cx="5330952" cy="3593592"/>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55664" y="2350008"/>
            <a:ext cx="4928616" cy="365760"/>
          </a:xfrm>
          <a:prstGeom prst="rect">
            <a:avLst/>
          </a:prstGeom>
          <a:noFill/>
          <a:effectLst/>
        </p:spPr>
        <p:txBody>
          <a:bodyPr wrap="square" lIns="0" rIns="0" tIns="0" bIns="0" anchor="t">
            <a:spAutoFit/>
          </a:bodyPr>
          <a:lstStyle/>
          <a:p>
            <a:pPr>
              <a:lnSpc>
                <a:spcPct val="112000"/>
              </a:lnSpc>
              <a:spcAft>
                <a:spcPts val="500"/>
              </a:spcAft>
              <a:defRPr sz="1800" b="1">
                <a:solidFill>
                  <a:srgbClr val="2957A4"/>
                </a:solidFill>
                <a:latin typeface="Arial"/>
              </a:defRPr>
            </a:pPr>
            <a:r>
              <a:t>2 · Jaruska confirma desde la campana</a:t>
            </a:r>
          </a:p>
        </p:txBody>
      </p:sp>
      <p:pic>
        <p:nvPicPr>
          <p:cNvPr id="11" name="Picture 10" descr="Captura real del CRM con datos de demostración: 04-enviar-aviso"/>
          <p:cNvPicPr>
            <a:picLocks noChangeAspect="1"/>
          </p:cNvPicPr>
          <p:nvPr/>
        </p:nvPicPr>
        <p:blipFill>
          <a:blip r:embed="rId3"/>
          <a:stretch>
            <a:fillRect/>
          </a:stretch>
        </p:blipFill>
        <p:spPr>
          <a:xfrm>
            <a:off x="1523642" y="2871216"/>
            <a:ext cx="3463242" cy="2670048"/>
          </a:xfrm>
          <a:prstGeom prst="rect">
            <a:avLst/>
          </a:prstGeom>
          <a:effectLst/>
        </p:spPr>
      </p:pic>
      <p:pic>
        <p:nvPicPr>
          <p:cNvPr id="12" name="Picture 11" descr="Captura real del CRM con datos de demostración: 11-recibir-aviso"/>
          <p:cNvPicPr>
            <a:picLocks noChangeAspect="1"/>
          </p:cNvPicPr>
          <p:nvPr/>
        </p:nvPicPr>
        <p:blipFill>
          <a:blip r:embed="rId4"/>
          <a:stretch>
            <a:fillRect/>
          </a:stretch>
        </p:blipFill>
        <p:spPr>
          <a:xfrm>
            <a:off x="6834354" y="2871216"/>
            <a:ext cx="4180378" cy="2670048"/>
          </a:xfrm>
          <a:prstGeom prst="rect">
            <a:avLst/>
          </a:prstGeom>
          <a:effectLst/>
        </p:spPr>
      </p:pic>
      <p:sp>
        <p:nvSpPr>
          <p:cNvPr id="13" name="TextBox 12"/>
          <p:cNvSpPr txBox="1"/>
          <p:nvPr/>
        </p:nvSpPr>
        <p:spPr>
          <a:xfrm>
            <a:off x="694944" y="5925312"/>
            <a:ext cx="5120640" cy="438912"/>
          </a:xfrm>
          <a:prstGeom prst="rect">
            <a:avLst/>
          </a:prstGeom>
          <a:noFill/>
          <a:effectLst/>
        </p:spPr>
        <p:txBody>
          <a:bodyPr wrap="square" lIns="0" rIns="0" tIns="0" bIns="0" anchor="t">
            <a:spAutoFit/>
          </a:bodyPr>
          <a:lstStyle/>
          <a:p>
            <a:pPr>
              <a:lnSpc>
                <a:spcPct val="112000"/>
              </a:lnSpc>
              <a:spcAft>
                <a:spcPts val="500"/>
              </a:spcAft>
              <a:defRPr sz="1200" b="0">
                <a:solidFill>
                  <a:srgbClr val="617793"/>
                </a:solidFill>
                <a:latin typeface="Arial"/>
              </a:defRPr>
            </a:pPr>
            <a:r>
              <a:t>Avisar a otro operador → destinatario → mensaje → Enviar aviso interno.</a:t>
            </a:r>
          </a:p>
        </p:txBody>
      </p:sp>
      <p:sp>
        <p:nvSpPr>
          <p:cNvPr id="14" name="TextBox 13"/>
          <p:cNvSpPr txBox="1"/>
          <p:nvPr/>
        </p:nvSpPr>
        <p:spPr>
          <a:xfrm>
            <a:off x="6355080" y="5925312"/>
            <a:ext cx="5120640" cy="438912"/>
          </a:xfrm>
          <a:prstGeom prst="rect">
            <a:avLst/>
          </a:prstGeom>
          <a:noFill/>
          <a:effectLst/>
        </p:spPr>
        <p:txBody>
          <a:bodyPr wrap="square" lIns="0" rIns="0" tIns="0" bIns="0" anchor="t">
            <a:spAutoFit/>
          </a:bodyPr>
          <a:lstStyle/>
          <a:p>
            <a:pPr>
              <a:lnSpc>
                <a:spcPct val="112000"/>
              </a:lnSpc>
              <a:spcAft>
                <a:spcPts val="500"/>
              </a:spcAft>
              <a:defRPr sz="1200" b="0">
                <a:solidFill>
                  <a:srgbClr val="617793"/>
                </a:solidFill>
                <a:latin typeface="Arial"/>
              </a:defRPr>
            </a:pPr>
            <a:r>
              <a:t>Recibidos → Abrir espacio → Recibido. El remitente lo ve en Enviados.</a:t>
            </a:r>
          </a:p>
        </p:txBody>
      </p:sp>
      <p:sp>
        <p:nvSpPr>
          <p:cNvPr id="15" name="Rectangle 14"/>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17" name="TextBox 16">
            <a:hlinkClick action="ppaction://hlinksldjump" r:id="rId6"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18" name="TextBox 17">
            <a:hlinkClick action="ppaction://hlinksldjump" r:id="rId7"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19" name="TextBox 18">
            <a:hlinkClick action="ppaction://hlinksldjump" r:id="rId8"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20" name="TextBox 19">
            <a:hlinkClick action="ppaction://hlinksldjump" r:id="rId9"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21" name="TextBox 20">
            <a:hlinkClick action="ppaction://hlinksldjump" r:id="rId10"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22" name="TextBox 21">
            <a:hlinkClick action="ppaction://hlinksldjump" r:id="rId11"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23" name="TextBox 22">
            <a:hlinkClick action="ppaction://hlinksldjump" r:id="rId12"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24" name="TextBox 23"/>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19 / 33</a:t>
            </a:r>
          </a:p>
        </p:txBody>
      </p:sp>
    </p:spTree>
  </p:cSld>
  <p:clrMapOvr>
    <a:masterClrMapping/>
  </p:clrMapOvr>
  <p:transition advClick="1"/>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EQUIPO Y RECORDATORIOS</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Coordina sin duplicar esfuerzos</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El CRM muestra quién está viendo la misma ficha y recuerda lo próximo a vencer.</a:t>
            </a:r>
          </a:p>
        </p:txBody>
      </p:sp>
      <p:sp>
        <p:nvSpPr>
          <p:cNvPr id="7" name="Rounded Rectangle 6"/>
          <p:cNvSpPr/>
          <p:nvPr/>
        </p:nvSpPr>
        <p:spPr>
          <a:xfrm>
            <a:off x="594360" y="2267712"/>
            <a:ext cx="5486400" cy="3319272"/>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41248" y="2505456"/>
            <a:ext cx="4937760" cy="438912"/>
          </a:xfrm>
          <a:prstGeom prst="rect">
            <a:avLst/>
          </a:prstGeom>
          <a:noFill/>
          <a:effectLst/>
        </p:spPr>
        <p:txBody>
          <a:bodyPr wrap="square" lIns="0" rIns="0" tIns="0" bIns="0" anchor="t">
            <a:spAutoFit/>
          </a:bodyPr>
          <a:lstStyle/>
          <a:p>
            <a:pPr>
              <a:lnSpc>
                <a:spcPct val="112000"/>
              </a:lnSpc>
              <a:spcAft>
                <a:spcPts val="500"/>
              </a:spcAft>
              <a:defRPr sz="2600" b="1">
                <a:solidFill>
                  <a:srgbClr val="2957A4"/>
                </a:solidFill>
                <a:latin typeface="Arial"/>
              </a:defRPr>
            </a:pPr>
            <a:r>
              <a:t>Viendo ahora</a:t>
            </a:r>
          </a:p>
        </p:txBody>
      </p:sp>
      <p:sp>
        <p:nvSpPr>
          <p:cNvPr id="9" name="Rounded Rectangle 8"/>
          <p:cNvSpPr/>
          <p:nvPr/>
        </p:nvSpPr>
        <p:spPr>
          <a:xfrm>
            <a:off x="841248" y="3218688"/>
            <a:ext cx="4992624" cy="1005840"/>
          </a:xfrm>
          <a:prstGeom prst="roundRect">
            <a:avLst>
              <a:gd name="adj" fmla="val 8000"/>
            </a:avLst>
          </a:prstGeom>
          <a:solidFill>
            <a:srgbClr val="FFF3C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005840" y="3410712"/>
            <a:ext cx="4645152" cy="795528"/>
          </a:xfrm>
          <a:prstGeom prst="rect">
            <a:avLst/>
          </a:prstGeom>
          <a:noFill/>
          <a:effectLst/>
        </p:spPr>
        <p:txBody>
          <a:bodyPr wrap="square" lIns="0" rIns="0" tIns="0" bIns="0" anchor="t">
            <a:spAutoFit/>
          </a:bodyPr>
          <a:lstStyle/>
          <a:p>
            <a:pPr>
              <a:lnSpc>
                <a:spcPct val="112000"/>
              </a:lnSpc>
              <a:spcAft>
                <a:spcPts val="500"/>
              </a:spcAft>
              <a:defRPr sz="2000" b="1">
                <a:solidFill>
                  <a:srgbClr val="8A610E"/>
                </a:solidFill>
                <a:latin typeface="Arial"/>
              </a:defRPr>
            </a:pPr>
            <a:r>
              <a:t>Jaruska también tiene abierto</a:t>
            </a:r>
          </a:p>
          <a:p>
            <a:pPr>
              <a:lnSpc>
                <a:spcPct val="112000"/>
              </a:lnSpc>
              <a:spcAft>
                <a:spcPts val="500"/>
              </a:spcAft>
              <a:defRPr sz="2000" b="1">
                <a:solidFill>
                  <a:srgbClr val="8A610E"/>
                </a:solidFill>
                <a:latin typeface="Arial"/>
              </a:defRPr>
            </a:pPr>
            <a:r>
              <a:t>este espacio en otra PC</a:t>
            </a:r>
          </a:p>
        </p:txBody>
      </p:sp>
      <p:sp>
        <p:nvSpPr>
          <p:cNvPr id="11" name="TextBox 10"/>
          <p:cNvSpPr txBox="1"/>
          <p:nvPr/>
        </p:nvSpPr>
        <p:spPr>
          <a:xfrm>
            <a:off x="886968" y="4590288"/>
            <a:ext cx="4846320" cy="731520"/>
          </a:xfrm>
          <a:prstGeom prst="rect">
            <a:avLst/>
          </a:prstGeom>
          <a:noFill/>
          <a:effectLst/>
        </p:spPr>
        <p:txBody>
          <a:bodyPr wrap="square" lIns="0" rIns="0" tIns="0" bIns="0" anchor="t">
            <a:spAutoFit/>
          </a:bodyPr>
          <a:lstStyle/>
          <a:p>
            <a:pPr>
              <a:lnSpc>
                <a:spcPct val="112000"/>
              </a:lnSpc>
              <a:spcAft>
                <a:spcPts val="500"/>
              </a:spcAft>
              <a:defRPr sz="1700" b="0">
                <a:solidFill>
                  <a:srgbClr val="1D3555"/>
                </a:solidFill>
                <a:latin typeface="Arial"/>
              </a:defRPr>
            </a:pPr>
            <a:r>
              <a:t>Coordinen quién registra cada cambio.</a:t>
            </a:r>
          </a:p>
          <a:p>
            <a:pPr>
              <a:lnSpc>
                <a:spcPct val="112000"/>
              </a:lnSpc>
              <a:spcAft>
                <a:spcPts val="500"/>
              </a:spcAft>
              <a:defRPr sz="1700" b="0">
                <a:solidFill>
                  <a:srgbClr val="1D3555"/>
                </a:solidFill>
                <a:latin typeface="Arial"/>
              </a:defRPr>
            </a:pPr>
            <a:r>
              <a:t>La cinta avisa; no bloquea la edición.</a:t>
            </a:r>
          </a:p>
        </p:txBody>
      </p:sp>
      <p:sp>
        <p:nvSpPr>
          <p:cNvPr id="12" name="Rounded Rectangle 11"/>
          <p:cNvSpPr/>
          <p:nvPr/>
        </p:nvSpPr>
        <p:spPr>
          <a:xfrm>
            <a:off x="6400800" y="2331720"/>
            <a:ext cx="5193792" cy="93268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601968" y="2514600"/>
            <a:ext cx="1371600" cy="475488"/>
          </a:xfrm>
          <a:prstGeom prst="rect">
            <a:avLst/>
          </a:prstGeom>
          <a:noFill/>
          <a:effectLst/>
        </p:spPr>
        <p:txBody>
          <a:bodyPr wrap="square" lIns="0" rIns="0" tIns="0" bIns="0" anchor="t">
            <a:spAutoFit/>
          </a:bodyPr>
          <a:lstStyle/>
          <a:p>
            <a:pPr>
              <a:lnSpc>
                <a:spcPct val="112000"/>
              </a:lnSpc>
              <a:spcAft>
                <a:spcPts val="500"/>
              </a:spcAft>
              <a:defRPr sz="2500" b="1">
                <a:solidFill>
                  <a:srgbClr val="2957A4"/>
                </a:solidFill>
                <a:latin typeface="Arial"/>
              </a:defRPr>
            </a:pPr>
            <a:r>
              <a:t>15 min</a:t>
            </a:r>
          </a:p>
        </p:txBody>
      </p:sp>
      <p:sp>
        <p:nvSpPr>
          <p:cNvPr id="14" name="TextBox 13"/>
          <p:cNvSpPr txBox="1"/>
          <p:nvPr/>
        </p:nvSpPr>
        <p:spPr>
          <a:xfrm>
            <a:off x="8156448" y="2478024"/>
            <a:ext cx="3182112"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Antes de una reunión</a:t>
            </a:r>
          </a:p>
        </p:txBody>
      </p:sp>
      <p:sp>
        <p:nvSpPr>
          <p:cNvPr id="15" name="TextBox 14"/>
          <p:cNvSpPr txBox="1"/>
          <p:nvPr/>
        </p:nvSpPr>
        <p:spPr>
          <a:xfrm>
            <a:off x="8156448" y="2862072"/>
            <a:ext cx="3182112" cy="310896"/>
          </a:xfrm>
          <a:prstGeom prst="rect">
            <a:avLst/>
          </a:prstGeom>
          <a:noFill/>
          <a:effectLst/>
        </p:spPr>
        <p:txBody>
          <a:bodyPr wrap="square" lIns="0" rIns="0" tIns="0" bIns="0" anchor="t">
            <a:spAutoFit/>
          </a:bodyPr>
          <a:lstStyle/>
          <a:p>
            <a:pPr>
              <a:lnSpc>
                <a:spcPct val="112000"/>
              </a:lnSpc>
              <a:spcAft>
                <a:spcPts val="500"/>
              </a:spcAft>
              <a:defRPr sz="1250" b="0">
                <a:solidFill>
                  <a:srgbClr val="617793"/>
                </a:solidFill>
                <a:latin typeface="Arial"/>
              </a:defRPr>
            </a:pPr>
            <a:r>
              <a:t>Revisa la campana y abre el contacto.</a:t>
            </a:r>
          </a:p>
        </p:txBody>
      </p:sp>
      <p:sp>
        <p:nvSpPr>
          <p:cNvPr id="16" name="Rounded Rectangle 15"/>
          <p:cNvSpPr/>
          <p:nvPr/>
        </p:nvSpPr>
        <p:spPr>
          <a:xfrm>
            <a:off x="6400800" y="3483864"/>
            <a:ext cx="5193792" cy="93268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601968" y="3666744"/>
            <a:ext cx="1371600" cy="475488"/>
          </a:xfrm>
          <a:prstGeom prst="rect">
            <a:avLst/>
          </a:prstGeom>
          <a:noFill/>
          <a:effectLst/>
        </p:spPr>
        <p:txBody>
          <a:bodyPr wrap="square" lIns="0" rIns="0" tIns="0" bIns="0" anchor="t">
            <a:spAutoFit/>
          </a:bodyPr>
          <a:lstStyle/>
          <a:p>
            <a:pPr>
              <a:lnSpc>
                <a:spcPct val="112000"/>
              </a:lnSpc>
              <a:spcAft>
                <a:spcPts val="500"/>
              </a:spcAft>
              <a:defRPr sz="2500" b="1">
                <a:solidFill>
                  <a:srgbClr val="2957A4"/>
                </a:solidFill>
                <a:latin typeface="Arial"/>
              </a:defRPr>
            </a:pPr>
            <a:r>
              <a:t>1 hora</a:t>
            </a:r>
          </a:p>
        </p:txBody>
      </p:sp>
      <p:sp>
        <p:nvSpPr>
          <p:cNvPr id="18" name="TextBox 17"/>
          <p:cNvSpPr txBox="1"/>
          <p:nvPr/>
        </p:nvSpPr>
        <p:spPr>
          <a:xfrm>
            <a:off x="8156448" y="3630168"/>
            <a:ext cx="3182112"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Antes de vencer una tarea</a:t>
            </a:r>
          </a:p>
        </p:txBody>
      </p:sp>
      <p:sp>
        <p:nvSpPr>
          <p:cNvPr id="19" name="TextBox 18"/>
          <p:cNvSpPr txBox="1"/>
          <p:nvPr/>
        </p:nvSpPr>
        <p:spPr>
          <a:xfrm>
            <a:off x="8156448" y="4014215"/>
            <a:ext cx="3182112" cy="310896"/>
          </a:xfrm>
          <a:prstGeom prst="rect">
            <a:avLst/>
          </a:prstGeom>
          <a:noFill/>
          <a:effectLst/>
        </p:spPr>
        <p:txBody>
          <a:bodyPr wrap="square" lIns="0" rIns="0" tIns="0" bIns="0" anchor="t">
            <a:spAutoFit/>
          </a:bodyPr>
          <a:lstStyle/>
          <a:p>
            <a:pPr>
              <a:lnSpc>
                <a:spcPct val="112000"/>
              </a:lnSpc>
              <a:spcAft>
                <a:spcPts val="500"/>
              </a:spcAft>
              <a:defRPr sz="1250" b="0">
                <a:solidFill>
                  <a:srgbClr val="617793"/>
                </a:solidFill>
                <a:latin typeface="Arial"/>
              </a:defRPr>
            </a:pPr>
            <a:r>
              <a:t>También se muestran las vencidas.</a:t>
            </a:r>
          </a:p>
        </p:txBody>
      </p:sp>
      <p:sp>
        <p:nvSpPr>
          <p:cNvPr id="20" name="Rounded Rectangle 19"/>
          <p:cNvSpPr/>
          <p:nvPr/>
        </p:nvSpPr>
        <p:spPr>
          <a:xfrm>
            <a:off x="6400800" y="4636008"/>
            <a:ext cx="5193792" cy="93268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601968" y="4818888"/>
            <a:ext cx="1371600" cy="475488"/>
          </a:xfrm>
          <a:prstGeom prst="rect">
            <a:avLst/>
          </a:prstGeom>
          <a:noFill/>
          <a:effectLst/>
        </p:spPr>
        <p:txBody>
          <a:bodyPr wrap="square" lIns="0" rIns="0" tIns="0" bIns="0" anchor="t">
            <a:spAutoFit/>
          </a:bodyPr>
          <a:lstStyle/>
          <a:p>
            <a:pPr>
              <a:lnSpc>
                <a:spcPct val="112000"/>
              </a:lnSpc>
              <a:spcAft>
                <a:spcPts val="500"/>
              </a:spcAft>
              <a:defRPr sz="2500" b="1">
                <a:solidFill>
                  <a:srgbClr val="2957A4"/>
                </a:solidFill>
                <a:latin typeface="Arial"/>
              </a:defRPr>
            </a:pPr>
            <a:r>
              <a:t>17:00</a:t>
            </a:r>
          </a:p>
        </p:txBody>
      </p:sp>
      <p:sp>
        <p:nvSpPr>
          <p:cNvPr id="22" name="TextBox 21"/>
          <p:cNvSpPr txBox="1"/>
          <p:nvPr/>
        </p:nvSpPr>
        <p:spPr>
          <a:xfrm>
            <a:off x="8156448" y="4782312"/>
            <a:ext cx="3182112"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Si la tarea no tiene hora</a:t>
            </a:r>
          </a:p>
        </p:txBody>
      </p:sp>
      <p:sp>
        <p:nvSpPr>
          <p:cNvPr id="23" name="TextBox 22"/>
          <p:cNvSpPr txBox="1"/>
          <p:nvPr/>
        </p:nvSpPr>
        <p:spPr>
          <a:xfrm>
            <a:off x="8156448" y="5166360"/>
            <a:ext cx="3182112" cy="310896"/>
          </a:xfrm>
          <a:prstGeom prst="rect">
            <a:avLst/>
          </a:prstGeom>
          <a:noFill/>
          <a:effectLst/>
        </p:spPr>
        <p:txBody>
          <a:bodyPr wrap="square" lIns="0" rIns="0" tIns="0" bIns="0" anchor="t">
            <a:spAutoFit/>
          </a:bodyPr>
          <a:lstStyle/>
          <a:p>
            <a:pPr>
              <a:lnSpc>
                <a:spcPct val="112000"/>
              </a:lnSpc>
              <a:spcAft>
                <a:spcPts val="500"/>
              </a:spcAft>
              <a:defRPr sz="1250" b="0">
                <a:solidFill>
                  <a:srgbClr val="617793"/>
                </a:solidFill>
                <a:latin typeface="Arial"/>
              </a:defRPr>
            </a:pPr>
            <a:r>
              <a:t>Se usa el horario de Perú.</a:t>
            </a:r>
          </a:p>
        </p:txBody>
      </p:sp>
      <p:sp>
        <p:nvSpPr>
          <p:cNvPr id="24" name="Rounded Rectangle 23"/>
          <p:cNvSpPr/>
          <p:nvPr/>
        </p:nvSpPr>
        <p:spPr>
          <a:xfrm>
            <a:off x="502920" y="5870448"/>
            <a:ext cx="11183112" cy="41148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640080" y="5934456"/>
            <a:ext cx="10908792" cy="301752"/>
          </a:xfrm>
          <a:prstGeom prst="rect">
            <a:avLst/>
          </a:prstGeom>
          <a:noFill/>
          <a:effectLst/>
        </p:spPr>
        <p:txBody>
          <a:bodyPr wrap="square" lIns="0" rIns="0" tIns="0" bIns="0" anchor="t">
            <a:spAutoFit/>
          </a:bodyPr>
          <a:lstStyle/>
          <a:p>
            <a:pPr>
              <a:lnSpc>
                <a:spcPct val="112000"/>
              </a:lnSpc>
              <a:spcAft>
                <a:spcPts val="500"/>
              </a:spcAft>
              <a:defRPr sz="1250" b="0">
                <a:solidFill>
                  <a:srgbClr val="2957A4"/>
                </a:solidFill>
                <a:latin typeface="Arial"/>
              </a:defRPr>
            </a:pPr>
            <a:r>
              <a:t>Los recordatorios aparecen mientras el CRM está abierto y hay un operador seleccionado.</a:t>
            </a:r>
          </a:p>
        </p:txBody>
      </p:sp>
      <p:sp>
        <p:nvSpPr>
          <p:cNvPr id="26" name="Rectangle 25"/>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28" name="TextBox 27">
            <a:hlinkClick action="ppaction://hlinksldjump" r:id="rId4"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29" name="TextBox 28">
            <a:hlinkClick action="ppaction://hlinksldjump" r:id="rId5"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30" name="TextBox 29">
            <a:hlinkClick action="ppaction://hlinksldjump" r:id="rId6"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31" name="TextBox 30">
            <a:hlinkClick action="ppaction://hlinksldjump" r:id="rId7"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32" name="TextBox 31">
            <a:hlinkClick action="ppaction://hlinksldjump" r:id="rId8"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3" name="TextBox 32">
            <a:hlinkClick action="ppaction://hlinksldjump" r:id="rId9"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34" name="TextBox 33">
            <a:hlinkClick action="ppaction://hlinksldjump" r:id="rId6"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5" name="TextBox 34"/>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20 / 33</a:t>
            </a:r>
          </a:p>
        </p:txBody>
      </p:sp>
    </p:spTree>
  </p:cSld>
  <p:clrMapOvr>
    <a:masterClrMapping/>
  </p:clrMapOvr>
  <p:transition advClick="1"/>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REPORTES Y CONTINUIDAD</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Centro de datos: del seguimiento al reporte</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Elige período e integrante. Descarga el Excel maestro o un PDF para revisión y reuniones.</a:t>
            </a:r>
          </a:p>
        </p:txBody>
      </p:sp>
      <p:sp>
        <p:nvSpPr>
          <p:cNvPr id="7" name="Rounded Rectangle 6"/>
          <p:cNvSpPr/>
          <p:nvPr/>
        </p:nvSpPr>
        <p:spPr>
          <a:xfrm>
            <a:off x="594360" y="2231136"/>
            <a:ext cx="5632704" cy="3557016"/>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50392" y="2496312"/>
            <a:ext cx="5120640" cy="438912"/>
          </a:xfrm>
          <a:prstGeom prst="rect">
            <a:avLst/>
          </a:prstGeom>
          <a:noFill/>
          <a:effectLst/>
        </p:spPr>
        <p:txBody>
          <a:bodyPr wrap="square" lIns="0" rIns="0" tIns="0" bIns="0" anchor="t">
            <a:spAutoFit/>
          </a:bodyPr>
          <a:lstStyle/>
          <a:p>
            <a:pPr>
              <a:lnSpc>
                <a:spcPct val="112000"/>
              </a:lnSpc>
              <a:spcAft>
                <a:spcPts val="500"/>
              </a:spcAft>
              <a:defRPr sz="2500" b="1">
                <a:solidFill>
                  <a:srgbClr val="2957A4"/>
                </a:solidFill>
                <a:latin typeface="Arial"/>
              </a:defRPr>
            </a:pPr>
            <a:r>
              <a:t>5 hojas en un solo Excel</a:t>
            </a:r>
          </a:p>
        </p:txBody>
      </p:sp>
      <p:sp>
        <p:nvSpPr>
          <p:cNvPr id="9" name="Rounded Rectangle 8"/>
          <p:cNvSpPr/>
          <p:nvPr/>
        </p:nvSpPr>
        <p:spPr>
          <a:xfrm>
            <a:off x="868680" y="3200400"/>
            <a:ext cx="5093208" cy="32918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014984" y="3236976"/>
            <a:ext cx="4754880" cy="274320"/>
          </a:xfrm>
          <a:prstGeom prst="rect">
            <a:avLst/>
          </a:prstGeom>
          <a:noFill/>
          <a:effectLst/>
        </p:spPr>
        <p:txBody>
          <a:bodyPr wrap="square" lIns="0" rIns="0" tIns="0" bIns="0" anchor="t">
            <a:spAutoFit/>
          </a:bodyPr>
          <a:lstStyle/>
          <a:p>
            <a:pPr>
              <a:lnSpc>
                <a:spcPct val="112000"/>
              </a:lnSpc>
              <a:spcAft>
                <a:spcPts val="500"/>
              </a:spcAft>
              <a:defRPr sz="1500" b="0">
                <a:solidFill>
                  <a:srgbClr val="1D3555"/>
                </a:solidFill>
                <a:latin typeface="Courier New"/>
              </a:defRPr>
            </a:pPr>
            <a:r>
              <a:t>1_Resumen_KPIs</a:t>
            </a:r>
          </a:p>
        </p:txBody>
      </p:sp>
      <p:sp>
        <p:nvSpPr>
          <p:cNvPr id="11" name="Rounded Rectangle 10"/>
          <p:cNvSpPr/>
          <p:nvPr/>
        </p:nvSpPr>
        <p:spPr>
          <a:xfrm>
            <a:off x="868680" y="3630168"/>
            <a:ext cx="5093208" cy="32918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14984" y="3666744"/>
            <a:ext cx="4754880" cy="274320"/>
          </a:xfrm>
          <a:prstGeom prst="rect">
            <a:avLst/>
          </a:prstGeom>
          <a:noFill/>
          <a:effectLst/>
        </p:spPr>
        <p:txBody>
          <a:bodyPr wrap="square" lIns="0" rIns="0" tIns="0" bIns="0" anchor="t">
            <a:spAutoFit/>
          </a:bodyPr>
          <a:lstStyle/>
          <a:p>
            <a:pPr>
              <a:lnSpc>
                <a:spcPct val="112000"/>
              </a:lnSpc>
              <a:spcAft>
                <a:spcPts val="500"/>
              </a:spcAft>
              <a:defRPr sz="1500" b="0">
                <a:solidFill>
                  <a:srgbClr val="1D3555"/>
                </a:solidFill>
                <a:latin typeface="Courier New"/>
              </a:defRPr>
            </a:pPr>
            <a:r>
              <a:t>2_Agenda_Espacios</a:t>
            </a:r>
          </a:p>
        </p:txBody>
      </p:sp>
      <p:sp>
        <p:nvSpPr>
          <p:cNvPr id="13" name="Rounded Rectangle 12"/>
          <p:cNvSpPr/>
          <p:nvPr/>
        </p:nvSpPr>
        <p:spPr>
          <a:xfrm>
            <a:off x="868680" y="4059935"/>
            <a:ext cx="5093208" cy="32918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014984" y="4096512"/>
            <a:ext cx="4754880" cy="274320"/>
          </a:xfrm>
          <a:prstGeom prst="rect">
            <a:avLst/>
          </a:prstGeom>
          <a:noFill/>
          <a:effectLst/>
        </p:spPr>
        <p:txBody>
          <a:bodyPr wrap="square" lIns="0" rIns="0" tIns="0" bIns="0" anchor="t">
            <a:spAutoFit/>
          </a:bodyPr>
          <a:lstStyle/>
          <a:p>
            <a:pPr>
              <a:lnSpc>
                <a:spcPct val="112000"/>
              </a:lnSpc>
              <a:spcAft>
                <a:spcPts val="500"/>
              </a:spcAft>
              <a:defRPr sz="1500" b="0">
                <a:solidFill>
                  <a:srgbClr val="1D3555"/>
                </a:solidFill>
                <a:latin typeface="Courier New"/>
              </a:defRPr>
            </a:pPr>
            <a:r>
              <a:t>3_Tareas_y_CUTs</a:t>
            </a:r>
          </a:p>
        </p:txBody>
      </p:sp>
      <p:sp>
        <p:nvSpPr>
          <p:cNvPr id="15" name="Rounded Rectangle 14"/>
          <p:cNvSpPr/>
          <p:nvPr/>
        </p:nvSpPr>
        <p:spPr>
          <a:xfrm>
            <a:off x="868680" y="4489704"/>
            <a:ext cx="5093208" cy="32918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014984" y="4526280"/>
            <a:ext cx="4754880" cy="274320"/>
          </a:xfrm>
          <a:prstGeom prst="rect">
            <a:avLst/>
          </a:prstGeom>
          <a:noFill/>
          <a:effectLst/>
        </p:spPr>
        <p:txBody>
          <a:bodyPr wrap="square" lIns="0" rIns="0" tIns="0" bIns="0" anchor="t">
            <a:spAutoFit/>
          </a:bodyPr>
          <a:lstStyle/>
          <a:p>
            <a:pPr>
              <a:lnSpc>
                <a:spcPct val="112000"/>
              </a:lnSpc>
              <a:spcAft>
                <a:spcPts val="500"/>
              </a:spcAft>
              <a:defRPr sz="1500" b="0">
                <a:solidFill>
                  <a:srgbClr val="1D3555"/>
                </a:solidFill>
                <a:latin typeface="Courier New"/>
              </a:defRPr>
            </a:pPr>
            <a:r>
              <a:t>4_Bitacora_Historica</a:t>
            </a:r>
          </a:p>
        </p:txBody>
      </p:sp>
      <p:sp>
        <p:nvSpPr>
          <p:cNvPr id="17" name="Rounded Rectangle 16"/>
          <p:cNvSpPr/>
          <p:nvPr/>
        </p:nvSpPr>
        <p:spPr>
          <a:xfrm>
            <a:off x="868680" y="4919472"/>
            <a:ext cx="5093208" cy="32918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14984" y="4956048"/>
            <a:ext cx="4754880" cy="274320"/>
          </a:xfrm>
          <a:prstGeom prst="rect">
            <a:avLst/>
          </a:prstGeom>
          <a:noFill/>
          <a:effectLst/>
        </p:spPr>
        <p:txBody>
          <a:bodyPr wrap="square" lIns="0" rIns="0" tIns="0" bIns="0" anchor="t">
            <a:spAutoFit/>
          </a:bodyPr>
          <a:lstStyle/>
          <a:p>
            <a:pPr>
              <a:lnSpc>
                <a:spcPct val="112000"/>
              </a:lnSpc>
              <a:spcAft>
                <a:spcPts val="500"/>
              </a:spcAft>
              <a:defRPr sz="1500" b="0">
                <a:solidFill>
                  <a:srgbClr val="1D3555"/>
                </a:solidFill>
                <a:latin typeface="Courier New"/>
              </a:defRPr>
            </a:pPr>
            <a:r>
              <a:t>5_Reuniones_Acuerdos</a:t>
            </a:r>
          </a:p>
        </p:txBody>
      </p:sp>
      <p:sp>
        <p:nvSpPr>
          <p:cNvPr id="19" name="Rounded Rectangle 18"/>
          <p:cNvSpPr/>
          <p:nvPr/>
        </p:nvSpPr>
        <p:spPr>
          <a:xfrm>
            <a:off x="6556248" y="2313432"/>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592824" y="2345436"/>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1</a:t>
            </a:r>
          </a:p>
        </p:txBody>
      </p:sp>
      <p:sp>
        <p:nvSpPr>
          <p:cNvPr id="21" name="TextBox 20"/>
          <p:cNvSpPr txBox="1"/>
          <p:nvPr/>
        </p:nvSpPr>
        <p:spPr>
          <a:xfrm>
            <a:off x="7150608" y="2286000"/>
            <a:ext cx="4206240"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Define qué vas a revisar</a:t>
            </a:r>
          </a:p>
        </p:txBody>
      </p:sp>
      <p:sp>
        <p:nvSpPr>
          <p:cNvPr id="22" name="TextBox 21"/>
          <p:cNvSpPr txBox="1"/>
          <p:nvPr/>
        </p:nvSpPr>
        <p:spPr>
          <a:xfrm>
            <a:off x="7150608" y="2715768"/>
            <a:ext cx="4206240"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Semana, mes, rango personalizado o historial; todo el equipo o un integrante.</a:t>
            </a:r>
          </a:p>
        </p:txBody>
      </p:sp>
      <p:sp>
        <p:nvSpPr>
          <p:cNvPr id="23" name="Rounded Rectangle 22"/>
          <p:cNvSpPr/>
          <p:nvPr/>
        </p:nvSpPr>
        <p:spPr>
          <a:xfrm>
            <a:off x="6556248" y="3575303"/>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592824" y="3607308"/>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2</a:t>
            </a:r>
          </a:p>
        </p:txBody>
      </p:sp>
      <p:sp>
        <p:nvSpPr>
          <p:cNvPr id="25" name="TextBox 24"/>
          <p:cNvSpPr txBox="1"/>
          <p:nvPr/>
        </p:nvSpPr>
        <p:spPr>
          <a:xfrm>
            <a:off x="7150608" y="3547872"/>
            <a:ext cx="4206240"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Descarga el reporte</a:t>
            </a:r>
          </a:p>
        </p:txBody>
      </p:sp>
      <p:sp>
        <p:nvSpPr>
          <p:cNvPr id="26" name="TextBox 25"/>
          <p:cNvSpPr txBox="1"/>
          <p:nvPr/>
        </p:nvSpPr>
        <p:spPr>
          <a:xfrm>
            <a:off x="7150608" y="3977639"/>
            <a:ext cx="4206240"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Descargar .xlsx o Descargar reporte PDF.</a:t>
            </a:r>
          </a:p>
        </p:txBody>
      </p:sp>
      <p:sp>
        <p:nvSpPr>
          <p:cNvPr id="27" name="Rounded Rectangle 26"/>
          <p:cNvSpPr/>
          <p:nvPr/>
        </p:nvSpPr>
        <p:spPr>
          <a:xfrm>
            <a:off x="6556248" y="4736592"/>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592824" y="4768596"/>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3</a:t>
            </a:r>
          </a:p>
        </p:txBody>
      </p:sp>
      <p:sp>
        <p:nvSpPr>
          <p:cNvPr id="29" name="TextBox 28"/>
          <p:cNvSpPr txBox="1"/>
          <p:nvPr/>
        </p:nvSpPr>
        <p:spPr>
          <a:xfrm>
            <a:off x="7150608" y="4709160"/>
            <a:ext cx="4206240"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Explora el libro</a:t>
            </a:r>
          </a:p>
        </p:txBody>
      </p:sp>
      <p:sp>
        <p:nvSpPr>
          <p:cNvPr id="30" name="TextBox 29"/>
          <p:cNvSpPr txBox="1"/>
          <p:nvPr/>
        </p:nvSpPr>
        <p:spPr>
          <a:xfrm>
            <a:off x="7150608" y="5138928"/>
            <a:ext cx="4206240"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Incluye cinco tablas y tres tablas dinámicas nativas para reorganizar en Excel.</a:t>
            </a:r>
          </a:p>
        </p:txBody>
      </p:sp>
      <p:sp>
        <p:nvSpPr>
          <p:cNvPr id="31" name="Rectangle 30"/>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33" name="TextBox 32">
            <a:hlinkClick action="ppaction://hlinksldjump" r:id="rId4"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34" name="TextBox 33">
            <a:hlinkClick action="ppaction://hlinksldjump" r:id="rId5"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35" name="TextBox 34">
            <a:hlinkClick action="ppaction://hlinksldjump" r:id="rId6"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36" name="TextBox 35">
            <a:hlinkClick action="ppaction://hlinksldjump" r:id="rId7"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37" name="TextBox 36">
            <a:hlinkClick action="ppaction://hlinksldjump" r:id="rId8"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8" name="TextBox 37">
            <a:hlinkClick action="ppaction://hlinksldjump" r:id="rId9"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39" name="TextBox 38">
            <a:hlinkClick action="ppaction://hlinksldjump" r:id="rId10"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40" name="TextBox 39"/>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21 / 33</a:t>
            </a:r>
          </a:p>
        </p:txBody>
      </p:sp>
    </p:spTree>
  </p:cSld>
  <p:clrMapOvr>
    <a:masterClrMapping/>
  </p:clrMapOvr>
  <p:transition advClick="1"/>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REPORTES Y CONTINUIDAD</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Power BI: analiza el CRM desde Windows</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Usa Power BI Desktop para trabajo local. El proyecto preparado se conecta a la API o a un Excel descargado.</a:t>
            </a:r>
          </a:p>
        </p:txBody>
      </p:sp>
      <p:sp>
        <p:nvSpPr>
          <p:cNvPr id="7" name="Rounded Rectangle 6"/>
          <p:cNvSpPr/>
          <p:nvPr/>
        </p:nvSpPr>
        <p:spPr>
          <a:xfrm>
            <a:off x="594360" y="2267712"/>
            <a:ext cx="5303520" cy="3236976"/>
          </a:xfrm>
          <a:prstGeom prst="roundRect">
            <a:avLst>
              <a:gd name="adj" fmla="val 8000"/>
            </a:avLst>
          </a:prstGeom>
          <a:solidFill>
            <a:srgbClr val="17345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68680" y="2551176"/>
            <a:ext cx="4736592" cy="512064"/>
          </a:xfrm>
          <a:prstGeom prst="rect">
            <a:avLst/>
          </a:prstGeom>
          <a:noFill/>
          <a:effectLst/>
        </p:spPr>
        <p:txBody>
          <a:bodyPr wrap="square" lIns="0" rIns="0" tIns="0" bIns="0" anchor="t">
            <a:spAutoFit/>
          </a:bodyPr>
          <a:lstStyle/>
          <a:p>
            <a:pPr>
              <a:lnSpc>
                <a:spcPct val="112000"/>
              </a:lnSpc>
              <a:spcAft>
                <a:spcPts val="500"/>
              </a:spcAft>
              <a:defRPr sz="2500" b="1">
                <a:solidFill>
                  <a:srgbClr val="FFFFFF"/>
                </a:solidFill>
                <a:latin typeface="Arial"/>
              </a:defRPr>
            </a:pPr>
            <a:r>
              <a:t>Uso local sin Power BI Pro</a:t>
            </a:r>
          </a:p>
        </p:txBody>
      </p:sp>
      <p:sp>
        <p:nvSpPr>
          <p:cNvPr id="9" name="TextBox 8"/>
          <p:cNvSpPr txBox="1"/>
          <p:nvPr/>
        </p:nvSpPr>
        <p:spPr>
          <a:xfrm>
            <a:off x="886968" y="3374136"/>
            <a:ext cx="4681728" cy="1645920"/>
          </a:xfrm>
          <a:prstGeom prst="rect">
            <a:avLst/>
          </a:prstGeom>
          <a:noFill/>
          <a:effectLst/>
        </p:spPr>
        <p:txBody>
          <a:bodyPr wrap="square" lIns="0" rIns="0" tIns="0" bIns="0" anchor="t">
            <a:spAutoFit/>
          </a:bodyPr>
          <a:lstStyle/>
          <a:p>
            <a:pPr>
              <a:lnSpc>
                <a:spcPct val="112000"/>
              </a:lnSpc>
              <a:spcAft>
                <a:spcPts val="500"/>
              </a:spcAft>
              <a:defRPr sz="1800" b="0">
                <a:solidFill>
                  <a:srgbClr val="FFFFFF"/>
                </a:solidFill>
                <a:latin typeface="Arial"/>
              </a:defRPr>
            </a:pPr>
            <a:r>
              <a:t>1  Instala Power BI Desktop en Windows.</a:t>
            </a:r>
          </a:p>
          <a:p>
            <a:pPr>
              <a:lnSpc>
                <a:spcPct val="112000"/>
              </a:lnSpc>
              <a:spcAft>
                <a:spcPts val="500"/>
              </a:spcAft>
              <a:defRPr sz="1800" b="0">
                <a:solidFill>
                  <a:srgbClr val="FFFFFF"/>
                </a:solidFill>
                <a:latin typeface="Arial"/>
              </a:defRPr>
            </a:pPr>
            <a:r>
              <a:t>2  Extrae todo el ZIP del proyecto.</a:t>
            </a:r>
          </a:p>
          <a:p>
            <a:pPr>
              <a:lnSpc>
                <a:spcPct val="112000"/>
              </a:lnSpc>
              <a:spcAft>
                <a:spcPts val="500"/>
              </a:spcAft>
              <a:defRPr sz="1800" b="0">
                <a:solidFill>
                  <a:srgbClr val="FFFFFF"/>
                </a:solidFill>
                <a:latin typeface="Arial"/>
              </a:defRPr>
            </a:pPr>
            <a:r>
              <a:t>3  Abre CRM_ANA.pbip.</a:t>
            </a:r>
          </a:p>
          <a:p>
            <a:pPr>
              <a:lnSpc>
                <a:spcPct val="112000"/>
              </a:lnSpc>
              <a:spcAft>
                <a:spcPts val="500"/>
              </a:spcAft>
              <a:defRPr sz="1800" b="0">
                <a:solidFill>
                  <a:srgbClr val="FFFFFF"/>
                </a:solidFill>
                <a:latin typeface="Arial"/>
              </a:defRPr>
            </a:pPr>
            <a:r>
              <a:t>4  Configura los parámetros y Actualizar.</a:t>
            </a:r>
          </a:p>
        </p:txBody>
      </p:sp>
      <p:sp>
        <p:nvSpPr>
          <p:cNvPr id="10" name="Rounded Rectangle 9"/>
          <p:cNvSpPr/>
          <p:nvPr/>
        </p:nvSpPr>
        <p:spPr>
          <a:xfrm>
            <a:off x="6272784" y="2267712"/>
            <a:ext cx="5303520" cy="3236976"/>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528816" y="2551176"/>
            <a:ext cx="4782312" cy="420624"/>
          </a:xfrm>
          <a:prstGeom prst="rect">
            <a:avLst/>
          </a:prstGeom>
          <a:noFill/>
          <a:effectLst/>
        </p:spPr>
        <p:txBody>
          <a:bodyPr wrap="square" lIns="0" rIns="0" tIns="0" bIns="0" anchor="t">
            <a:spAutoFit/>
          </a:bodyPr>
          <a:lstStyle/>
          <a:p>
            <a:pPr>
              <a:lnSpc>
                <a:spcPct val="112000"/>
              </a:lnSpc>
              <a:spcAft>
                <a:spcPts val="500"/>
              </a:spcAft>
              <a:defRPr sz="2300" b="1">
                <a:solidFill>
                  <a:srgbClr val="2957A4"/>
                </a:solidFill>
                <a:latin typeface="Arial"/>
              </a:defRPr>
            </a:pPr>
            <a:r>
              <a:t>Parámetros de conexión</a:t>
            </a:r>
          </a:p>
        </p:txBody>
      </p:sp>
      <p:sp>
        <p:nvSpPr>
          <p:cNvPr id="12" name="TextBox 11"/>
          <p:cNvSpPr txBox="1"/>
          <p:nvPr/>
        </p:nvSpPr>
        <p:spPr>
          <a:xfrm>
            <a:off x="6537960" y="3346704"/>
            <a:ext cx="4709160" cy="1417320"/>
          </a:xfrm>
          <a:prstGeom prst="rect">
            <a:avLst/>
          </a:prstGeom>
          <a:noFill/>
          <a:effectLst/>
        </p:spPr>
        <p:txBody>
          <a:bodyPr wrap="square" lIns="0" rIns="0" tIns="0" bIns="0" anchor="t">
            <a:spAutoFit/>
          </a:bodyPr>
          <a:lstStyle/>
          <a:p>
            <a:pPr>
              <a:lnSpc>
                <a:spcPct val="112000"/>
              </a:lnSpc>
              <a:spcAft>
                <a:spcPts val="500"/>
              </a:spcAft>
              <a:defRPr sz="1700" b="0">
                <a:solidFill>
                  <a:srgbClr val="1D3555"/>
                </a:solidFill>
                <a:latin typeface="Arial"/>
              </a:defRPr>
            </a:pPr>
            <a:r>
              <a:t>pOrigen: API</a:t>
            </a:r>
          </a:p>
          <a:p>
            <a:pPr>
              <a:lnSpc>
                <a:spcPct val="112000"/>
              </a:lnSpc>
              <a:spcAft>
                <a:spcPts val="500"/>
              </a:spcAft>
              <a:defRPr sz="1700" b="0">
                <a:solidFill>
                  <a:srgbClr val="1D3555"/>
                </a:solidFill>
                <a:latin typeface="Arial"/>
              </a:defRPr>
            </a:pPr>
            <a:r>
              <a:t>pBaseUrl: https://crm-whatsapp-ana.pages.dev</a:t>
            </a:r>
          </a:p>
          <a:p>
            <a:pPr>
              <a:lnSpc>
                <a:spcPct val="112000"/>
              </a:lnSpc>
              <a:spcAft>
                <a:spcPts val="500"/>
              </a:spcAft>
              <a:defRPr sz="1700" b="0">
                <a:solidFill>
                  <a:srgbClr val="1D3555"/>
                </a:solidFill>
                <a:latin typeface="Arial"/>
              </a:defRPr>
            </a:pPr>
            <a:r>
              <a:t>pTeamToken: tu token privado del equipo</a:t>
            </a:r>
          </a:p>
        </p:txBody>
      </p:sp>
      <p:sp>
        <p:nvSpPr>
          <p:cNvPr id="13" name="TextBox 12"/>
          <p:cNvSpPr txBox="1"/>
          <p:nvPr/>
        </p:nvSpPr>
        <p:spPr>
          <a:xfrm>
            <a:off x="6537960" y="4864608"/>
            <a:ext cx="4709160" cy="502920"/>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El token se introduce en Power BI; mantenlo fuera de archivos que compartas públicamente.</a:t>
            </a:r>
          </a:p>
        </p:txBody>
      </p:sp>
      <p:sp>
        <p:nvSpPr>
          <p:cNvPr id="14" name="Rounded Rectangle 13">
            <a:hlinkClick r:id="rId3" tooltip="Descargar proyecto .pbip  ↗"/>
          </p:cNvPr>
          <p:cNvSpPr/>
          <p:nvPr/>
        </p:nvSpPr>
        <p:spPr>
          <a:xfrm>
            <a:off x="850392" y="5806440"/>
            <a:ext cx="4507992" cy="43891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a:hlinkClick r:id="rId3" tooltip="Descargar proyecto .pbip  ↗"/>
          </p:cNvPr>
          <p:cNvSpPr txBox="1"/>
          <p:nvPr/>
        </p:nvSpPr>
        <p:spPr>
          <a:xfrm>
            <a:off x="941832" y="5820155"/>
            <a:ext cx="4325112" cy="411479"/>
          </a:xfrm>
          <a:prstGeom prst="rect">
            <a:avLst/>
          </a:prstGeom>
          <a:noFill/>
          <a:effectLst/>
        </p:spPr>
        <p:txBody>
          <a:bodyPr wrap="square" lIns="0" rIns="0" tIns="0" bIns="0" anchor="ctr">
            <a:spAutoFit/>
          </a:bodyPr>
          <a:lstStyle/>
          <a:p>
            <a:pPr algn="ctr">
              <a:lnSpc>
                <a:spcPct val="112000"/>
              </a:lnSpc>
              <a:spcAft>
                <a:spcPts val="500"/>
              </a:spcAft>
              <a:defRPr sz="1300" b="1">
                <a:solidFill>
                  <a:srgbClr val="FFFFFF"/>
                </a:solidFill>
                <a:latin typeface="Arial"/>
              </a:defRPr>
            </a:pPr>
            <a:r>
              <a:t>Descargar proyecto .pbip  ↗</a:t>
            </a:r>
          </a:p>
        </p:txBody>
      </p:sp>
      <p:sp>
        <p:nvSpPr>
          <p:cNvPr id="16" name="Rounded Rectangle 15">
            <a:hlinkClick r:id="rId4" tooltip="Abrir guía paso a paso  ↗"/>
          </p:cNvPr>
          <p:cNvSpPr/>
          <p:nvPr/>
        </p:nvSpPr>
        <p:spPr>
          <a:xfrm>
            <a:off x="6537960" y="5806440"/>
            <a:ext cx="4507992" cy="438912"/>
          </a:xfrm>
          <a:prstGeom prst="roundRect">
            <a:avLst>
              <a:gd name="adj" fmla="val 8000"/>
            </a:avLst>
          </a:prstGeom>
          <a:solidFill>
            <a:srgbClr val="FFFFFF"/>
          </a:solidFill>
          <a:ln w="10160">
            <a:solidFill>
              <a:srgbClr val="D8E3F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a:hlinkClick r:id="rId4" tooltip="Abrir guía paso a paso  ↗"/>
          </p:cNvPr>
          <p:cNvSpPr txBox="1"/>
          <p:nvPr/>
        </p:nvSpPr>
        <p:spPr>
          <a:xfrm>
            <a:off x="6629400" y="5820155"/>
            <a:ext cx="4325112" cy="411479"/>
          </a:xfrm>
          <a:prstGeom prst="rect">
            <a:avLst/>
          </a:prstGeom>
          <a:noFill/>
          <a:effectLst/>
        </p:spPr>
        <p:txBody>
          <a:bodyPr wrap="square" lIns="0" rIns="0" tIns="0" bIns="0" anchor="ctr">
            <a:spAutoFit/>
          </a:bodyPr>
          <a:lstStyle/>
          <a:p>
            <a:pPr algn="ctr">
              <a:lnSpc>
                <a:spcPct val="112000"/>
              </a:lnSpc>
              <a:spcAft>
                <a:spcPts val="500"/>
              </a:spcAft>
              <a:defRPr sz="1300" b="1">
                <a:solidFill>
                  <a:srgbClr val="2957A4"/>
                </a:solidFill>
                <a:latin typeface="Arial"/>
              </a:defRPr>
            </a:pPr>
            <a:r>
              <a:t>Abrir guía paso a paso  ↗</a:t>
            </a:r>
          </a:p>
        </p:txBody>
      </p:sp>
      <p:sp>
        <p:nvSpPr>
          <p:cNvPr id="18" name="Rectangle 17"/>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20" name="TextBox 19">
            <a:hlinkClick action="ppaction://hlinksldjump" r:id="rId6"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21" name="TextBox 20">
            <a:hlinkClick action="ppaction://hlinksldjump" r:id="rId7"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22" name="TextBox 21">
            <a:hlinkClick action="ppaction://hlinksldjump" r:id="rId8"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23" name="TextBox 22">
            <a:hlinkClick action="ppaction://hlinksldjump" r:id="rId9"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24" name="TextBox 23">
            <a:hlinkClick action="ppaction://hlinksldjump" r:id="rId8"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25" name="TextBox 24">
            <a:hlinkClick action="ppaction://hlinksldjump" r:id="rId10"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26" name="TextBox 25">
            <a:hlinkClick action="ppaction://hlinksldjump" r:id="rId11"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27" name="TextBox 26"/>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22 / 33</a:t>
            </a:r>
          </a:p>
        </p:txBody>
      </p:sp>
    </p:spTree>
  </p:cSld>
  <p:clrMapOvr>
    <a:masterClrMapping/>
  </p:clrMapOvr>
  <p:transition advClick="1"/>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REPORTES Y CONTINUIDAD</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Entrega de cargo: conserva la continuidad</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El respaldo JSON reúne los datos de negocio para recuperar o migrar el trabajo del equipo.</a:t>
            </a:r>
          </a:p>
        </p:txBody>
      </p:sp>
      <p:sp>
        <p:nvSpPr>
          <p:cNvPr id="7" name="Rounded Rectangle 6"/>
          <p:cNvSpPr/>
          <p:nvPr/>
        </p:nvSpPr>
        <p:spPr>
          <a:xfrm>
            <a:off x="640080" y="2267712"/>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76656" y="2299716"/>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1</a:t>
            </a:r>
          </a:p>
        </p:txBody>
      </p:sp>
      <p:sp>
        <p:nvSpPr>
          <p:cNvPr id="9" name="TextBox 8"/>
          <p:cNvSpPr txBox="1"/>
          <p:nvPr/>
        </p:nvSpPr>
        <p:spPr>
          <a:xfrm>
            <a:off x="1234440" y="2240280"/>
            <a:ext cx="4937759"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Descarga una copia completa</a:t>
            </a:r>
          </a:p>
        </p:txBody>
      </p:sp>
      <p:sp>
        <p:nvSpPr>
          <p:cNvPr id="10" name="TextBox 9"/>
          <p:cNvSpPr txBox="1"/>
          <p:nvPr/>
        </p:nvSpPr>
        <p:spPr>
          <a:xfrm>
            <a:off x="1234440" y="2670048"/>
            <a:ext cx="4937759"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Centro de datos → Descargar respaldo .json. Guárdala en una ubicación privada del equipo.</a:t>
            </a:r>
          </a:p>
        </p:txBody>
      </p:sp>
      <p:sp>
        <p:nvSpPr>
          <p:cNvPr id="11" name="Rounded Rectangle 10"/>
          <p:cNvSpPr/>
          <p:nvPr/>
        </p:nvSpPr>
        <p:spPr>
          <a:xfrm>
            <a:off x="640080" y="3538727"/>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76656" y="3570732"/>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2</a:t>
            </a:r>
          </a:p>
        </p:txBody>
      </p:sp>
      <p:sp>
        <p:nvSpPr>
          <p:cNvPr id="13" name="TextBox 12"/>
          <p:cNvSpPr txBox="1"/>
          <p:nvPr/>
        </p:nvSpPr>
        <p:spPr>
          <a:xfrm>
            <a:off x="1234440" y="3511296"/>
            <a:ext cx="4937759"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Verifica antes de restaurar</a:t>
            </a:r>
          </a:p>
        </p:txBody>
      </p:sp>
      <p:sp>
        <p:nvSpPr>
          <p:cNvPr id="14" name="TextBox 13"/>
          <p:cNvSpPr txBox="1"/>
          <p:nvPr/>
        </p:nvSpPr>
        <p:spPr>
          <a:xfrm>
            <a:off x="1234440" y="3941063"/>
            <a:ext cx="4937759"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Identifica qué copia usarás y coordina una pausa con los operadores.</a:t>
            </a:r>
          </a:p>
        </p:txBody>
      </p:sp>
      <p:sp>
        <p:nvSpPr>
          <p:cNvPr id="15" name="Rounded Rectangle 14"/>
          <p:cNvSpPr/>
          <p:nvPr/>
        </p:nvSpPr>
        <p:spPr>
          <a:xfrm>
            <a:off x="640080" y="4809744"/>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76656" y="4841748"/>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3</a:t>
            </a:r>
          </a:p>
        </p:txBody>
      </p:sp>
      <p:sp>
        <p:nvSpPr>
          <p:cNvPr id="17" name="TextBox 16"/>
          <p:cNvSpPr txBox="1"/>
          <p:nvPr/>
        </p:nvSpPr>
        <p:spPr>
          <a:xfrm>
            <a:off x="1234440" y="4782312"/>
            <a:ext cx="4937759"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Restaura cuando corresponda</a:t>
            </a:r>
          </a:p>
        </p:txBody>
      </p:sp>
      <p:sp>
        <p:nvSpPr>
          <p:cNvPr id="18" name="TextBox 17"/>
          <p:cNvSpPr txBox="1"/>
          <p:nvPr/>
        </p:nvSpPr>
        <p:spPr>
          <a:xfrm>
            <a:off x="1234440" y="5212080"/>
            <a:ext cx="4937759"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Restaurar desde .json → selecciona el archivo → escribe RESTAURAR → confirma.</a:t>
            </a:r>
          </a:p>
        </p:txBody>
      </p:sp>
      <p:sp>
        <p:nvSpPr>
          <p:cNvPr id="19" name="Rounded Rectangle 18"/>
          <p:cNvSpPr/>
          <p:nvPr/>
        </p:nvSpPr>
        <p:spPr>
          <a:xfrm>
            <a:off x="6492240" y="2286000"/>
            <a:ext cx="5029200" cy="352044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757416" y="2551176"/>
            <a:ext cx="4480560" cy="429768"/>
          </a:xfrm>
          <a:prstGeom prst="rect">
            <a:avLst/>
          </a:prstGeom>
          <a:noFill/>
          <a:effectLst/>
        </p:spPr>
        <p:txBody>
          <a:bodyPr wrap="square" lIns="0" rIns="0" tIns="0" bIns="0" anchor="t">
            <a:spAutoFit/>
          </a:bodyPr>
          <a:lstStyle/>
          <a:p>
            <a:pPr>
              <a:lnSpc>
                <a:spcPct val="112000"/>
              </a:lnSpc>
              <a:spcAft>
                <a:spcPts val="500"/>
              </a:spcAft>
              <a:defRPr sz="2500" b="1">
                <a:solidFill>
                  <a:srgbClr val="2957A4"/>
                </a:solidFill>
                <a:latin typeface="Arial"/>
              </a:defRPr>
            </a:pPr>
            <a:r>
              <a:t>La copia conserva</a:t>
            </a:r>
          </a:p>
        </p:txBody>
      </p:sp>
      <p:sp>
        <p:nvSpPr>
          <p:cNvPr id="21" name="TextBox 20"/>
          <p:cNvSpPr txBox="1"/>
          <p:nvPr/>
        </p:nvSpPr>
        <p:spPr>
          <a:xfrm>
            <a:off x="6784848" y="3291840"/>
            <a:ext cx="4407408" cy="1371600"/>
          </a:xfrm>
          <a:prstGeom prst="rect">
            <a:avLst/>
          </a:prstGeom>
          <a:noFill/>
          <a:effectLst/>
        </p:spPr>
        <p:txBody>
          <a:bodyPr wrap="square" lIns="0" rIns="0" tIns="0" bIns="0" anchor="t">
            <a:spAutoFit/>
          </a:bodyPr>
          <a:lstStyle/>
          <a:p>
            <a:pPr>
              <a:lnSpc>
                <a:spcPct val="112000"/>
              </a:lnSpc>
              <a:spcAft>
                <a:spcPts val="500"/>
              </a:spcAft>
              <a:defRPr sz="1700" b="0">
                <a:solidFill>
                  <a:srgbClr val="1D3555"/>
                </a:solidFill>
                <a:latin typeface="Arial"/>
              </a:defRPr>
            </a:pPr>
            <a:r>
              <a:t>Contactos y CUT · notas · tareas</a:t>
            </a:r>
          </a:p>
          <a:p>
            <a:pPr>
              <a:lnSpc>
                <a:spcPct val="112000"/>
              </a:lnSpc>
              <a:spcAft>
                <a:spcPts val="500"/>
              </a:spcAft>
              <a:defRPr sz="1700" b="0">
                <a:solidFill>
                  <a:srgbClr val="1D3555"/>
                </a:solidFill>
                <a:latin typeface="Arial"/>
              </a:defRPr>
            </a:pPr>
            <a:r>
              <a:t>Reuniones, acuerdos y eventos</a:t>
            </a:r>
          </a:p>
          <a:p>
            <a:pPr>
              <a:lnSpc>
                <a:spcPct val="112000"/>
              </a:lnSpc>
              <a:spcAft>
                <a:spcPts val="500"/>
              </a:spcAft>
              <a:defRPr sz="1700" b="0">
                <a:solidFill>
                  <a:srgbClr val="1D3555"/>
                </a:solidFill>
                <a:latin typeface="Arial"/>
              </a:defRPr>
            </a:pPr>
            <a:r>
              <a:t>Formatos · operadores · unidades</a:t>
            </a:r>
          </a:p>
          <a:p>
            <a:pPr>
              <a:lnSpc>
                <a:spcPct val="112000"/>
              </a:lnSpc>
              <a:spcAft>
                <a:spcPts val="500"/>
              </a:spcAft>
              <a:defRPr sz="1700" b="0">
                <a:solidFill>
                  <a:srgbClr val="1D3555"/>
                </a:solidFill>
                <a:latin typeface="Arial"/>
              </a:defRPr>
            </a:pPr>
            <a:r>
              <a:t>Avisos internos y vínculos de tareas</a:t>
            </a:r>
          </a:p>
        </p:txBody>
      </p:sp>
      <p:sp>
        <p:nvSpPr>
          <p:cNvPr id="22" name="TextBox 21"/>
          <p:cNvSpPr txBox="1"/>
          <p:nvPr/>
        </p:nvSpPr>
        <p:spPr>
          <a:xfrm>
            <a:off x="6784848" y="4983480"/>
            <a:ext cx="4407408" cy="566928"/>
          </a:xfrm>
          <a:prstGeom prst="rect">
            <a:avLst/>
          </a:prstGeom>
          <a:noFill/>
          <a:effectLst/>
        </p:spPr>
        <p:txBody>
          <a:bodyPr wrap="square" lIns="0" rIns="0" tIns="0" bIns="0" anchor="t">
            <a:spAutoFit/>
          </a:bodyPr>
          <a:lstStyle/>
          <a:p>
            <a:pPr>
              <a:lnSpc>
                <a:spcPct val="112000"/>
              </a:lnSpc>
              <a:spcAft>
                <a:spcPts val="500"/>
              </a:spcAft>
              <a:defRPr sz="1500" b="1">
                <a:solidFill>
                  <a:srgbClr val="8A610E"/>
                </a:solidFill>
                <a:latin typeface="Arial"/>
              </a:defRPr>
            </a:pPr>
            <a:r>
              <a:t>Restaurar reemplaza los datos actuales.</a:t>
            </a:r>
          </a:p>
          <a:p>
            <a:pPr>
              <a:lnSpc>
                <a:spcPct val="112000"/>
              </a:lnSpc>
              <a:spcAft>
                <a:spcPts val="500"/>
              </a:spcAft>
              <a:defRPr sz="1500" b="1">
                <a:solidFill>
                  <a:srgbClr val="8A610E"/>
                </a:solidFill>
                <a:latin typeface="Arial"/>
              </a:defRPr>
            </a:pPr>
            <a:r>
              <a:t>La interfaz descarga una copia previa.</a:t>
            </a:r>
          </a:p>
        </p:txBody>
      </p:sp>
      <p:sp>
        <p:nvSpPr>
          <p:cNvPr id="23" name="Rectangle 22"/>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25" name="TextBox 24">
            <a:hlinkClick action="ppaction://hlinksldjump" r:id="rId4"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26" name="TextBox 25">
            <a:hlinkClick action="ppaction://hlinksldjump" r:id="rId5"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27" name="TextBox 26">
            <a:hlinkClick action="ppaction://hlinksldjump" r:id="rId6"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28" name="TextBox 27">
            <a:hlinkClick action="ppaction://hlinksldjump" r:id="rId7"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29" name="TextBox 28">
            <a:hlinkClick action="ppaction://hlinksldjump" r:id="rId8"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0" name="TextBox 29">
            <a:hlinkClick action="ppaction://hlinksldjump" r:id="rId9"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31" name="TextBox 30">
            <a:hlinkClick action="ppaction://hlinksldjump" r:id="rId10"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2" name="TextBox 31"/>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23 / 33</a:t>
            </a:r>
          </a:p>
        </p:txBody>
      </p:sp>
    </p:spTree>
  </p:cSld>
  <p:clrMapOvr>
    <a:masterClrMapping/>
  </p:clrMapOvr>
  <p:transition advClick="1"/>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ACTUALIZACIONES</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Actualiza el CRM sin reinstalar cada cambio</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La aplicación web y el lector de WhatsApp tienen versiones separadas.</a:t>
            </a:r>
          </a:p>
        </p:txBody>
      </p:sp>
      <p:sp>
        <p:nvSpPr>
          <p:cNvPr id="7" name="Rounded Rectangle 6"/>
          <p:cNvSpPr/>
          <p:nvPr/>
        </p:nvSpPr>
        <p:spPr>
          <a:xfrm>
            <a:off x="594360" y="2258568"/>
            <a:ext cx="5303520" cy="3410712"/>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822960" y="2505456"/>
            <a:ext cx="2057400" cy="28346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77824" y="2519172"/>
            <a:ext cx="1947672" cy="256032"/>
          </a:xfrm>
          <a:prstGeom prst="rect">
            <a:avLst/>
          </a:prstGeom>
          <a:noFill/>
          <a:effectLst/>
        </p:spPr>
        <p:txBody>
          <a:bodyPr wrap="square" lIns="0" rIns="0" tIns="0" bIns="0" anchor="ctr">
            <a:spAutoFit/>
          </a:bodyPr>
          <a:lstStyle/>
          <a:p>
            <a:pPr algn="ctr">
              <a:lnSpc>
                <a:spcPct val="112000"/>
              </a:lnSpc>
              <a:spcAft>
                <a:spcPts val="500"/>
              </a:spcAft>
              <a:defRPr sz="1100" b="1">
                <a:solidFill>
                  <a:srgbClr val="2957A4"/>
                </a:solidFill>
                <a:latin typeface="Arial"/>
              </a:defRPr>
            </a:pPr>
            <a:r>
              <a:t>WEB 1.3.0</a:t>
            </a:r>
          </a:p>
        </p:txBody>
      </p:sp>
      <p:sp>
        <p:nvSpPr>
          <p:cNvPr id="10" name="TextBox 9"/>
          <p:cNvSpPr txBox="1"/>
          <p:nvPr/>
        </p:nvSpPr>
        <p:spPr>
          <a:xfrm>
            <a:off x="822960" y="3035808"/>
            <a:ext cx="4800600" cy="502920"/>
          </a:xfrm>
          <a:prstGeom prst="rect">
            <a:avLst/>
          </a:prstGeom>
          <a:noFill/>
          <a:effectLst/>
        </p:spPr>
        <p:txBody>
          <a:bodyPr wrap="square" lIns="0" rIns="0" tIns="0" bIns="0" anchor="t">
            <a:spAutoFit/>
          </a:bodyPr>
          <a:lstStyle/>
          <a:p>
            <a:pPr>
              <a:lnSpc>
                <a:spcPct val="112000"/>
              </a:lnSpc>
              <a:spcAft>
                <a:spcPts val="500"/>
              </a:spcAft>
              <a:defRPr sz="2500" b="1">
                <a:solidFill>
                  <a:srgbClr val="1D3555"/>
                </a:solidFill>
                <a:latin typeface="Arial"/>
              </a:defRPr>
            </a:pPr>
            <a:r>
              <a:t>Funciones del CRM</a:t>
            </a:r>
          </a:p>
        </p:txBody>
      </p:sp>
      <p:sp>
        <p:nvSpPr>
          <p:cNvPr id="11" name="TextBox 10"/>
          <p:cNvSpPr txBox="1"/>
          <p:nvPr/>
        </p:nvSpPr>
        <p:spPr>
          <a:xfrm>
            <a:off x="822960" y="3767328"/>
            <a:ext cx="4773168" cy="557784"/>
          </a:xfrm>
          <a:prstGeom prst="rect">
            <a:avLst/>
          </a:prstGeom>
          <a:noFill/>
          <a:effectLst/>
        </p:spPr>
        <p:txBody>
          <a:bodyPr wrap="square" lIns="0" rIns="0" tIns="0" bIns="0" anchor="t">
            <a:spAutoFit/>
          </a:bodyPr>
          <a:lstStyle/>
          <a:p>
            <a:pPr>
              <a:lnSpc>
                <a:spcPct val="112000"/>
              </a:lnSpc>
              <a:spcAft>
                <a:spcPts val="500"/>
              </a:spcAft>
              <a:defRPr sz="1550" b="0">
                <a:solidFill>
                  <a:srgbClr val="1D3555"/>
                </a:solidFill>
                <a:latin typeface="Arial"/>
              </a:defRPr>
            </a:pPr>
            <a:r>
              <a:t>• Se publican desde GitHub a Cloudflare.</a:t>
            </a:r>
          </a:p>
        </p:txBody>
      </p:sp>
      <p:sp>
        <p:nvSpPr>
          <p:cNvPr id="12" name="TextBox 11"/>
          <p:cNvSpPr txBox="1"/>
          <p:nvPr/>
        </p:nvSpPr>
        <p:spPr>
          <a:xfrm>
            <a:off x="822960" y="4297680"/>
            <a:ext cx="4773168" cy="557784"/>
          </a:xfrm>
          <a:prstGeom prst="rect">
            <a:avLst/>
          </a:prstGeom>
          <a:noFill/>
          <a:effectLst/>
        </p:spPr>
        <p:txBody>
          <a:bodyPr wrap="square" lIns="0" rIns="0" tIns="0" bIns="0" anchor="t">
            <a:spAutoFit/>
          </a:bodyPr>
          <a:lstStyle/>
          <a:p>
            <a:pPr>
              <a:lnSpc>
                <a:spcPct val="112000"/>
              </a:lnSpc>
              <a:spcAft>
                <a:spcPts val="500"/>
              </a:spcAft>
              <a:defRPr sz="1550" b="0">
                <a:solidFill>
                  <a:srgbClr val="1D3555"/>
                </a:solidFill>
                <a:latin typeface="Arial"/>
              </a:defRPr>
            </a:pPr>
            <a:r>
              <a:t>• Si aparece Actualizar CRM, guarda tu trabajo.</a:t>
            </a:r>
          </a:p>
        </p:txBody>
      </p:sp>
      <p:sp>
        <p:nvSpPr>
          <p:cNvPr id="13" name="TextBox 12"/>
          <p:cNvSpPr txBox="1"/>
          <p:nvPr/>
        </p:nvSpPr>
        <p:spPr>
          <a:xfrm>
            <a:off x="822960" y="4828032"/>
            <a:ext cx="4773168" cy="557784"/>
          </a:xfrm>
          <a:prstGeom prst="rect">
            <a:avLst/>
          </a:prstGeom>
          <a:noFill/>
          <a:effectLst/>
        </p:spPr>
        <p:txBody>
          <a:bodyPr wrap="square" lIns="0" rIns="0" tIns="0" bIns="0" anchor="t">
            <a:spAutoFit/>
          </a:bodyPr>
          <a:lstStyle/>
          <a:p>
            <a:pPr>
              <a:lnSpc>
                <a:spcPct val="112000"/>
              </a:lnSpc>
              <a:spcAft>
                <a:spcPts val="500"/>
              </a:spcAft>
              <a:defRPr sz="1550" b="0">
                <a:solidFill>
                  <a:srgbClr val="1D3555"/>
                </a:solidFill>
                <a:latin typeface="Arial"/>
              </a:defRPr>
            </a:pPr>
            <a:r>
              <a:t>• Confirma la recarga para ver la nueva versión.</a:t>
            </a:r>
          </a:p>
        </p:txBody>
      </p:sp>
      <p:sp>
        <p:nvSpPr>
          <p:cNvPr id="14" name="Rounded Rectangle 13"/>
          <p:cNvSpPr/>
          <p:nvPr/>
        </p:nvSpPr>
        <p:spPr>
          <a:xfrm>
            <a:off x="6281928" y="2258568"/>
            <a:ext cx="5303520" cy="3410712"/>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6510528" y="2505456"/>
            <a:ext cx="2057400" cy="28346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65392" y="2519172"/>
            <a:ext cx="1947672" cy="256032"/>
          </a:xfrm>
          <a:prstGeom prst="rect">
            <a:avLst/>
          </a:prstGeom>
          <a:noFill/>
          <a:effectLst/>
        </p:spPr>
        <p:txBody>
          <a:bodyPr wrap="square" lIns="0" rIns="0" tIns="0" bIns="0" anchor="ctr">
            <a:spAutoFit/>
          </a:bodyPr>
          <a:lstStyle/>
          <a:p>
            <a:pPr algn="ctr">
              <a:lnSpc>
                <a:spcPct val="112000"/>
              </a:lnSpc>
              <a:spcAft>
                <a:spcPts val="500"/>
              </a:spcAft>
              <a:defRPr sz="1100" b="1">
                <a:solidFill>
                  <a:srgbClr val="2957A4"/>
                </a:solidFill>
                <a:latin typeface="Arial"/>
              </a:defRPr>
            </a:pPr>
            <a:r>
              <a:t>EXTENSIÓN 1.2.1</a:t>
            </a:r>
          </a:p>
        </p:txBody>
      </p:sp>
      <p:sp>
        <p:nvSpPr>
          <p:cNvPr id="17" name="TextBox 16"/>
          <p:cNvSpPr txBox="1"/>
          <p:nvPr/>
        </p:nvSpPr>
        <p:spPr>
          <a:xfrm>
            <a:off x="6510528" y="3035808"/>
            <a:ext cx="4800600" cy="502920"/>
          </a:xfrm>
          <a:prstGeom prst="rect">
            <a:avLst/>
          </a:prstGeom>
          <a:noFill/>
          <a:effectLst/>
        </p:spPr>
        <p:txBody>
          <a:bodyPr wrap="square" lIns="0" rIns="0" tIns="0" bIns="0" anchor="t">
            <a:spAutoFit/>
          </a:bodyPr>
          <a:lstStyle/>
          <a:p>
            <a:pPr>
              <a:lnSpc>
                <a:spcPct val="112000"/>
              </a:lnSpc>
              <a:spcAft>
                <a:spcPts val="500"/>
              </a:spcAft>
              <a:defRPr sz="2500" b="1">
                <a:solidFill>
                  <a:srgbClr val="1D3555"/>
                </a:solidFill>
                <a:latin typeface="Arial"/>
              </a:defRPr>
            </a:pPr>
            <a:r>
              <a:t>Lector de WhatsApp</a:t>
            </a:r>
          </a:p>
        </p:txBody>
      </p:sp>
      <p:sp>
        <p:nvSpPr>
          <p:cNvPr id="18" name="TextBox 17"/>
          <p:cNvSpPr txBox="1"/>
          <p:nvPr/>
        </p:nvSpPr>
        <p:spPr>
          <a:xfrm>
            <a:off x="6510528" y="3767328"/>
            <a:ext cx="4773168" cy="557784"/>
          </a:xfrm>
          <a:prstGeom prst="rect">
            <a:avLst/>
          </a:prstGeom>
          <a:noFill/>
          <a:effectLst/>
        </p:spPr>
        <p:txBody>
          <a:bodyPr wrap="square" lIns="0" rIns="0" tIns="0" bIns="0" anchor="t">
            <a:spAutoFit/>
          </a:bodyPr>
          <a:lstStyle/>
          <a:p>
            <a:pPr>
              <a:lnSpc>
                <a:spcPct val="112000"/>
              </a:lnSpc>
              <a:spcAft>
                <a:spcPts val="500"/>
              </a:spcAft>
              <a:defRPr sz="1550" b="0">
                <a:solidFill>
                  <a:srgbClr val="1D3555"/>
                </a:solidFill>
                <a:latin typeface="Arial"/>
              </a:defRPr>
            </a:pPr>
            <a:r>
              <a:t>• Solo se reemplaza si cambia el lector o permisos.</a:t>
            </a:r>
          </a:p>
        </p:txBody>
      </p:sp>
      <p:sp>
        <p:nvSpPr>
          <p:cNvPr id="19" name="TextBox 18"/>
          <p:cNvSpPr txBox="1"/>
          <p:nvPr/>
        </p:nvSpPr>
        <p:spPr>
          <a:xfrm>
            <a:off x="6510528" y="4297680"/>
            <a:ext cx="4773168" cy="557784"/>
          </a:xfrm>
          <a:prstGeom prst="rect">
            <a:avLst/>
          </a:prstGeom>
          <a:noFill/>
          <a:effectLst/>
        </p:spPr>
        <p:txBody>
          <a:bodyPr wrap="square" lIns="0" rIns="0" tIns="0" bIns="0" anchor="t">
            <a:spAutoFit/>
          </a:bodyPr>
          <a:lstStyle/>
          <a:p>
            <a:pPr>
              <a:lnSpc>
                <a:spcPct val="112000"/>
              </a:lnSpc>
              <a:spcAft>
                <a:spcPts val="500"/>
              </a:spcAft>
              <a:defRPr sz="1550" b="0">
                <a:solidFill>
                  <a:srgbClr val="1D3555"/>
                </a:solidFill>
                <a:latin typeface="Arial"/>
              </a:defRPr>
            </a:pPr>
            <a:r>
              <a:t>• Cierra el panel y sustituye los archivos de su carpeta.</a:t>
            </a:r>
          </a:p>
        </p:txBody>
      </p:sp>
      <p:sp>
        <p:nvSpPr>
          <p:cNvPr id="20" name="TextBox 19"/>
          <p:cNvSpPr txBox="1"/>
          <p:nvPr/>
        </p:nvSpPr>
        <p:spPr>
          <a:xfrm>
            <a:off x="6510528" y="4828032"/>
            <a:ext cx="4773168" cy="557784"/>
          </a:xfrm>
          <a:prstGeom prst="rect">
            <a:avLst/>
          </a:prstGeom>
          <a:noFill/>
          <a:effectLst/>
        </p:spPr>
        <p:txBody>
          <a:bodyPr wrap="square" lIns="0" rIns="0" tIns="0" bIns="0" anchor="t">
            <a:spAutoFit/>
          </a:bodyPr>
          <a:lstStyle/>
          <a:p>
            <a:pPr>
              <a:lnSpc>
                <a:spcPct val="112000"/>
              </a:lnSpc>
              <a:spcAft>
                <a:spcPts val="500"/>
              </a:spcAft>
              <a:defRPr sz="1550" b="0">
                <a:solidFill>
                  <a:srgbClr val="1D3555"/>
                </a:solidFill>
                <a:latin typeface="Arial"/>
              </a:defRPr>
            </a:pPr>
            <a:r>
              <a:t>• Pulsa ↻ Recargar en chrome://extensions.</a:t>
            </a:r>
          </a:p>
        </p:txBody>
      </p:sp>
      <p:sp>
        <p:nvSpPr>
          <p:cNvPr id="21" name="Rounded Rectangle 20"/>
          <p:cNvSpPr/>
          <p:nvPr/>
        </p:nvSpPr>
        <p:spPr>
          <a:xfrm>
            <a:off x="502920" y="5907024"/>
            <a:ext cx="11183112" cy="41148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40080" y="5971032"/>
            <a:ext cx="10908792" cy="301752"/>
          </a:xfrm>
          <a:prstGeom prst="rect">
            <a:avLst/>
          </a:prstGeom>
          <a:noFill/>
          <a:effectLst/>
        </p:spPr>
        <p:txBody>
          <a:bodyPr wrap="square" lIns="0" rIns="0" tIns="0" bIns="0" anchor="t">
            <a:spAutoFit/>
          </a:bodyPr>
          <a:lstStyle/>
          <a:p>
            <a:pPr>
              <a:lnSpc>
                <a:spcPct val="112000"/>
              </a:lnSpc>
              <a:spcAft>
                <a:spcPts val="500"/>
              </a:spcAft>
              <a:defRPr sz="1250" b="0">
                <a:solidFill>
                  <a:srgbClr val="2957A4"/>
                </a:solidFill>
                <a:latin typeface="Arial"/>
              </a:defRPr>
            </a:pPr>
            <a:r>
              <a:t>Después de recargar la extensión, recarga también WhatsApp Web con Ctrl+R (Windows) o ⌘R (Mac).</a:t>
            </a:r>
          </a:p>
        </p:txBody>
      </p:sp>
      <p:sp>
        <p:nvSpPr>
          <p:cNvPr id="23" name="Rectangle 22"/>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25" name="TextBox 24">
            <a:hlinkClick action="ppaction://hlinksldjump" r:id="rId4"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26" name="TextBox 25">
            <a:hlinkClick action="ppaction://hlinksldjump" r:id="rId5"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27" name="TextBox 26">
            <a:hlinkClick action="ppaction://hlinksldjump" r:id="rId6"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28" name="TextBox 27">
            <a:hlinkClick action="ppaction://hlinksldjump" r:id="rId7"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29" name="TextBox 28">
            <a:hlinkClick action="ppaction://hlinksldjump" r:id="rId8"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0" name="TextBox 29">
            <a:hlinkClick action="ppaction://hlinksldjump" r:id="rId9"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31" name="TextBox 30">
            <a:hlinkClick action="ppaction://hlinksldjump" r:id="rId7"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2" name="TextBox 31"/>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24 / 33</a:t>
            </a:r>
          </a:p>
        </p:txBody>
      </p:sp>
    </p:spTree>
  </p:cSld>
  <p:clrMapOvr>
    <a:masterClrMapping/>
  </p:clrMapOvr>
  <p:transition advClick="1"/>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AYUDA INTERACTIVA</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Si algo no funciona, elige el síntoma</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Usa el recorrido adecuado antes de reinstalar o modificar datos.</a:t>
            </a:r>
          </a:p>
        </p:txBody>
      </p:sp>
      <p:sp>
        <p:nvSpPr>
          <p:cNvPr id="7" name="Rounded Rectangle 6">
            <a:hlinkClick action="ppaction://hlinksldjump" r:id="rId4" tooltip="Ver No carga la extensión"/>
          </p:cNvPr>
          <p:cNvSpPr/>
          <p:nvPr/>
        </p:nvSpPr>
        <p:spPr>
          <a:xfrm>
            <a:off x="594360" y="2423160"/>
            <a:ext cx="3502152" cy="219456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a:hlinkClick action="ppaction://hlinksldjump" r:id="rId4" tooltip="Ver No carga la extensión"/>
          </p:cNvPr>
          <p:cNvSpPr/>
          <p:nvPr/>
        </p:nvSpPr>
        <p:spPr>
          <a:xfrm>
            <a:off x="758952" y="2606040"/>
            <a:ext cx="347472" cy="34747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a:hlinkClick action="ppaction://hlinksldjump" r:id="rId4" tooltip="Ver No carga la extensión"/>
          </p:cNvPr>
          <p:cNvSpPr txBox="1"/>
          <p:nvPr/>
        </p:nvSpPr>
        <p:spPr>
          <a:xfrm>
            <a:off x="777240" y="2619756"/>
            <a:ext cx="310896" cy="292608"/>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1</a:t>
            </a:r>
          </a:p>
        </p:txBody>
      </p:sp>
      <p:sp>
        <p:nvSpPr>
          <p:cNvPr id="10" name="TextBox 9">
            <a:hlinkClick action="ppaction://hlinksldjump" r:id="rId4" tooltip="Ver No carga la extensión"/>
          </p:cNvPr>
          <p:cNvSpPr txBox="1"/>
          <p:nvPr/>
        </p:nvSpPr>
        <p:spPr>
          <a:xfrm>
            <a:off x="1261872" y="2569464"/>
            <a:ext cx="2670048"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No carga la extensión</a:t>
            </a:r>
          </a:p>
        </p:txBody>
      </p:sp>
      <p:sp>
        <p:nvSpPr>
          <p:cNvPr id="11" name="TextBox 10">
            <a:hlinkClick action="ppaction://hlinksldjump" r:id="rId4" tooltip="Ver No carga la extensión"/>
          </p:cNvPr>
          <p:cNvSpPr txBox="1"/>
          <p:nvPr/>
        </p:nvSpPr>
        <p:spPr>
          <a:xfrm>
            <a:off x="1261872" y="2935224"/>
            <a:ext cx="2670048" cy="1645919"/>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Falta el manifiesto o Chrome dice que no puede leerlo.</a:t>
            </a:r>
          </a:p>
        </p:txBody>
      </p:sp>
      <p:sp>
        <p:nvSpPr>
          <p:cNvPr id="12" name="Rounded Rectangle 11">
            <a:hlinkClick action="ppaction://hlinksldjump" r:id="rId4" tooltip="Resolver  →"/>
          </p:cNvPr>
          <p:cNvSpPr/>
          <p:nvPr/>
        </p:nvSpPr>
        <p:spPr>
          <a:xfrm>
            <a:off x="777240" y="4983480"/>
            <a:ext cx="3136392" cy="43891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a:hlinkClick action="ppaction://hlinksldjump" r:id="rId4" tooltip="Resolver  →"/>
          </p:cNvPr>
          <p:cNvSpPr txBox="1"/>
          <p:nvPr/>
        </p:nvSpPr>
        <p:spPr>
          <a:xfrm>
            <a:off x="868680" y="4997196"/>
            <a:ext cx="2953512" cy="411479"/>
          </a:xfrm>
          <a:prstGeom prst="rect">
            <a:avLst/>
          </a:prstGeom>
          <a:noFill/>
          <a:effectLst/>
        </p:spPr>
        <p:txBody>
          <a:bodyPr wrap="square" lIns="0" rIns="0" tIns="0" bIns="0" anchor="ctr">
            <a:spAutoFit/>
          </a:bodyPr>
          <a:lstStyle/>
          <a:p>
            <a:pPr algn="ctr">
              <a:lnSpc>
                <a:spcPct val="112000"/>
              </a:lnSpc>
              <a:spcAft>
                <a:spcPts val="500"/>
              </a:spcAft>
              <a:defRPr sz="1300" b="1">
                <a:solidFill>
                  <a:srgbClr val="FFFFFF"/>
                </a:solidFill>
                <a:latin typeface="Arial"/>
              </a:defRPr>
            </a:pPr>
            <a:r>
              <a:t>Resolver  →</a:t>
            </a:r>
          </a:p>
        </p:txBody>
      </p:sp>
      <p:sp>
        <p:nvSpPr>
          <p:cNvPr id="14" name="Rounded Rectangle 13">
            <a:hlinkClick action="ppaction://hlinksldjump" r:id="rId5" tooltip="Ver El chat no cambia"/>
          </p:cNvPr>
          <p:cNvSpPr/>
          <p:nvPr/>
        </p:nvSpPr>
        <p:spPr>
          <a:xfrm>
            <a:off x="4361688" y="2423160"/>
            <a:ext cx="3502152" cy="219456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a:hlinkClick action="ppaction://hlinksldjump" r:id="rId5" tooltip="Ver El chat no cambia"/>
          </p:cNvPr>
          <p:cNvSpPr/>
          <p:nvPr/>
        </p:nvSpPr>
        <p:spPr>
          <a:xfrm>
            <a:off x="4526280" y="2606040"/>
            <a:ext cx="347472" cy="34747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a:hlinkClick action="ppaction://hlinksldjump" r:id="rId5" tooltip="Ver El chat no cambia"/>
          </p:cNvPr>
          <p:cNvSpPr txBox="1"/>
          <p:nvPr/>
        </p:nvSpPr>
        <p:spPr>
          <a:xfrm>
            <a:off x="4544568" y="2619756"/>
            <a:ext cx="310896" cy="292608"/>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2</a:t>
            </a:r>
          </a:p>
        </p:txBody>
      </p:sp>
      <p:sp>
        <p:nvSpPr>
          <p:cNvPr id="17" name="TextBox 16">
            <a:hlinkClick action="ppaction://hlinksldjump" r:id="rId5" tooltip="Ver El chat no cambia"/>
          </p:cNvPr>
          <p:cNvSpPr txBox="1"/>
          <p:nvPr/>
        </p:nvSpPr>
        <p:spPr>
          <a:xfrm>
            <a:off x="5029200" y="2569464"/>
            <a:ext cx="2670048"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El chat no cambia</a:t>
            </a:r>
          </a:p>
        </p:txBody>
      </p:sp>
      <p:sp>
        <p:nvSpPr>
          <p:cNvPr id="18" name="TextBox 17">
            <a:hlinkClick action="ppaction://hlinksldjump" r:id="rId5" tooltip="Ver El chat no cambia"/>
          </p:cNvPr>
          <p:cNvSpPr txBox="1"/>
          <p:nvPr/>
        </p:nvSpPr>
        <p:spPr>
          <a:xfrm>
            <a:off x="5029200" y="2935224"/>
            <a:ext cx="2670048" cy="1645919"/>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Seleccionas otro contacto y el panel mantiene el contexto anterior.</a:t>
            </a:r>
          </a:p>
        </p:txBody>
      </p:sp>
      <p:sp>
        <p:nvSpPr>
          <p:cNvPr id="19" name="Rounded Rectangle 18">
            <a:hlinkClick action="ppaction://hlinksldjump" r:id="rId5" tooltip="Resolver  →"/>
          </p:cNvPr>
          <p:cNvSpPr/>
          <p:nvPr/>
        </p:nvSpPr>
        <p:spPr>
          <a:xfrm>
            <a:off x="4544568" y="4983480"/>
            <a:ext cx="3136392" cy="43891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a:hlinkClick action="ppaction://hlinksldjump" r:id="rId5" tooltip="Resolver  →"/>
          </p:cNvPr>
          <p:cNvSpPr txBox="1"/>
          <p:nvPr/>
        </p:nvSpPr>
        <p:spPr>
          <a:xfrm>
            <a:off x="4636008" y="4997196"/>
            <a:ext cx="2953512" cy="411479"/>
          </a:xfrm>
          <a:prstGeom prst="rect">
            <a:avLst/>
          </a:prstGeom>
          <a:noFill/>
          <a:effectLst/>
        </p:spPr>
        <p:txBody>
          <a:bodyPr wrap="square" lIns="0" rIns="0" tIns="0" bIns="0" anchor="ctr">
            <a:spAutoFit/>
          </a:bodyPr>
          <a:lstStyle/>
          <a:p>
            <a:pPr algn="ctr">
              <a:lnSpc>
                <a:spcPct val="112000"/>
              </a:lnSpc>
              <a:spcAft>
                <a:spcPts val="500"/>
              </a:spcAft>
              <a:defRPr sz="1300" b="1">
                <a:solidFill>
                  <a:srgbClr val="FFFFFF"/>
                </a:solidFill>
                <a:latin typeface="Arial"/>
              </a:defRPr>
            </a:pPr>
            <a:r>
              <a:t>Resolver  →</a:t>
            </a:r>
          </a:p>
        </p:txBody>
      </p:sp>
      <p:sp>
        <p:nvSpPr>
          <p:cNvPr id="21" name="Rounded Rectangle 20">
            <a:hlinkClick action="ppaction://hlinksldjump" r:id="rId6" tooltip="Ver No puedo entrar / API"/>
          </p:cNvPr>
          <p:cNvSpPr/>
          <p:nvPr/>
        </p:nvSpPr>
        <p:spPr>
          <a:xfrm>
            <a:off x="8129016" y="2423160"/>
            <a:ext cx="3502152" cy="219456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a:hlinkClick action="ppaction://hlinksldjump" r:id="rId6" tooltip="Ver No puedo entrar / API"/>
          </p:cNvPr>
          <p:cNvSpPr/>
          <p:nvPr/>
        </p:nvSpPr>
        <p:spPr>
          <a:xfrm>
            <a:off x="8293608" y="2606040"/>
            <a:ext cx="347472" cy="34747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a:hlinkClick action="ppaction://hlinksldjump" r:id="rId6" tooltip="Ver No puedo entrar / API"/>
          </p:cNvPr>
          <p:cNvSpPr txBox="1"/>
          <p:nvPr/>
        </p:nvSpPr>
        <p:spPr>
          <a:xfrm>
            <a:off x="8311896" y="2619756"/>
            <a:ext cx="310896" cy="292608"/>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3</a:t>
            </a:r>
          </a:p>
        </p:txBody>
      </p:sp>
      <p:sp>
        <p:nvSpPr>
          <p:cNvPr id="24" name="TextBox 23">
            <a:hlinkClick action="ppaction://hlinksldjump" r:id="rId6" tooltip="Ver No puedo entrar / API"/>
          </p:cNvPr>
          <p:cNvSpPr txBox="1"/>
          <p:nvPr/>
        </p:nvSpPr>
        <p:spPr>
          <a:xfrm>
            <a:off x="8796528" y="2569464"/>
            <a:ext cx="2670048"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No puedo entrar / API</a:t>
            </a:r>
          </a:p>
        </p:txBody>
      </p:sp>
      <p:sp>
        <p:nvSpPr>
          <p:cNvPr id="25" name="TextBox 24">
            <a:hlinkClick action="ppaction://hlinksldjump" r:id="rId6" tooltip="Ver No puedo entrar / API"/>
          </p:cNvPr>
          <p:cNvSpPr txBox="1"/>
          <p:nvPr/>
        </p:nvSpPr>
        <p:spPr>
          <a:xfrm>
            <a:off x="8796528" y="2935224"/>
            <a:ext cx="2670048" cy="1645919"/>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Token inválido, error de conexión o respuesta que no es JSON.</a:t>
            </a:r>
          </a:p>
        </p:txBody>
      </p:sp>
      <p:sp>
        <p:nvSpPr>
          <p:cNvPr id="26" name="Rounded Rectangle 25">
            <a:hlinkClick action="ppaction://hlinksldjump" r:id="rId6" tooltip="Resolver  →"/>
          </p:cNvPr>
          <p:cNvSpPr/>
          <p:nvPr/>
        </p:nvSpPr>
        <p:spPr>
          <a:xfrm>
            <a:off x="8311896" y="4983480"/>
            <a:ext cx="3136392" cy="43891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a:hlinkClick action="ppaction://hlinksldjump" r:id="rId6" tooltip="Resolver  →"/>
          </p:cNvPr>
          <p:cNvSpPr txBox="1"/>
          <p:nvPr/>
        </p:nvSpPr>
        <p:spPr>
          <a:xfrm>
            <a:off x="8403336" y="4997196"/>
            <a:ext cx="2953512" cy="411479"/>
          </a:xfrm>
          <a:prstGeom prst="rect">
            <a:avLst/>
          </a:prstGeom>
          <a:noFill/>
          <a:effectLst/>
        </p:spPr>
        <p:txBody>
          <a:bodyPr wrap="square" lIns="0" rIns="0" tIns="0" bIns="0" anchor="ctr">
            <a:spAutoFit/>
          </a:bodyPr>
          <a:lstStyle/>
          <a:p>
            <a:pPr algn="ctr">
              <a:lnSpc>
                <a:spcPct val="112000"/>
              </a:lnSpc>
              <a:spcAft>
                <a:spcPts val="500"/>
              </a:spcAft>
              <a:defRPr sz="1300" b="1">
                <a:solidFill>
                  <a:srgbClr val="FFFFFF"/>
                </a:solidFill>
                <a:latin typeface="Arial"/>
              </a:defRPr>
            </a:pPr>
            <a:r>
              <a:t>Resolver  →</a:t>
            </a:r>
          </a:p>
        </p:txBody>
      </p:sp>
      <p:sp>
        <p:nvSpPr>
          <p:cNvPr id="28" name="Rounded Rectangle 27">
            <a:hlinkClick action="ppaction://hlinksldjump" r:id="rId7" tooltip="Ir al ejercicio práctico  →"/>
          </p:cNvPr>
          <p:cNvSpPr/>
          <p:nvPr/>
        </p:nvSpPr>
        <p:spPr>
          <a:xfrm>
            <a:off x="4224528" y="5815584"/>
            <a:ext cx="3749039" cy="438912"/>
          </a:xfrm>
          <a:prstGeom prst="roundRect">
            <a:avLst>
              <a:gd name="adj" fmla="val 8000"/>
            </a:avLst>
          </a:prstGeom>
          <a:solidFill>
            <a:srgbClr val="FFFFFF"/>
          </a:solidFill>
          <a:ln w="10160">
            <a:solidFill>
              <a:srgbClr val="D8E3F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a:hlinkClick action="ppaction://hlinksldjump" r:id="rId7" tooltip="Ir al ejercicio práctico  →"/>
          </p:cNvPr>
          <p:cNvSpPr txBox="1"/>
          <p:nvPr/>
        </p:nvSpPr>
        <p:spPr>
          <a:xfrm>
            <a:off x="4315968" y="5829300"/>
            <a:ext cx="3566159" cy="411479"/>
          </a:xfrm>
          <a:prstGeom prst="rect">
            <a:avLst/>
          </a:prstGeom>
          <a:noFill/>
          <a:effectLst/>
        </p:spPr>
        <p:txBody>
          <a:bodyPr wrap="square" lIns="0" rIns="0" tIns="0" bIns="0" anchor="ctr">
            <a:spAutoFit/>
          </a:bodyPr>
          <a:lstStyle/>
          <a:p>
            <a:pPr algn="ctr">
              <a:lnSpc>
                <a:spcPct val="112000"/>
              </a:lnSpc>
              <a:spcAft>
                <a:spcPts val="500"/>
              </a:spcAft>
              <a:defRPr sz="1300" b="1">
                <a:solidFill>
                  <a:srgbClr val="2957A4"/>
                </a:solidFill>
                <a:latin typeface="Arial"/>
              </a:defRPr>
            </a:pPr>
            <a:r>
              <a:t>Ir al ejercicio práctico  →</a:t>
            </a:r>
          </a:p>
        </p:txBody>
      </p:sp>
      <p:sp>
        <p:nvSpPr>
          <p:cNvPr id="30" name="Rectangle 29"/>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32" name="TextBox 31">
            <a:hlinkClick action="ppaction://hlinksldjump" r:id="rId8"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33" name="TextBox 32">
            <a:hlinkClick action="ppaction://hlinksldjump" r:id="rId9"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34" name="TextBox 33">
            <a:hlinkClick action="ppaction://hlinksldjump" r:id="rId10"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35" name="TextBox 34">
            <a:hlinkClick action="ppaction://hlinksldjump" r:id="rId11"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36" name="TextBox 35">
            <a:hlinkClick action="ppaction://hlinksldjump" r:id="rId12"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7" name="TextBox 36">
            <a:hlinkClick action="ppaction://hlinksldjump" r:id="rId13"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38" name="TextBox 37">
            <a:hlinkClick action="ppaction://hlinksldjump" r:id="rId4"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9" name="TextBox 38"/>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25 / 33</a:t>
            </a:r>
          </a:p>
        </p:txBody>
      </p:sp>
    </p:spTree>
  </p:cSld>
  <p:clrMapOvr>
    <a:masterClrMapping/>
  </p:clrMapOvr>
  <p:transition advClick="1"/>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RESOLVER: INSTALACIÓN</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“Falta el archivo de manifiesto”</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Chrome está buscando manifest.json en la carpeta que seleccionaste.</a:t>
            </a:r>
          </a:p>
        </p:txBody>
      </p:sp>
      <p:sp>
        <p:nvSpPr>
          <p:cNvPr id="7" name="Rounded Rectangle 6"/>
          <p:cNvSpPr/>
          <p:nvPr/>
        </p:nvSpPr>
        <p:spPr>
          <a:xfrm>
            <a:off x="685800" y="2313432"/>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22376" y="2345436"/>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1</a:t>
            </a:r>
          </a:p>
        </p:txBody>
      </p:sp>
      <p:sp>
        <p:nvSpPr>
          <p:cNvPr id="9" name="TextBox 8"/>
          <p:cNvSpPr txBox="1"/>
          <p:nvPr/>
        </p:nvSpPr>
        <p:spPr>
          <a:xfrm>
            <a:off x="1280160" y="2286000"/>
            <a:ext cx="5806440"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Descomprime el ZIP de la extensión</a:t>
            </a:r>
          </a:p>
        </p:txBody>
      </p:sp>
      <p:sp>
        <p:nvSpPr>
          <p:cNvPr id="10" name="TextBox 9"/>
          <p:cNvSpPr txBox="1"/>
          <p:nvPr/>
        </p:nvSpPr>
        <p:spPr>
          <a:xfrm>
            <a:off x="1280160" y="2715768"/>
            <a:ext cx="5806440"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No selecciones el archivo .zip ni la carpeta del repositorio completo.</a:t>
            </a:r>
          </a:p>
        </p:txBody>
      </p:sp>
      <p:sp>
        <p:nvSpPr>
          <p:cNvPr id="11" name="Rounded Rectangle 10"/>
          <p:cNvSpPr/>
          <p:nvPr/>
        </p:nvSpPr>
        <p:spPr>
          <a:xfrm>
            <a:off x="685800" y="3602736"/>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22376" y="3634740"/>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2</a:t>
            </a:r>
          </a:p>
        </p:txBody>
      </p:sp>
      <p:sp>
        <p:nvSpPr>
          <p:cNvPr id="13" name="TextBox 12"/>
          <p:cNvSpPr txBox="1"/>
          <p:nvPr/>
        </p:nvSpPr>
        <p:spPr>
          <a:xfrm>
            <a:off x="1280160" y="3575304"/>
            <a:ext cx="5806440"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Abre la carpeta y mira su contenido</a:t>
            </a:r>
          </a:p>
        </p:txBody>
      </p:sp>
      <p:sp>
        <p:nvSpPr>
          <p:cNvPr id="14" name="TextBox 13"/>
          <p:cNvSpPr txBox="1"/>
          <p:nvPr/>
        </p:nvSpPr>
        <p:spPr>
          <a:xfrm>
            <a:off x="1280160" y="4005072"/>
            <a:ext cx="5806440"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Debes ver manifest.json junto a background.js e index.html.</a:t>
            </a:r>
          </a:p>
        </p:txBody>
      </p:sp>
      <p:sp>
        <p:nvSpPr>
          <p:cNvPr id="15" name="Rounded Rectangle 14"/>
          <p:cNvSpPr/>
          <p:nvPr/>
        </p:nvSpPr>
        <p:spPr>
          <a:xfrm>
            <a:off x="685800" y="4892040"/>
            <a:ext cx="374904" cy="37490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4924044"/>
            <a:ext cx="301752" cy="283464"/>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3</a:t>
            </a:r>
          </a:p>
        </p:txBody>
      </p:sp>
      <p:sp>
        <p:nvSpPr>
          <p:cNvPr id="17" name="TextBox 16"/>
          <p:cNvSpPr txBox="1"/>
          <p:nvPr/>
        </p:nvSpPr>
        <p:spPr>
          <a:xfrm>
            <a:off x="1280160" y="4864608"/>
            <a:ext cx="5806440" cy="356616"/>
          </a:xfrm>
          <a:prstGeom prst="rect">
            <a:avLst/>
          </a:prstGeom>
          <a:noFill/>
          <a:effectLst/>
        </p:spPr>
        <p:txBody>
          <a:bodyPr wrap="square" lIns="0" rIns="0" tIns="0" bIns="0" anchor="t">
            <a:spAutoFit/>
          </a:bodyPr>
          <a:lstStyle/>
          <a:p>
            <a:pPr>
              <a:lnSpc>
                <a:spcPct val="112000"/>
              </a:lnSpc>
              <a:spcAft>
                <a:spcPts val="500"/>
              </a:spcAft>
              <a:defRPr sz="1900" b="1">
                <a:solidFill>
                  <a:srgbClr val="1D3555"/>
                </a:solidFill>
                <a:latin typeface="Arial"/>
              </a:defRPr>
            </a:pPr>
            <a:r>
              <a:t>Selecciona esa carpeta exacta</a:t>
            </a:r>
          </a:p>
        </p:txBody>
      </p:sp>
      <p:sp>
        <p:nvSpPr>
          <p:cNvPr id="18" name="TextBox 17"/>
          <p:cNvSpPr txBox="1"/>
          <p:nvPr/>
        </p:nvSpPr>
        <p:spPr>
          <a:xfrm>
            <a:off x="1280160" y="5294376"/>
            <a:ext cx="5806440" cy="603504"/>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Vuelve a Cargar descomprimida y confirma que aparezca la tarjeta del CRM.</a:t>
            </a:r>
          </a:p>
        </p:txBody>
      </p:sp>
      <p:sp>
        <p:nvSpPr>
          <p:cNvPr id="19" name="Rounded Rectangle 18"/>
          <p:cNvSpPr/>
          <p:nvPr/>
        </p:nvSpPr>
        <p:spPr>
          <a:xfrm>
            <a:off x="7571231" y="2377440"/>
            <a:ext cx="3749039" cy="2532888"/>
          </a:xfrm>
          <a:prstGeom prst="roundRect">
            <a:avLst>
              <a:gd name="adj" fmla="val 8000"/>
            </a:avLst>
          </a:prstGeom>
          <a:solidFill>
            <a:srgbClr val="17345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827264" y="2651760"/>
            <a:ext cx="3236976" cy="274320"/>
          </a:xfrm>
          <a:prstGeom prst="rect">
            <a:avLst/>
          </a:prstGeom>
          <a:noFill/>
          <a:effectLst/>
        </p:spPr>
        <p:txBody>
          <a:bodyPr wrap="square" lIns="0" rIns="0" tIns="0" bIns="0" anchor="t">
            <a:spAutoFit/>
          </a:bodyPr>
          <a:lstStyle/>
          <a:p>
            <a:pPr>
              <a:lnSpc>
                <a:spcPct val="112000"/>
              </a:lnSpc>
              <a:spcAft>
                <a:spcPts val="500"/>
              </a:spcAft>
              <a:defRPr sz="1200" b="1">
                <a:solidFill>
                  <a:srgbClr val="DAE7FB"/>
                </a:solidFill>
                <a:latin typeface="Arial"/>
              </a:defRPr>
            </a:pPr>
            <a:r>
              <a:t>CARPETA CORRECTA</a:t>
            </a:r>
          </a:p>
        </p:txBody>
      </p:sp>
      <p:sp>
        <p:nvSpPr>
          <p:cNvPr id="21" name="TextBox 20"/>
          <p:cNvSpPr txBox="1"/>
          <p:nvPr/>
        </p:nvSpPr>
        <p:spPr>
          <a:xfrm>
            <a:off x="7818120" y="3282696"/>
            <a:ext cx="3236976" cy="1508760"/>
          </a:xfrm>
          <a:prstGeom prst="rect">
            <a:avLst/>
          </a:prstGeom>
          <a:noFill/>
          <a:effectLst/>
        </p:spPr>
        <p:txBody>
          <a:bodyPr wrap="square" lIns="0" rIns="0" tIns="0" bIns="0" anchor="t">
            <a:spAutoFit/>
          </a:bodyPr>
          <a:lstStyle/>
          <a:p>
            <a:pPr>
              <a:lnSpc>
                <a:spcPct val="112000"/>
              </a:lnSpc>
              <a:spcAft>
                <a:spcPts val="500"/>
              </a:spcAft>
              <a:defRPr sz="1800" b="0">
                <a:solidFill>
                  <a:srgbClr val="FFFFFF"/>
                </a:solidFill>
                <a:latin typeface="Courier New"/>
              </a:defRPr>
            </a:pPr>
            <a:r>
              <a:t>CRM-ANA-Extension</a:t>
            </a:r>
          </a:p>
          <a:p>
            <a:pPr>
              <a:lnSpc>
                <a:spcPct val="112000"/>
              </a:lnSpc>
              <a:spcAft>
                <a:spcPts val="500"/>
              </a:spcAft>
              <a:defRPr sz="1800" b="0">
                <a:solidFill>
                  <a:srgbClr val="FFFFFF"/>
                </a:solidFill>
                <a:latin typeface="Courier New"/>
              </a:defRPr>
            </a:pPr>
            <a:r>
              <a:t>  manifest.json</a:t>
            </a:r>
          </a:p>
          <a:p>
            <a:pPr>
              <a:lnSpc>
                <a:spcPct val="112000"/>
              </a:lnSpc>
              <a:spcAft>
                <a:spcPts val="500"/>
              </a:spcAft>
              <a:defRPr sz="1800" b="0">
                <a:solidFill>
                  <a:srgbClr val="FFFFFF"/>
                </a:solidFill>
                <a:latin typeface="Courier New"/>
              </a:defRPr>
            </a:pPr>
            <a:r>
              <a:t>  background.js</a:t>
            </a:r>
          </a:p>
          <a:p>
            <a:pPr>
              <a:lnSpc>
                <a:spcPct val="112000"/>
              </a:lnSpc>
              <a:spcAft>
                <a:spcPts val="500"/>
              </a:spcAft>
              <a:defRPr sz="1800" b="0">
                <a:solidFill>
                  <a:srgbClr val="FFFFFF"/>
                </a:solidFill>
                <a:latin typeface="Courier New"/>
              </a:defRPr>
            </a:pPr>
            <a:r>
              <a:t>  index.html</a:t>
            </a:r>
          </a:p>
        </p:txBody>
      </p:sp>
      <p:sp>
        <p:nvSpPr>
          <p:cNvPr id="22" name="Rounded Rectangle 21">
            <a:hlinkClick action="ppaction://hlinksldjump" r:id="rId4" tooltip="Volver al paso de Chrome  →"/>
          </p:cNvPr>
          <p:cNvSpPr/>
          <p:nvPr/>
        </p:nvSpPr>
        <p:spPr>
          <a:xfrm>
            <a:off x="7589520" y="5257800"/>
            <a:ext cx="3703320" cy="43891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a:hlinkClick action="ppaction://hlinksldjump" r:id="rId4" tooltip="Volver al paso de Chrome  →"/>
          </p:cNvPr>
          <p:cNvSpPr txBox="1"/>
          <p:nvPr/>
        </p:nvSpPr>
        <p:spPr>
          <a:xfrm>
            <a:off x="7680960" y="5271516"/>
            <a:ext cx="3520439" cy="411479"/>
          </a:xfrm>
          <a:prstGeom prst="rect">
            <a:avLst/>
          </a:prstGeom>
          <a:noFill/>
          <a:effectLst/>
        </p:spPr>
        <p:txBody>
          <a:bodyPr wrap="square" lIns="0" rIns="0" tIns="0" bIns="0" anchor="ctr">
            <a:spAutoFit/>
          </a:bodyPr>
          <a:lstStyle/>
          <a:p>
            <a:pPr algn="ctr">
              <a:lnSpc>
                <a:spcPct val="112000"/>
              </a:lnSpc>
              <a:spcAft>
                <a:spcPts val="500"/>
              </a:spcAft>
              <a:defRPr sz="1300" b="1">
                <a:solidFill>
                  <a:srgbClr val="FFFFFF"/>
                </a:solidFill>
                <a:latin typeface="Arial"/>
              </a:defRPr>
            </a:pPr>
            <a:r>
              <a:t>Volver al paso de Chrome  →</a:t>
            </a:r>
          </a:p>
        </p:txBody>
      </p:sp>
      <p:sp>
        <p:nvSpPr>
          <p:cNvPr id="24" name="Rectangle 23"/>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26" name="TextBox 25">
            <a:hlinkClick action="ppaction://hlinksldjump" r:id="rId5"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27" name="TextBox 26">
            <a:hlinkClick action="ppaction://hlinksldjump" r:id="rId6"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28" name="TextBox 27">
            <a:hlinkClick action="ppaction://hlinksldjump" r:id="rId7"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29" name="TextBox 28">
            <a:hlinkClick action="ppaction://hlinksldjump" r:id="rId8"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30" name="TextBox 29">
            <a:hlinkClick action="ppaction://hlinksldjump" r:id="rId8"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1" name="TextBox 30">
            <a:hlinkClick action="ppaction://hlinksldjump" r:id="rId9"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32" name="TextBox 31">
            <a:hlinkClick action="ppaction://hlinksldjump" r:id="rId10"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3" name="TextBox 32"/>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26 / 33</a:t>
            </a:r>
          </a:p>
        </p:txBody>
      </p:sp>
    </p:spTree>
  </p:cSld>
  <p:clrMapOvr>
    <a:masterClrMapping/>
  </p:clrMapOvr>
  <p:transition advClick="1"/>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RESOLVER: CONTEXTO DEL CHAT</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El chat no se actualiza: revisa el lector</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Primero comprueba que la tarjeta de la extensión muestre versión 1.2.1.</a:t>
            </a:r>
          </a:p>
        </p:txBody>
      </p:sp>
      <p:sp>
        <p:nvSpPr>
          <p:cNvPr id="7" name="Rounded Rectangle 6"/>
          <p:cNvSpPr/>
          <p:nvPr/>
        </p:nvSpPr>
        <p:spPr>
          <a:xfrm>
            <a:off x="640080" y="2359152"/>
            <a:ext cx="5303520" cy="142646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804671" y="2542032"/>
            <a:ext cx="347472" cy="34747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22959" y="2555748"/>
            <a:ext cx="310896" cy="292608"/>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1</a:t>
            </a:r>
          </a:p>
        </p:txBody>
      </p:sp>
      <p:sp>
        <p:nvSpPr>
          <p:cNvPr id="10" name="TextBox 9"/>
          <p:cNvSpPr txBox="1"/>
          <p:nvPr/>
        </p:nvSpPr>
        <p:spPr>
          <a:xfrm>
            <a:off x="1307592" y="2505456"/>
            <a:ext cx="4471416"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Recarga la extensión</a:t>
            </a:r>
          </a:p>
        </p:txBody>
      </p:sp>
      <p:sp>
        <p:nvSpPr>
          <p:cNvPr id="11" name="TextBox 10"/>
          <p:cNvSpPr txBox="1"/>
          <p:nvPr/>
        </p:nvSpPr>
        <p:spPr>
          <a:xfrm>
            <a:off x="1307592" y="2871216"/>
            <a:ext cx="4471416" cy="877824"/>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Cierra el panel y pulsa ↻ Recargar en chrome://extensions.</a:t>
            </a:r>
          </a:p>
        </p:txBody>
      </p:sp>
      <p:sp>
        <p:nvSpPr>
          <p:cNvPr id="12" name="Rounded Rectangle 11"/>
          <p:cNvSpPr/>
          <p:nvPr/>
        </p:nvSpPr>
        <p:spPr>
          <a:xfrm>
            <a:off x="6345936" y="2359152"/>
            <a:ext cx="5303520" cy="142646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6510528" y="2542032"/>
            <a:ext cx="347472" cy="34747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528816" y="2555748"/>
            <a:ext cx="310896" cy="292608"/>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2</a:t>
            </a:r>
          </a:p>
        </p:txBody>
      </p:sp>
      <p:sp>
        <p:nvSpPr>
          <p:cNvPr id="15" name="TextBox 14"/>
          <p:cNvSpPr txBox="1"/>
          <p:nvPr/>
        </p:nvSpPr>
        <p:spPr>
          <a:xfrm>
            <a:off x="7013448" y="2505456"/>
            <a:ext cx="4471416"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Recarga WhatsApp Web</a:t>
            </a:r>
          </a:p>
        </p:txBody>
      </p:sp>
      <p:sp>
        <p:nvSpPr>
          <p:cNvPr id="16" name="TextBox 15"/>
          <p:cNvSpPr txBox="1"/>
          <p:nvPr/>
        </p:nvSpPr>
        <p:spPr>
          <a:xfrm>
            <a:off x="7013448" y="2871216"/>
            <a:ext cx="4471416" cy="877824"/>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Ctrl+R en Windows o ⌘R en Mac. Después abre otra vez el panel.</a:t>
            </a:r>
          </a:p>
        </p:txBody>
      </p:sp>
      <p:sp>
        <p:nvSpPr>
          <p:cNvPr id="17" name="Rounded Rectangle 16"/>
          <p:cNvSpPr/>
          <p:nvPr/>
        </p:nvSpPr>
        <p:spPr>
          <a:xfrm>
            <a:off x="640080" y="4050791"/>
            <a:ext cx="5303520" cy="142646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804671" y="4233672"/>
            <a:ext cx="347472" cy="34747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22959" y="4247388"/>
            <a:ext cx="310896" cy="292608"/>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3</a:t>
            </a:r>
          </a:p>
        </p:txBody>
      </p:sp>
      <p:sp>
        <p:nvSpPr>
          <p:cNvPr id="20" name="TextBox 19"/>
          <p:cNvSpPr txBox="1"/>
          <p:nvPr/>
        </p:nvSpPr>
        <p:spPr>
          <a:xfrm>
            <a:off x="1307592" y="4197096"/>
            <a:ext cx="4471416"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Abre otro chat y vuelve a detectar</a:t>
            </a:r>
          </a:p>
        </p:txBody>
      </p:sp>
      <p:sp>
        <p:nvSpPr>
          <p:cNvPr id="21" name="TextBox 20"/>
          <p:cNvSpPr txBox="1"/>
          <p:nvPr/>
        </p:nvSpPr>
        <p:spPr>
          <a:xfrm>
            <a:off x="1307592" y="4562856"/>
            <a:ext cx="4471416" cy="877824"/>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Usa Volver a detectar chat y comprueba el nombre mostrado.</a:t>
            </a:r>
          </a:p>
        </p:txBody>
      </p:sp>
      <p:sp>
        <p:nvSpPr>
          <p:cNvPr id="22" name="Rounded Rectangle 21"/>
          <p:cNvSpPr/>
          <p:nvPr/>
        </p:nvSpPr>
        <p:spPr>
          <a:xfrm>
            <a:off x="6345936" y="4050791"/>
            <a:ext cx="5303520" cy="142646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6510528" y="4233672"/>
            <a:ext cx="347472" cy="34747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528816" y="4247388"/>
            <a:ext cx="310896" cy="292608"/>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4</a:t>
            </a:r>
          </a:p>
        </p:txBody>
      </p:sp>
      <p:sp>
        <p:nvSpPr>
          <p:cNvPr id="25" name="TextBox 24"/>
          <p:cNvSpPr txBox="1"/>
          <p:nvPr/>
        </p:nvSpPr>
        <p:spPr>
          <a:xfrm>
            <a:off x="7013448" y="4197096"/>
            <a:ext cx="4471416"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Selecciona o crea la ficha</a:t>
            </a:r>
          </a:p>
        </p:txBody>
      </p:sp>
      <p:sp>
        <p:nvSpPr>
          <p:cNvPr id="26" name="TextBox 25"/>
          <p:cNvSpPr txBox="1"/>
          <p:nvPr/>
        </p:nvSpPr>
        <p:spPr>
          <a:xfrm>
            <a:off x="7013448" y="4562856"/>
            <a:ext cx="4471416" cy="877824"/>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Sin coincidencia única, usa Directorio o Crear espacio para este chat.</a:t>
            </a:r>
          </a:p>
        </p:txBody>
      </p:sp>
      <p:sp>
        <p:nvSpPr>
          <p:cNvPr id="27" name="Rounded Rectangle 26"/>
          <p:cNvSpPr/>
          <p:nvPr/>
        </p:nvSpPr>
        <p:spPr>
          <a:xfrm>
            <a:off x="502920" y="5824728"/>
            <a:ext cx="11183112" cy="41148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40080" y="5888736"/>
            <a:ext cx="10908792" cy="301752"/>
          </a:xfrm>
          <a:prstGeom prst="rect">
            <a:avLst/>
          </a:prstGeom>
          <a:noFill/>
          <a:effectLst/>
        </p:spPr>
        <p:txBody>
          <a:bodyPr wrap="square" lIns="0" rIns="0" tIns="0" bIns="0" anchor="t">
            <a:spAutoFit/>
          </a:bodyPr>
          <a:lstStyle/>
          <a:p>
            <a:pPr>
              <a:lnSpc>
                <a:spcPct val="112000"/>
              </a:lnSpc>
              <a:spcAft>
                <a:spcPts val="500"/>
              </a:spcAft>
              <a:defRPr sz="1250" b="0">
                <a:solidFill>
                  <a:srgbClr val="2957A4"/>
                </a:solidFill>
                <a:latin typeface="Arial"/>
              </a:defRPr>
            </a:pPr>
            <a:r>
              <a:t>El nombre guardado en WhatsApp puede no revelar el teléfono; verifica los datos antes de vincular una ficha.</a:t>
            </a:r>
          </a:p>
        </p:txBody>
      </p:sp>
      <p:sp>
        <p:nvSpPr>
          <p:cNvPr id="29" name="Rectangle 28"/>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31" name="TextBox 30">
            <a:hlinkClick action="ppaction://hlinksldjump" r:id="rId4"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32" name="TextBox 31">
            <a:hlinkClick action="ppaction://hlinksldjump" r:id="rId5"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33" name="TextBox 32">
            <a:hlinkClick action="ppaction://hlinksldjump" r:id="rId6"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34" name="TextBox 33">
            <a:hlinkClick action="ppaction://hlinksldjump" r:id="rId7"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35" name="TextBox 34">
            <a:hlinkClick action="ppaction://hlinksldjump" r:id="rId8"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6" name="TextBox 35">
            <a:hlinkClick action="ppaction://hlinksldjump" r:id="rId9"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37" name="TextBox 36">
            <a:hlinkClick action="ppaction://hlinksldjump" r:id="rId10"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8" name="TextBox 37"/>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27 / 33</a:t>
            </a:r>
          </a:p>
        </p:txBody>
      </p:sp>
    </p:spTree>
  </p:cSld>
  <p:clrMapOvr>
    <a:masterClrMapping/>
  </p:clrMapOvr>
  <p:transition advClick="1"/>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RESOLVER: CONEXIÓN</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Acceso o API: identifica el mensaje</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El operador revisa el acceso; el administrador revisa el despliegue cuando corresponde.</a:t>
            </a:r>
          </a:p>
        </p:txBody>
      </p:sp>
      <p:sp>
        <p:nvSpPr>
          <p:cNvPr id="7" name="Rounded Rectangle 6"/>
          <p:cNvSpPr/>
          <p:nvPr/>
        </p:nvSpPr>
        <p:spPr>
          <a:xfrm>
            <a:off x="658368" y="2240280"/>
            <a:ext cx="10853928" cy="100584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822959" y="2423160"/>
            <a:ext cx="347472" cy="34747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41247" y="2436876"/>
            <a:ext cx="310896" cy="292608"/>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1</a:t>
            </a:r>
          </a:p>
        </p:txBody>
      </p:sp>
      <p:sp>
        <p:nvSpPr>
          <p:cNvPr id="10" name="TextBox 9"/>
          <p:cNvSpPr txBox="1"/>
          <p:nvPr/>
        </p:nvSpPr>
        <p:spPr>
          <a:xfrm>
            <a:off x="1325880" y="2386584"/>
            <a:ext cx="10021824"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Token inválido / 401</a:t>
            </a:r>
          </a:p>
        </p:txBody>
      </p:sp>
      <p:sp>
        <p:nvSpPr>
          <p:cNvPr id="11" name="TextBox 10"/>
          <p:cNvSpPr txBox="1"/>
          <p:nvPr/>
        </p:nvSpPr>
        <p:spPr>
          <a:xfrm>
            <a:off x="1325880" y="2752344"/>
            <a:ext cx="10021824" cy="457200"/>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Introduce nuevamente el token vigente. Si fue cambiado, solicita el nuevo al administrador.</a:t>
            </a:r>
          </a:p>
        </p:txBody>
      </p:sp>
      <p:sp>
        <p:nvSpPr>
          <p:cNvPr id="12" name="Rounded Rectangle 11"/>
          <p:cNvSpPr/>
          <p:nvPr/>
        </p:nvSpPr>
        <p:spPr>
          <a:xfrm>
            <a:off x="658368" y="3410712"/>
            <a:ext cx="10853928" cy="100584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822959" y="3593592"/>
            <a:ext cx="347472" cy="34747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41247" y="3607308"/>
            <a:ext cx="310896" cy="292608"/>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2</a:t>
            </a:r>
          </a:p>
        </p:txBody>
      </p:sp>
      <p:sp>
        <p:nvSpPr>
          <p:cNvPr id="15" name="TextBox 14"/>
          <p:cNvSpPr txBox="1"/>
          <p:nvPr/>
        </p:nvSpPr>
        <p:spPr>
          <a:xfrm>
            <a:off x="1325880" y="3557016"/>
            <a:ext cx="10021824"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No respondió JSON</a:t>
            </a:r>
          </a:p>
        </p:txBody>
      </p:sp>
      <p:sp>
        <p:nvSpPr>
          <p:cNvPr id="16" name="TextBox 15"/>
          <p:cNvSpPr txBox="1"/>
          <p:nvPr/>
        </p:nvSpPr>
        <p:spPr>
          <a:xfrm>
            <a:off x="1325880" y="3922776"/>
            <a:ext cx="10021824" cy="457200"/>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Abre el CRM web y avisa al administrador para comprobar Pages Functions y la URL del despliegue.</a:t>
            </a:r>
          </a:p>
        </p:txBody>
      </p:sp>
      <p:sp>
        <p:nvSpPr>
          <p:cNvPr id="17" name="Rounded Rectangle 16"/>
          <p:cNvSpPr/>
          <p:nvPr/>
        </p:nvSpPr>
        <p:spPr>
          <a:xfrm>
            <a:off x="658368" y="4581144"/>
            <a:ext cx="10853928" cy="1005840"/>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822959" y="4764024"/>
            <a:ext cx="347472" cy="34747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41247" y="4777740"/>
            <a:ext cx="310896" cy="292608"/>
          </a:xfrm>
          <a:prstGeom prst="rect">
            <a:avLst/>
          </a:prstGeom>
          <a:noFill/>
          <a:effectLst/>
        </p:spPr>
        <p:txBody>
          <a:bodyPr wrap="square" lIns="0" rIns="0" tIns="0" bIns="0" anchor="t">
            <a:spAutoFit/>
          </a:bodyPr>
          <a:lstStyle/>
          <a:p>
            <a:pPr algn="ctr">
              <a:lnSpc>
                <a:spcPct val="112000"/>
              </a:lnSpc>
              <a:spcAft>
                <a:spcPts val="500"/>
              </a:spcAft>
              <a:defRPr sz="1400" b="1">
                <a:solidFill>
                  <a:srgbClr val="FFFFFF"/>
                </a:solidFill>
                <a:latin typeface="Arial"/>
              </a:defRPr>
            </a:pPr>
            <a:r>
              <a:t>3</a:t>
            </a:r>
          </a:p>
        </p:txBody>
      </p:sp>
      <p:sp>
        <p:nvSpPr>
          <p:cNvPr id="20" name="TextBox 19"/>
          <p:cNvSpPr txBox="1"/>
          <p:nvPr/>
        </p:nvSpPr>
        <p:spPr>
          <a:xfrm>
            <a:off x="1325880" y="4727448"/>
            <a:ext cx="10021824" cy="310896"/>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Servicio no disponible / 503</a:t>
            </a:r>
          </a:p>
        </p:txBody>
      </p:sp>
      <p:sp>
        <p:nvSpPr>
          <p:cNvPr id="21" name="TextBox 20"/>
          <p:cNvSpPr txBox="1"/>
          <p:nvPr/>
        </p:nvSpPr>
        <p:spPr>
          <a:xfrm>
            <a:off x="1325880" y="5093208"/>
            <a:ext cx="10021824" cy="457200"/>
          </a:xfrm>
          <a:prstGeom prst="rect">
            <a:avLst/>
          </a:prstGeom>
          <a:noFill/>
          <a:effectLst/>
        </p:spPr>
        <p:txBody>
          <a:bodyPr wrap="square" lIns="0" rIns="0" tIns="0" bIns="0" anchor="t">
            <a:spAutoFit/>
          </a:bodyPr>
          <a:lstStyle/>
          <a:p>
            <a:pPr>
              <a:lnSpc>
                <a:spcPct val="112000"/>
              </a:lnSpc>
              <a:spcAft>
                <a:spcPts val="500"/>
              </a:spcAft>
              <a:defRPr sz="1300" b="0">
                <a:solidFill>
                  <a:srgbClr val="617793"/>
                </a:solidFill>
                <a:latin typeface="Arial"/>
              </a:defRPr>
            </a:pPr>
            <a:r>
              <a:t>El administrador debe revisar TEAM_TOKEN y el binding DB en Cloudflare. No borres la base.</a:t>
            </a:r>
          </a:p>
        </p:txBody>
      </p:sp>
      <p:sp>
        <p:nvSpPr>
          <p:cNvPr id="22" name="Rounded Rectangle 21">
            <a:hlinkClick r:id="rId3" tooltip="Abrir CRM para comprobar  ↗"/>
          </p:cNvPr>
          <p:cNvSpPr/>
          <p:nvPr/>
        </p:nvSpPr>
        <p:spPr>
          <a:xfrm>
            <a:off x="859536" y="5925312"/>
            <a:ext cx="4023360" cy="43891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a:hlinkClick r:id="rId3" tooltip="Abrir CRM para comprobar  ↗"/>
          </p:cNvPr>
          <p:cNvSpPr txBox="1"/>
          <p:nvPr/>
        </p:nvSpPr>
        <p:spPr>
          <a:xfrm>
            <a:off x="950976" y="5939028"/>
            <a:ext cx="3840480" cy="411479"/>
          </a:xfrm>
          <a:prstGeom prst="rect">
            <a:avLst/>
          </a:prstGeom>
          <a:noFill/>
          <a:effectLst/>
        </p:spPr>
        <p:txBody>
          <a:bodyPr wrap="square" lIns="0" rIns="0" tIns="0" bIns="0" anchor="ctr">
            <a:spAutoFit/>
          </a:bodyPr>
          <a:lstStyle/>
          <a:p>
            <a:pPr algn="ctr">
              <a:lnSpc>
                <a:spcPct val="112000"/>
              </a:lnSpc>
              <a:spcAft>
                <a:spcPts val="500"/>
              </a:spcAft>
              <a:defRPr sz="1300" b="1">
                <a:solidFill>
                  <a:srgbClr val="FFFFFF"/>
                </a:solidFill>
                <a:latin typeface="Arial"/>
              </a:defRPr>
            </a:pPr>
            <a:r>
              <a:t>Abrir CRM para comprobar  ↗</a:t>
            </a:r>
          </a:p>
        </p:txBody>
      </p:sp>
      <p:sp>
        <p:nvSpPr>
          <p:cNvPr id="24" name="TextBox 23"/>
          <p:cNvSpPr txBox="1"/>
          <p:nvPr/>
        </p:nvSpPr>
        <p:spPr>
          <a:xfrm>
            <a:off x="5276088" y="5971032"/>
            <a:ext cx="6126480" cy="320040"/>
          </a:xfrm>
          <a:prstGeom prst="rect">
            <a:avLst/>
          </a:prstGeom>
          <a:noFill/>
          <a:effectLst/>
        </p:spPr>
        <p:txBody>
          <a:bodyPr wrap="square" lIns="0" rIns="0" tIns="0" bIns="0" anchor="t">
            <a:spAutoFit/>
          </a:bodyPr>
          <a:lstStyle/>
          <a:p>
            <a:pPr>
              <a:lnSpc>
                <a:spcPct val="112000"/>
              </a:lnSpc>
              <a:spcAft>
                <a:spcPts val="500"/>
              </a:spcAft>
              <a:defRPr sz="1250" b="0">
                <a:solidFill>
                  <a:srgbClr val="617793"/>
                </a:solidFill>
                <a:latin typeface="Arial"/>
              </a:defRPr>
            </a:pPr>
            <a:r>
              <a:t>Si hay error de red, recupera la conexión antes de volver a guardar.</a:t>
            </a:r>
          </a:p>
        </p:txBody>
      </p:sp>
      <p:sp>
        <p:nvSpPr>
          <p:cNvPr id="25" name="Rectangle 24"/>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27" name="TextBox 26">
            <a:hlinkClick action="ppaction://hlinksldjump" r:id="rId5"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28" name="TextBox 27">
            <a:hlinkClick action="ppaction://hlinksldjump" r:id="rId6"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29" name="TextBox 28">
            <a:hlinkClick action="ppaction://hlinksldjump" r:id="rId7"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30" name="TextBox 29">
            <a:hlinkClick action="ppaction://hlinksldjump" r:id="rId8"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31" name="TextBox 30">
            <a:hlinkClick action="ppaction://hlinksldjump" r:id="rId9"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2" name="TextBox 31">
            <a:hlinkClick action="ppaction://hlinksldjump" r:id="rId10"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33" name="TextBox 32">
            <a:hlinkClick action="ppaction://hlinksldjump" r:id="rId11"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4" name="TextBox 33"/>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28 / 33</a:t>
            </a:r>
          </a:p>
        </p:txBody>
      </p:sp>
    </p:spTree>
  </p:cSld>
  <p:clrMapOvr>
    <a:masterClrMapping/>
  </p:clrMapOvr>
  <p:transition advClick="1"/>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APRENDER HACIENDO</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Práctica guiada: una coordinación completa</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Ejemplo: un contacto solicita conversar con Jaruska y entregar un material para revisión.</a:t>
            </a:r>
          </a:p>
        </p:txBody>
      </p:sp>
      <p:sp>
        <p:nvSpPr>
          <p:cNvPr id="7" name="Rounded Rectangle 6">
            <a:hlinkClick action="ppaction://hlinksldjump" r:id="rId4" tooltip="Repasar: Abre o crea su ficha"/>
          </p:cNvPr>
          <p:cNvSpPr/>
          <p:nvPr/>
        </p:nvSpPr>
        <p:spPr>
          <a:xfrm>
            <a:off x="640080" y="2176272"/>
            <a:ext cx="5285232" cy="78638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a:hlinkClick action="ppaction://hlinksldjump" r:id="rId4" tooltip="Repasar: Abre o crea su ficha"/>
          </p:cNvPr>
          <p:cNvSpPr txBox="1"/>
          <p:nvPr/>
        </p:nvSpPr>
        <p:spPr>
          <a:xfrm>
            <a:off x="822959" y="2359152"/>
            <a:ext cx="365760" cy="384048"/>
          </a:xfrm>
          <a:prstGeom prst="rect">
            <a:avLst/>
          </a:prstGeom>
          <a:noFill/>
          <a:effectLst/>
        </p:spPr>
        <p:txBody>
          <a:bodyPr wrap="square" lIns="0" rIns="0" tIns="0" bIns="0" anchor="t">
            <a:spAutoFit/>
          </a:bodyPr>
          <a:lstStyle/>
          <a:p>
            <a:pPr>
              <a:lnSpc>
                <a:spcPct val="112000"/>
              </a:lnSpc>
              <a:spcAft>
                <a:spcPts val="500"/>
              </a:spcAft>
              <a:defRPr sz="2200" b="1">
                <a:solidFill>
                  <a:srgbClr val="2957A4"/>
                </a:solidFill>
                <a:latin typeface="Arial"/>
              </a:defRPr>
            </a:pPr>
            <a:r>
              <a:t>1</a:t>
            </a:r>
          </a:p>
        </p:txBody>
      </p:sp>
      <p:sp>
        <p:nvSpPr>
          <p:cNvPr id="9" name="TextBox 8">
            <a:hlinkClick action="ppaction://hlinksldjump" r:id="rId4" tooltip="Repasar: Abre o crea su ficha"/>
          </p:cNvPr>
          <p:cNvSpPr txBox="1"/>
          <p:nvPr/>
        </p:nvSpPr>
        <p:spPr>
          <a:xfrm>
            <a:off x="1444752" y="2386584"/>
            <a:ext cx="4206240" cy="384048"/>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Abre o crea su ficha</a:t>
            </a:r>
          </a:p>
        </p:txBody>
      </p:sp>
      <p:sp>
        <p:nvSpPr>
          <p:cNvPr id="10" name="Rounded Rectangle 9">
            <a:hlinkClick action="ppaction://hlinksldjump" r:id="rId4" tooltip="Repasar: Asigna CUT y responsables"/>
          </p:cNvPr>
          <p:cNvSpPr/>
          <p:nvPr/>
        </p:nvSpPr>
        <p:spPr>
          <a:xfrm>
            <a:off x="6336792" y="2176272"/>
            <a:ext cx="5285232" cy="78638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a:hlinkClick action="ppaction://hlinksldjump" r:id="rId4" tooltip="Repasar: Asigna CUT y responsables"/>
          </p:cNvPr>
          <p:cNvSpPr txBox="1"/>
          <p:nvPr/>
        </p:nvSpPr>
        <p:spPr>
          <a:xfrm>
            <a:off x="6519672" y="2359152"/>
            <a:ext cx="365760" cy="384048"/>
          </a:xfrm>
          <a:prstGeom prst="rect">
            <a:avLst/>
          </a:prstGeom>
          <a:noFill/>
          <a:effectLst/>
        </p:spPr>
        <p:txBody>
          <a:bodyPr wrap="square" lIns="0" rIns="0" tIns="0" bIns="0" anchor="t">
            <a:spAutoFit/>
          </a:bodyPr>
          <a:lstStyle/>
          <a:p>
            <a:pPr>
              <a:lnSpc>
                <a:spcPct val="112000"/>
              </a:lnSpc>
              <a:spcAft>
                <a:spcPts val="500"/>
              </a:spcAft>
              <a:defRPr sz="2200" b="1">
                <a:solidFill>
                  <a:srgbClr val="2957A4"/>
                </a:solidFill>
                <a:latin typeface="Arial"/>
              </a:defRPr>
            </a:pPr>
            <a:r>
              <a:t>2</a:t>
            </a:r>
          </a:p>
        </p:txBody>
      </p:sp>
      <p:sp>
        <p:nvSpPr>
          <p:cNvPr id="12" name="TextBox 11">
            <a:hlinkClick action="ppaction://hlinksldjump" r:id="rId4" tooltip="Repasar: Asigna CUT y responsables"/>
          </p:cNvPr>
          <p:cNvSpPr txBox="1"/>
          <p:nvPr/>
        </p:nvSpPr>
        <p:spPr>
          <a:xfrm>
            <a:off x="7141464" y="2386584"/>
            <a:ext cx="4206240" cy="384048"/>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Asigna CUT y responsables</a:t>
            </a:r>
          </a:p>
        </p:txBody>
      </p:sp>
      <p:sp>
        <p:nvSpPr>
          <p:cNvPr id="13" name="Rounded Rectangle 12">
            <a:hlinkClick action="ppaction://hlinksldjump" r:id="rId5" tooltip="Repasar: Registra el contexto en Bitácora"/>
          </p:cNvPr>
          <p:cNvSpPr/>
          <p:nvPr/>
        </p:nvSpPr>
        <p:spPr>
          <a:xfrm>
            <a:off x="640080" y="3200400"/>
            <a:ext cx="5285232" cy="78638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a:hlinkClick action="ppaction://hlinksldjump" r:id="rId5" tooltip="Repasar: Registra el contexto en Bitácora"/>
          </p:cNvPr>
          <p:cNvSpPr txBox="1"/>
          <p:nvPr/>
        </p:nvSpPr>
        <p:spPr>
          <a:xfrm>
            <a:off x="822959" y="3383280"/>
            <a:ext cx="365760" cy="384048"/>
          </a:xfrm>
          <a:prstGeom prst="rect">
            <a:avLst/>
          </a:prstGeom>
          <a:noFill/>
          <a:effectLst/>
        </p:spPr>
        <p:txBody>
          <a:bodyPr wrap="square" lIns="0" rIns="0" tIns="0" bIns="0" anchor="t">
            <a:spAutoFit/>
          </a:bodyPr>
          <a:lstStyle/>
          <a:p>
            <a:pPr>
              <a:lnSpc>
                <a:spcPct val="112000"/>
              </a:lnSpc>
              <a:spcAft>
                <a:spcPts val="500"/>
              </a:spcAft>
              <a:defRPr sz="2200" b="1">
                <a:solidFill>
                  <a:srgbClr val="2957A4"/>
                </a:solidFill>
                <a:latin typeface="Arial"/>
              </a:defRPr>
            </a:pPr>
            <a:r>
              <a:t>3</a:t>
            </a:r>
          </a:p>
        </p:txBody>
      </p:sp>
      <p:sp>
        <p:nvSpPr>
          <p:cNvPr id="15" name="TextBox 14">
            <a:hlinkClick action="ppaction://hlinksldjump" r:id="rId5" tooltip="Repasar: Registra el contexto en Bitácora"/>
          </p:cNvPr>
          <p:cNvSpPr txBox="1"/>
          <p:nvPr/>
        </p:nvSpPr>
        <p:spPr>
          <a:xfrm>
            <a:off x="1444752" y="3410712"/>
            <a:ext cx="4206240" cy="384048"/>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Registra el contexto en Bitácora</a:t>
            </a:r>
          </a:p>
        </p:txBody>
      </p:sp>
      <p:sp>
        <p:nvSpPr>
          <p:cNvPr id="16" name="Rounded Rectangle 15">
            <a:hlinkClick action="ppaction://hlinksldjump" r:id="rId6" tooltip="Repasar: Envía un aviso a Jaruska"/>
          </p:cNvPr>
          <p:cNvSpPr/>
          <p:nvPr/>
        </p:nvSpPr>
        <p:spPr>
          <a:xfrm>
            <a:off x="6336792" y="3200400"/>
            <a:ext cx="5285232" cy="78638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a:hlinkClick action="ppaction://hlinksldjump" r:id="rId6" tooltip="Repasar: Envía un aviso a Jaruska"/>
          </p:cNvPr>
          <p:cNvSpPr txBox="1"/>
          <p:nvPr/>
        </p:nvSpPr>
        <p:spPr>
          <a:xfrm>
            <a:off x="6519672" y="3383280"/>
            <a:ext cx="365760" cy="384048"/>
          </a:xfrm>
          <a:prstGeom prst="rect">
            <a:avLst/>
          </a:prstGeom>
          <a:noFill/>
          <a:effectLst/>
        </p:spPr>
        <p:txBody>
          <a:bodyPr wrap="square" lIns="0" rIns="0" tIns="0" bIns="0" anchor="t">
            <a:spAutoFit/>
          </a:bodyPr>
          <a:lstStyle/>
          <a:p>
            <a:pPr>
              <a:lnSpc>
                <a:spcPct val="112000"/>
              </a:lnSpc>
              <a:spcAft>
                <a:spcPts val="500"/>
              </a:spcAft>
              <a:defRPr sz="2200" b="1">
                <a:solidFill>
                  <a:srgbClr val="2957A4"/>
                </a:solidFill>
                <a:latin typeface="Arial"/>
              </a:defRPr>
            </a:pPr>
            <a:r>
              <a:t>4</a:t>
            </a:r>
          </a:p>
        </p:txBody>
      </p:sp>
      <p:sp>
        <p:nvSpPr>
          <p:cNvPr id="18" name="TextBox 17">
            <a:hlinkClick action="ppaction://hlinksldjump" r:id="rId6" tooltip="Repasar: Envía un aviso a Jaruska"/>
          </p:cNvPr>
          <p:cNvSpPr txBox="1"/>
          <p:nvPr/>
        </p:nvSpPr>
        <p:spPr>
          <a:xfrm>
            <a:off x="7141464" y="3410712"/>
            <a:ext cx="4206240" cy="384048"/>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Envía un aviso a Jaruska</a:t>
            </a:r>
          </a:p>
        </p:txBody>
      </p:sp>
      <p:sp>
        <p:nvSpPr>
          <p:cNvPr id="19" name="Rounded Rectangle 18">
            <a:hlinkClick action="ppaction://hlinksldjump" r:id="rId7" tooltip="Repasar: Crea la tarea con fecha límite"/>
          </p:cNvPr>
          <p:cNvSpPr/>
          <p:nvPr/>
        </p:nvSpPr>
        <p:spPr>
          <a:xfrm>
            <a:off x="640080" y="4224528"/>
            <a:ext cx="5285232" cy="78638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a:hlinkClick action="ppaction://hlinksldjump" r:id="rId7" tooltip="Repasar: Crea la tarea con fecha límite"/>
          </p:cNvPr>
          <p:cNvSpPr txBox="1"/>
          <p:nvPr/>
        </p:nvSpPr>
        <p:spPr>
          <a:xfrm>
            <a:off x="822959" y="4407408"/>
            <a:ext cx="365760" cy="384048"/>
          </a:xfrm>
          <a:prstGeom prst="rect">
            <a:avLst/>
          </a:prstGeom>
          <a:noFill/>
          <a:effectLst/>
        </p:spPr>
        <p:txBody>
          <a:bodyPr wrap="square" lIns="0" rIns="0" tIns="0" bIns="0" anchor="t">
            <a:spAutoFit/>
          </a:bodyPr>
          <a:lstStyle/>
          <a:p>
            <a:pPr>
              <a:lnSpc>
                <a:spcPct val="112000"/>
              </a:lnSpc>
              <a:spcAft>
                <a:spcPts val="500"/>
              </a:spcAft>
              <a:defRPr sz="2200" b="1">
                <a:solidFill>
                  <a:srgbClr val="2957A4"/>
                </a:solidFill>
                <a:latin typeface="Arial"/>
              </a:defRPr>
            </a:pPr>
            <a:r>
              <a:t>5</a:t>
            </a:r>
          </a:p>
        </p:txBody>
      </p:sp>
      <p:sp>
        <p:nvSpPr>
          <p:cNvPr id="21" name="TextBox 20">
            <a:hlinkClick action="ppaction://hlinksldjump" r:id="rId7" tooltip="Repasar: Crea la tarea con fecha límite"/>
          </p:cNvPr>
          <p:cNvSpPr txBox="1"/>
          <p:nvPr/>
        </p:nvSpPr>
        <p:spPr>
          <a:xfrm>
            <a:off x="1444752" y="4434840"/>
            <a:ext cx="4206240" cy="384048"/>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Crea la tarea con fecha límite</a:t>
            </a:r>
          </a:p>
        </p:txBody>
      </p:sp>
      <p:sp>
        <p:nvSpPr>
          <p:cNvPr id="22" name="Rounded Rectangle 21">
            <a:hlinkClick action="ppaction://hlinksldjump" r:id="rId8" tooltip="Repasar: Agenda la reunión y exporta el evento"/>
          </p:cNvPr>
          <p:cNvSpPr/>
          <p:nvPr/>
        </p:nvSpPr>
        <p:spPr>
          <a:xfrm>
            <a:off x="6336792" y="4224528"/>
            <a:ext cx="5285232" cy="786384"/>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a:hlinkClick action="ppaction://hlinksldjump" r:id="rId8" tooltip="Repasar: Agenda la reunión y exporta el evento"/>
          </p:cNvPr>
          <p:cNvSpPr txBox="1"/>
          <p:nvPr/>
        </p:nvSpPr>
        <p:spPr>
          <a:xfrm>
            <a:off x="6519672" y="4407408"/>
            <a:ext cx="365760" cy="384048"/>
          </a:xfrm>
          <a:prstGeom prst="rect">
            <a:avLst/>
          </a:prstGeom>
          <a:noFill/>
          <a:effectLst/>
        </p:spPr>
        <p:txBody>
          <a:bodyPr wrap="square" lIns="0" rIns="0" tIns="0" bIns="0" anchor="t">
            <a:spAutoFit/>
          </a:bodyPr>
          <a:lstStyle/>
          <a:p>
            <a:pPr>
              <a:lnSpc>
                <a:spcPct val="112000"/>
              </a:lnSpc>
              <a:spcAft>
                <a:spcPts val="500"/>
              </a:spcAft>
              <a:defRPr sz="2200" b="1">
                <a:solidFill>
                  <a:srgbClr val="2957A4"/>
                </a:solidFill>
                <a:latin typeface="Arial"/>
              </a:defRPr>
            </a:pPr>
            <a:r>
              <a:t>6</a:t>
            </a:r>
          </a:p>
        </p:txBody>
      </p:sp>
      <p:sp>
        <p:nvSpPr>
          <p:cNvPr id="24" name="TextBox 23">
            <a:hlinkClick action="ppaction://hlinksldjump" r:id="rId8" tooltip="Repasar: Agenda la reunión y exporta el evento"/>
          </p:cNvPr>
          <p:cNvSpPr txBox="1"/>
          <p:nvPr/>
        </p:nvSpPr>
        <p:spPr>
          <a:xfrm>
            <a:off x="7141464" y="4434840"/>
            <a:ext cx="4206240" cy="384048"/>
          </a:xfrm>
          <a:prstGeom prst="rect">
            <a:avLst/>
          </a:prstGeom>
          <a:noFill/>
          <a:effectLst/>
        </p:spPr>
        <p:txBody>
          <a:bodyPr wrap="square" lIns="0" rIns="0" tIns="0" bIns="0" anchor="t">
            <a:spAutoFit/>
          </a:bodyPr>
          <a:lstStyle/>
          <a:p>
            <a:pPr>
              <a:lnSpc>
                <a:spcPct val="112000"/>
              </a:lnSpc>
              <a:spcAft>
                <a:spcPts val="500"/>
              </a:spcAft>
              <a:defRPr sz="1700" b="1">
                <a:solidFill>
                  <a:srgbClr val="1D3555"/>
                </a:solidFill>
                <a:latin typeface="Arial"/>
              </a:defRPr>
            </a:pPr>
            <a:r>
              <a:t>Agenda la reunión y exporta el evento</a:t>
            </a:r>
          </a:p>
        </p:txBody>
      </p:sp>
      <p:sp>
        <p:nvSpPr>
          <p:cNvPr id="25" name="Rounded Rectangle 24">
            <a:hlinkClick action="ppaction://hlinksldjump" r:id="rId9" tooltip="Comprobar lo aprendido  →"/>
          </p:cNvPr>
          <p:cNvSpPr/>
          <p:nvPr/>
        </p:nvSpPr>
        <p:spPr>
          <a:xfrm>
            <a:off x="4133087" y="5715000"/>
            <a:ext cx="3977639" cy="512064"/>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a:hlinkClick action="ppaction://hlinksldjump" r:id="rId9" tooltip="Comprobar lo aprendido  →"/>
          </p:cNvPr>
          <p:cNvSpPr txBox="1"/>
          <p:nvPr/>
        </p:nvSpPr>
        <p:spPr>
          <a:xfrm>
            <a:off x="4224527" y="5728716"/>
            <a:ext cx="3794759" cy="484632"/>
          </a:xfrm>
          <a:prstGeom prst="rect">
            <a:avLst/>
          </a:prstGeom>
          <a:noFill/>
          <a:effectLst/>
        </p:spPr>
        <p:txBody>
          <a:bodyPr wrap="square" lIns="0" rIns="0" tIns="0" bIns="0" anchor="ctr">
            <a:spAutoFit/>
          </a:bodyPr>
          <a:lstStyle/>
          <a:p>
            <a:pPr algn="ctr">
              <a:lnSpc>
                <a:spcPct val="112000"/>
              </a:lnSpc>
              <a:spcAft>
                <a:spcPts val="500"/>
              </a:spcAft>
              <a:defRPr sz="1300" b="1">
                <a:solidFill>
                  <a:srgbClr val="FFFFFF"/>
                </a:solidFill>
                <a:latin typeface="Arial"/>
              </a:defRPr>
            </a:pPr>
            <a:r>
              <a:t>Comprobar lo aprendido  →</a:t>
            </a:r>
          </a:p>
        </p:txBody>
      </p:sp>
      <p:sp>
        <p:nvSpPr>
          <p:cNvPr id="27" name="Rectangle 26"/>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29" name="TextBox 28">
            <a:hlinkClick action="ppaction://hlinksldjump" r:id="rId10"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30" name="TextBox 29">
            <a:hlinkClick action="ppaction://hlinksldjump" r:id="rId11"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31" name="TextBox 30">
            <a:hlinkClick action="ppaction://hlinksldjump" r:id="rId12"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32" name="TextBox 31">
            <a:hlinkClick action="ppaction://hlinksldjump" r:id="rId13"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33" name="TextBox 32">
            <a:hlinkClick action="ppaction://hlinksldjump" r:id="rId14"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4" name="TextBox 33">
            <a:hlinkClick action="ppaction://hlinksldjump" r:id="rId15"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35" name="TextBox 34">
            <a:hlinkClick action="ppaction://hlinksldjump" r:id="rId9"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6" name="TextBox 35"/>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29 / 33</a:t>
            </a:r>
          </a:p>
        </p:txBody>
      </p:sp>
    </p:spTree>
  </p:cSld>
  <p:clrMapOvr>
    <a:masterClrMapping/>
  </p:clrMapOvr>
  <p:transition advClick="1"/>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AUTOEVALUACIÓN INTERACTIVA</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¿Cómo avisas a Jaruska desde el contacto?</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Haz clic en la respuesta que usarías. La presentación te llevará a la explicación.</a:t>
            </a:r>
          </a:p>
        </p:txBody>
      </p:sp>
      <p:sp>
        <p:nvSpPr>
          <p:cNvPr id="7" name="Rounded Rectangle 6">
            <a:hlinkClick action="ppaction://hlinksldjump" r:id="rId4" tooltip="Elegir respuesta A"/>
          </p:cNvPr>
          <p:cNvSpPr/>
          <p:nvPr/>
        </p:nvSpPr>
        <p:spPr>
          <a:xfrm>
            <a:off x="731520" y="2286000"/>
            <a:ext cx="10716768" cy="88696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a:hlinkClick action="ppaction://hlinksldjump" r:id="rId4" tooltip="Elegir respuesta A"/>
          </p:cNvPr>
          <p:cNvSpPr/>
          <p:nvPr/>
        </p:nvSpPr>
        <p:spPr>
          <a:xfrm>
            <a:off x="932688" y="2487168"/>
            <a:ext cx="457200" cy="457200"/>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a:hlinkClick action="ppaction://hlinksldjump" r:id="rId4" tooltip="Elegir respuesta A"/>
          </p:cNvPr>
          <p:cNvSpPr txBox="1"/>
          <p:nvPr/>
        </p:nvSpPr>
        <p:spPr>
          <a:xfrm>
            <a:off x="978408" y="2551176"/>
            <a:ext cx="365760" cy="301752"/>
          </a:xfrm>
          <a:prstGeom prst="rect">
            <a:avLst/>
          </a:prstGeom>
          <a:noFill/>
          <a:effectLst/>
        </p:spPr>
        <p:txBody>
          <a:bodyPr wrap="square" lIns="0" rIns="0" tIns="0" bIns="0" anchor="t">
            <a:spAutoFit/>
          </a:bodyPr>
          <a:lstStyle/>
          <a:p>
            <a:pPr algn="ctr">
              <a:lnSpc>
                <a:spcPct val="112000"/>
              </a:lnSpc>
              <a:spcAft>
                <a:spcPts val="500"/>
              </a:spcAft>
              <a:defRPr sz="1700" b="1">
                <a:solidFill>
                  <a:srgbClr val="FFFFFF"/>
                </a:solidFill>
                <a:latin typeface="Arial"/>
              </a:defRPr>
            </a:pPr>
            <a:r>
              <a:t>A</a:t>
            </a:r>
          </a:p>
        </p:txBody>
      </p:sp>
      <p:sp>
        <p:nvSpPr>
          <p:cNvPr id="10" name="TextBox 9">
            <a:hlinkClick action="ppaction://hlinksldjump" r:id="rId4" tooltip="Elegir respuesta A"/>
          </p:cNvPr>
          <p:cNvSpPr txBox="1"/>
          <p:nvPr/>
        </p:nvSpPr>
        <p:spPr>
          <a:xfrm>
            <a:off x="1700784" y="2514600"/>
            <a:ext cx="9262872" cy="566928"/>
          </a:xfrm>
          <a:prstGeom prst="rect">
            <a:avLst/>
          </a:prstGeom>
          <a:noFill/>
          <a:effectLst/>
        </p:spPr>
        <p:txBody>
          <a:bodyPr wrap="square" lIns="0" rIns="0" tIns="0" bIns="0" anchor="t">
            <a:spAutoFit/>
          </a:bodyPr>
          <a:lstStyle/>
          <a:p>
            <a:pPr>
              <a:lnSpc>
                <a:spcPct val="112000"/>
              </a:lnSpc>
              <a:spcAft>
                <a:spcPts val="500"/>
              </a:spcAft>
              <a:defRPr sz="2000" b="1">
                <a:solidFill>
                  <a:srgbClr val="1D3555"/>
                </a:solidFill>
                <a:latin typeface="Arial"/>
              </a:defRPr>
            </a:pPr>
            <a:r>
              <a:t>Compartir el token con el contacto para que busque a Jaruska.</a:t>
            </a:r>
          </a:p>
        </p:txBody>
      </p:sp>
      <p:sp>
        <p:nvSpPr>
          <p:cNvPr id="11" name="Rounded Rectangle 10">
            <a:hlinkClick action="ppaction://hlinksldjump" r:id="rId5" tooltip="Elegir respuesta B"/>
          </p:cNvPr>
          <p:cNvSpPr/>
          <p:nvPr/>
        </p:nvSpPr>
        <p:spPr>
          <a:xfrm>
            <a:off x="731520" y="3429000"/>
            <a:ext cx="10716768" cy="88696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a:hlinkClick action="ppaction://hlinksldjump" r:id="rId5" tooltip="Elegir respuesta B"/>
          </p:cNvPr>
          <p:cNvSpPr/>
          <p:nvPr/>
        </p:nvSpPr>
        <p:spPr>
          <a:xfrm>
            <a:off x="932688" y="3630168"/>
            <a:ext cx="457200" cy="457200"/>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a:hlinkClick action="ppaction://hlinksldjump" r:id="rId5" tooltip="Elegir respuesta B"/>
          </p:cNvPr>
          <p:cNvSpPr txBox="1"/>
          <p:nvPr/>
        </p:nvSpPr>
        <p:spPr>
          <a:xfrm>
            <a:off x="978408" y="3694176"/>
            <a:ext cx="365760" cy="301752"/>
          </a:xfrm>
          <a:prstGeom prst="rect">
            <a:avLst/>
          </a:prstGeom>
          <a:noFill/>
          <a:effectLst/>
        </p:spPr>
        <p:txBody>
          <a:bodyPr wrap="square" lIns="0" rIns="0" tIns="0" bIns="0" anchor="t">
            <a:spAutoFit/>
          </a:bodyPr>
          <a:lstStyle/>
          <a:p>
            <a:pPr algn="ctr">
              <a:lnSpc>
                <a:spcPct val="112000"/>
              </a:lnSpc>
              <a:spcAft>
                <a:spcPts val="500"/>
              </a:spcAft>
              <a:defRPr sz="1700" b="1">
                <a:solidFill>
                  <a:srgbClr val="FFFFFF"/>
                </a:solidFill>
                <a:latin typeface="Arial"/>
              </a:defRPr>
            </a:pPr>
            <a:r>
              <a:t>B</a:t>
            </a:r>
          </a:p>
        </p:txBody>
      </p:sp>
      <p:sp>
        <p:nvSpPr>
          <p:cNvPr id="14" name="TextBox 13">
            <a:hlinkClick action="ppaction://hlinksldjump" r:id="rId5" tooltip="Elegir respuesta B"/>
          </p:cNvPr>
          <p:cNvSpPr txBox="1"/>
          <p:nvPr/>
        </p:nvSpPr>
        <p:spPr>
          <a:xfrm>
            <a:off x="1700784" y="3657600"/>
            <a:ext cx="9262872" cy="566928"/>
          </a:xfrm>
          <a:prstGeom prst="rect">
            <a:avLst/>
          </a:prstGeom>
          <a:noFill/>
          <a:effectLst/>
        </p:spPr>
        <p:txBody>
          <a:bodyPr wrap="square" lIns="0" rIns="0" tIns="0" bIns="0" anchor="t">
            <a:spAutoFit/>
          </a:bodyPr>
          <a:lstStyle/>
          <a:p>
            <a:pPr>
              <a:lnSpc>
                <a:spcPct val="112000"/>
              </a:lnSpc>
              <a:spcAft>
                <a:spcPts val="500"/>
              </a:spcAft>
              <a:defRPr sz="2000" b="1">
                <a:solidFill>
                  <a:srgbClr val="1D3555"/>
                </a:solidFill>
                <a:latin typeface="Arial"/>
              </a:defRPr>
            </a:pPr>
            <a:r>
              <a:t>Abrir su ficha → Avisar a otro operador → Jaruska → Enviar aviso interno.</a:t>
            </a:r>
          </a:p>
        </p:txBody>
      </p:sp>
      <p:sp>
        <p:nvSpPr>
          <p:cNvPr id="15" name="Rounded Rectangle 14">
            <a:hlinkClick action="ppaction://hlinksldjump" r:id="rId4" tooltip="Elegir respuesta C"/>
          </p:cNvPr>
          <p:cNvSpPr/>
          <p:nvPr/>
        </p:nvSpPr>
        <p:spPr>
          <a:xfrm>
            <a:off x="731520" y="4572000"/>
            <a:ext cx="10716768" cy="88696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a:hlinkClick action="ppaction://hlinksldjump" r:id="rId4" tooltip="Elegir respuesta C"/>
          </p:cNvPr>
          <p:cNvSpPr/>
          <p:nvPr/>
        </p:nvSpPr>
        <p:spPr>
          <a:xfrm>
            <a:off x="932688" y="4773168"/>
            <a:ext cx="457200" cy="457200"/>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a:hlinkClick action="ppaction://hlinksldjump" r:id="rId4" tooltip="Elegir respuesta C"/>
          </p:cNvPr>
          <p:cNvSpPr txBox="1"/>
          <p:nvPr/>
        </p:nvSpPr>
        <p:spPr>
          <a:xfrm>
            <a:off x="978408" y="4837176"/>
            <a:ext cx="365760" cy="301752"/>
          </a:xfrm>
          <a:prstGeom prst="rect">
            <a:avLst/>
          </a:prstGeom>
          <a:noFill/>
          <a:effectLst/>
        </p:spPr>
        <p:txBody>
          <a:bodyPr wrap="square" lIns="0" rIns="0" tIns="0" bIns="0" anchor="t">
            <a:spAutoFit/>
          </a:bodyPr>
          <a:lstStyle/>
          <a:p>
            <a:pPr algn="ctr">
              <a:lnSpc>
                <a:spcPct val="112000"/>
              </a:lnSpc>
              <a:spcAft>
                <a:spcPts val="500"/>
              </a:spcAft>
              <a:defRPr sz="1700" b="1">
                <a:solidFill>
                  <a:srgbClr val="FFFFFF"/>
                </a:solidFill>
                <a:latin typeface="Arial"/>
              </a:defRPr>
            </a:pPr>
            <a:r>
              <a:t>C</a:t>
            </a:r>
          </a:p>
        </p:txBody>
      </p:sp>
      <p:sp>
        <p:nvSpPr>
          <p:cNvPr id="18" name="TextBox 17">
            <a:hlinkClick action="ppaction://hlinksldjump" r:id="rId4" tooltip="Elegir respuesta C"/>
          </p:cNvPr>
          <p:cNvSpPr txBox="1"/>
          <p:nvPr/>
        </p:nvSpPr>
        <p:spPr>
          <a:xfrm>
            <a:off x="1700784" y="4800600"/>
            <a:ext cx="9262872" cy="566928"/>
          </a:xfrm>
          <a:prstGeom prst="rect">
            <a:avLst/>
          </a:prstGeom>
          <a:noFill/>
          <a:effectLst/>
        </p:spPr>
        <p:txBody>
          <a:bodyPr wrap="square" lIns="0" rIns="0" tIns="0" bIns="0" anchor="t">
            <a:spAutoFit/>
          </a:bodyPr>
          <a:lstStyle/>
          <a:p>
            <a:pPr>
              <a:lnSpc>
                <a:spcPct val="112000"/>
              </a:lnSpc>
              <a:spcAft>
                <a:spcPts val="500"/>
              </a:spcAft>
              <a:defRPr sz="2000" b="1">
                <a:solidFill>
                  <a:srgbClr val="1D3555"/>
                </a:solidFill>
                <a:latin typeface="Arial"/>
              </a:defRPr>
            </a:pPr>
            <a:r>
              <a:t>Crear otro operador llamado Jaruska para registrar el pedido.</a:t>
            </a:r>
          </a:p>
        </p:txBody>
      </p:sp>
      <p:sp>
        <p:nvSpPr>
          <p:cNvPr id="19" name="Rectangle 18"/>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21" name="TextBox 20">
            <a:hlinkClick action="ppaction://hlinksldjump" r:id="rId6"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22" name="TextBox 21">
            <a:hlinkClick action="ppaction://hlinksldjump" r:id="rId7"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23" name="TextBox 22">
            <a:hlinkClick action="ppaction://hlinksldjump" r:id="rId8"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24" name="TextBox 23">
            <a:hlinkClick action="ppaction://hlinksldjump" r:id="rId9"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25" name="TextBox 24">
            <a:hlinkClick action="ppaction://hlinksldjump" r:id="rId10"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26" name="TextBox 25">
            <a:hlinkClick action="ppaction://hlinksldjump" r:id="rId11"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27" name="TextBox 26">
            <a:hlinkClick action="ppaction://hlinksldjump" r:id="rId12"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28" name="TextBox 27"/>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30 / 33</a:t>
            </a:r>
          </a:p>
        </p:txBody>
      </p:sp>
    </p:spTree>
  </p:cSld>
  <p:clrMapOvr>
    <a:masterClrMapping/>
  </p:clrMapOvr>
  <p:transition advClick="1"/>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7345E"/>
        </a:solidFill>
        <a:effectLst/>
      </p:bgPr>
    </p:bg>
    <p:spTree>
      <p:nvGrpSpPr>
        <p:cNvPr id="1" name=""/>
        <p:cNvGrpSpPr/>
        <p:nvPr/>
      </p:nvGrpSpPr>
      <p:grpSpPr/>
      <p:sp>
        <p:nvSpPr>
          <p:cNvPr id="2" name="Rounded Rectangle 1"/>
          <p:cNvSpPr/>
          <p:nvPr/>
        </p:nvSpPr>
        <p:spPr>
          <a:xfrm>
            <a:off x="731520" y="731520"/>
            <a:ext cx="2377440" cy="28346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86384" y="745236"/>
            <a:ext cx="2267712" cy="256032"/>
          </a:xfrm>
          <a:prstGeom prst="rect">
            <a:avLst/>
          </a:prstGeom>
          <a:noFill/>
          <a:effectLst/>
        </p:spPr>
        <p:txBody>
          <a:bodyPr wrap="square" lIns="0" rIns="0" tIns="0" bIns="0" anchor="ctr">
            <a:spAutoFit/>
          </a:bodyPr>
          <a:lstStyle/>
          <a:p>
            <a:pPr algn="ctr">
              <a:lnSpc>
                <a:spcPct val="112000"/>
              </a:lnSpc>
              <a:spcAft>
                <a:spcPts val="500"/>
              </a:spcAft>
              <a:defRPr sz="1100" b="1">
                <a:solidFill>
                  <a:srgbClr val="2957A4"/>
                </a:solidFill>
                <a:latin typeface="Arial"/>
              </a:defRPr>
            </a:pPr>
            <a:r>
              <a:t>BIEN RESUELTO</a:t>
            </a:r>
          </a:p>
        </p:txBody>
      </p:sp>
      <p:sp>
        <p:nvSpPr>
          <p:cNvPr id="4" name="TextBox 3"/>
          <p:cNvSpPr txBox="1"/>
          <p:nvPr/>
        </p:nvSpPr>
        <p:spPr>
          <a:xfrm>
            <a:off x="731520" y="1591056"/>
            <a:ext cx="10607040" cy="1463040"/>
          </a:xfrm>
          <a:prstGeom prst="rect">
            <a:avLst/>
          </a:prstGeom>
          <a:noFill/>
          <a:effectLst/>
        </p:spPr>
        <p:txBody>
          <a:bodyPr wrap="square" lIns="0" rIns="0" tIns="0" bIns="0" anchor="t">
            <a:spAutoFit/>
          </a:bodyPr>
          <a:lstStyle/>
          <a:p>
            <a:pPr>
              <a:lnSpc>
                <a:spcPct val="112000"/>
              </a:lnSpc>
              <a:spcAft>
                <a:spcPts val="500"/>
              </a:spcAft>
              <a:defRPr sz="4000" b="1">
                <a:solidFill>
                  <a:srgbClr val="FFFFFF"/>
                </a:solidFill>
                <a:latin typeface="Arial"/>
              </a:defRPr>
            </a:pPr>
            <a:r>
              <a:t>El aviso llega al CRM</a:t>
            </a:r>
          </a:p>
          <a:p>
            <a:pPr>
              <a:lnSpc>
                <a:spcPct val="112000"/>
              </a:lnSpc>
              <a:spcAft>
                <a:spcPts val="500"/>
              </a:spcAft>
              <a:defRPr sz="4000" b="1">
                <a:solidFill>
                  <a:srgbClr val="FFFFFF"/>
                </a:solidFill>
                <a:latin typeface="Arial"/>
              </a:defRPr>
            </a:pPr>
            <a:r>
              <a:t>de la persona indicada.</a:t>
            </a:r>
          </a:p>
        </p:txBody>
      </p:sp>
      <p:sp>
        <p:nvSpPr>
          <p:cNvPr id="5" name="TextBox 4"/>
          <p:cNvSpPr txBox="1"/>
          <p:nvPr/>
        </p:nvSpPr>
        <p:spPr>
          <a:xfrm>
            <a:off x="777240" y="3337560"/>
            <a:ext cx="10332720" cy="1005840"/>
          </a:xfrm>
          <a:prstGeom prst="rect">
            <a:avLst/>
          </a:prstGeom>
          <a:noFill/>
          <a:effectLst/>
        </p:spPr>
        <p:txBody>
          <a:bodyPr wrap="square" lIns="0" rIns="0" tIns="0" bIns="0" anchor="t">
            <a:spAutoFit/>
          </a:bodyPr>
          <a:lstStyle/>
          <a:p>
            <a:pPr>
              <a:lnSpc>
                <a:spcPct val="112000"/>
              </a:lnSpc>
              <a:spcAft>
                <a:spcPts val="500"/>
              </a:spcAft>
              <a:defRPr sz="2400" b="0">
                <a:solidFill>
                  <a:srgbClr val="DFEAFB"/>
                </a:solidFill>
                <a:latin typeface="Arial"/>
              </a:defRPr>
            </a:pPr>
            <a:r>
              <a:t>Jaruska abre la campana, revisa el contacto y confirma Recibido.</a:t>
            </a:r>
          </a:p>
          <a:p>
            <a:pPr>
              <a:lnSpc>
                <a:spcPct val="112000"/>
              </a:lnSpc>
              <a:spcAft>
                <a:spcPts val="500"/>
              </a:spcAft>
              <a:defRPr sz="2400" b="0">
                <a:solidFill>
                  <a:srgbClr val="DFEAFB"/>
                </a:solidFill>
                <a:latin typeface="Arial"/>
              </a:defRPr>
            </a:pPr>
            <a:r>
              <a:t>Tú puedes ver la confirmación en Enviados.</a:t>
            </a:r>
          </a:p>
        </p:txBody>
      </p:sp>
      <p:sp>
        <p:nvSpPr>
          <p:cNvPr id="6" name="TextBox 5"/>
          <p:cNvSpPr txBox="1"/>
          <p:nvPr/>
        </p:nvSpPr>
        <p:spPr>
          <a:xfrm>
            <a:off x="777240" y="4709160"/>
            <a:ext cx="10332720" cy="594360"/>
          </a:xfrm>
          <a:prstGeom prst="rect">
            <a:avLst/>
          </a:prstGeom>
          <a:noFill/>
          <a:effectLst/>
        </p:spPr>
        <p:txBody>
          <a:bodyPr wrap="square" lIns="0" rIns="0" tIns="0" bIns="0" anchor="t">
            <a:spAutoFit/>
          </a:bodyPr>
          <a:lstStyle/>
          <a:p>
            <a:pPr>
              <a:lnSpc>
                <a:spcPct val="112000"/>
              </a:lnSpc>
              <a:spcAft>
                <a:spcPts val="500"/>
              </a:spcAft>
              <a:defRPr sz="1800" b="0">
                <a:solidFill>
                  <a:srgbClr val="DFEAFB"/>
                </a:solidFill>
                <a:latin typeface="Arial"/>
              </a:defRPr>
            </a:pPr>
            <a:r>
              <a:t>El pedido queda guardado aunque ella no esté conectada al momento de enviarlo.</a:t>
            </a:r>
          </a:p>
        </p:txBody>
      </p:sp>
      <p:sp>
        <p:nvSpPr>
          <p:cNvPr id="7" name="Rounded Rectangle 6">
            <a:hlinkClick action="ppaction://hlinksldjump" r:id="rId3" tooltip="Abrir recursos y empezar  →"/>
          </p:cNvPr>
          <p:cNvSpPr/>
          <p:nvPr/>
        </p:nvSpPr>
        <p:spPr>
          <a:xfrm>
            <a:off x="786384" y="5650992"/>
            <a:ext cx="3931920" cy="521207"/>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a:hlinkClick action="ppaction://hlinksldjump" r:id="rId3" tooltip="Abrir recursos y empezar  →"/>
          </p:cNvPr>
          <p:cNvSpPr txBox="1"/>
          <p:nvPr/>
        </p:nvSpPr>
        <p:spPr>
          <a:xfrm>
            <a:off x="877824" y="5664707"/>
            <a:ext cx="3749039" cy="493775"/>
          </a:xfrm>
          <a:prstGeom prst="rect">
            <a:avLst/>
          </a:prstGeom>
          <a:noFill/>
          <a:effectLst/>
        </p:spPr>
        <p:txBody>
          <a:bodyPr wrap="square" lIns="0" rIns="0" tIns="0" bIns="0" anchor="ctr">
            <a:spAutoFit/>
          </a:bodyPr>
          <a:lstStyle/>
          <a:p>
            <a:pPr algn="ctr">
              <a:lnSpc>
                <a:spcPct val="112000"/>
              </a:lnSpc>
              <a:spcAft>
                <a:spcPts val="500"/>
              </a:spcAft>
              <a:defRPr sz="1300" b="1">
                <a:solidFill>
                  <a:srgbClr val="FFFFFF"/>
                </a:solidFill>
                <a:latin typeface="Arial"/>
              </a:defRPr>
            </a:pPr>
            <a:r>
              <a:t>Abrir recursos y empezar  →</a:t>
            </a:r>
          </a:p>
        </p:txBody>
      </p:sp>
      <p:sp>
        <p:nvSpPr>
          <p:cNvPr id="9" name="Rounded Rectangle 8">
            <a:hlinkClick action="ppaction://hlinksldjump" r:id="rId4" tooltip="Repasar avisos"/>
          </p:cNvPr>
          <p:cNvSpPr/>
          <p:nvPr/>
        </p:nvSpPr>
        <p:spPr>
          <a:xfrm>
            <a:off x="5102352" y="5650992"/>
            <a:ext cx="2468880" cy="521207"/>
          </a:xfrm>
          <a:prstGeom prst="roundRect">
            <a:avLst>
              <a:gd name="adj" fmla="val 8000"/>
            </a:avLst>
          </a:prstGeom>
          <a:solidFill>
            <a:srgbClr val="FFFFFF"/>
          </a:solidFill>
          <a:ln w="10160">
            <a:solidFill>
              <a:srgbClr val="D8E3F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a:hlinkClick action="ppaction://hlinksldjump" r:id="rId4" tooltip="Repasar avisos"/>
          </p:cNvPr>
          <p:cNvSpPr txBox="1"/>
          <p:nvPr/>
        </p:nvSpPr>
        <p:spPr>
          <a:xfrm>
            <a:off x="5193792" y="5664707"/>
            <a:ext cx="2286000" cy="493775"/>
          </a:xfrm>
          <a:prstGeom prst="rect">
            <a:avLst/>
          </a:prstGeom>
          <a:noFill/>
          <a:effectLst/>
        </p:spPr>
        <p:txBody>
          <a:bodyPr wrap="square" lIns="0" rIns="0" tIns="0" bIns="0" anchor="ctr">
            <a:spAutoFit/>
          </a:bodyPr>
          <a:lstStyle/>
          <a:p>
            <a:pPr algn="ctr">
              <a:lnSpc>
                <a:spcPct val="112000"/>
              </a:lnSpc>
              <a:spcAft>
                <a:spcPts val="500"/>
              </a:spcAft>
              <a:defRPr sz="1300" b="1">
                <a:solidFill>
                  <a:srgbClr val="2957A4"/>
                </a:solidFill>
                <a:latin typeface="Arial"/>
              </a:defRPr>
            </a:pPr>
            <a:r>
              <a:t>Repasar avisos</a:t>
            </a:r>
          </a:p>
        </p:txBody>
      </p:sp>
      <p:sp>
        <p:nvSpPr>
          <p:cNvPr id="11" name="TextBox 10">
            <a:hlinkClick action="ppaction://hlinksldjump" r:id="rId5"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FFFFFF"/>
                </a:solidFill>
                <a:latin typeface="Arial"/>
              </a:defRPr>
            </a:pPr>
            <a:r>
              <a:t>‹</a:t>
            </a:r>
          </a:p>
        </p:txBody>
      </p:sp>
      <p:sp>
        <p:nvSpPr>
          <p:cNvPr id="12" name="TextBox 11">
            <a:hlinkClick action="ppaction://hlinksldjump" r:id="rId6"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FFFFFF"/>
                </a:solidFill>
                <a:latin typeface="Arial"/>
              </a:defRPr>
            </a:pPr>
            <a:r>
              <a:t>Menú</a:t>
            </a:r>
          </a:p>
        </p:txBody>
      </p:sp>
      <p:sp>
        <p:nvSpPr>
          <p:cNvPr id="13" name="TextBox 12">
            <a:hlinkClick action="ppaction://hlinksldjump" r:id="rId3"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FFFFFF"/>
                </a:solidFill>
                <a:latin typeface="Arial"/>
              </a:defRPr>
            </a:pPr>
            <a:r>
              <a:t>›</a:t>
            </a:r>
          </a:p>
        </p:txBody>
      </p:sp>
      <p:sp>
        <p:nvSpPr>
          <p:cNvPr id="14" name="TextBox 13"/>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DAE7FB"/>
                </a:solidFill>
                <a:latin typeface="Arial"/>
              </a:defRPr>
            </a:pPr>
            <a:r>
              <a:t>31 / 33</a:t>
            </a:r>
          </a:p>
        </p:txBody>
      </p:sp>
    </p:spTree>
  </p:cSld>
  <p:clrMapOvr>
    <a:masterClrMapping/>
  </p:clrMapOvr>
  <p:transition advClick="1"/>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AUTOEVALUACIÓN INTERACTIVA</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Revisa cómo llega el aviso</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El destinatario ya existe como operador; el pedido debe llegar a su bandeja del CRM.</a:t>
            </a:r>
          </a:p>
        </p:txBody>
      </p:sp>
      <p:sp>
        <p:nvSpPr>
          <p:cNvPr id="7" name="Rounded Rectangle 6"/>
          <p:cNvSpPr/>
          <p:nvPr/>
        </p:nvSpPr>
        <p:spPr>
          <a:xfrm>
            <a:off x="749808" y="2286000"/>
            <a:ext cx="10661904" cy="239572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1078992" y="2615184"/>
            <a:ext cx="9985248" cy="594360"/>
          </a:xfrm>
          <a:prstGeom prst="rect">
            <a:avLst/>
          </a:prstGeom>
          <a:noFill/>
          <a:effectLst/>
        </p:spPr>
        <p:txBody>
          <a:bodyPr wrap="square" lIns="0" rIns="0" tIns="0" bIns="0" anchor="t">
            <a:spAutoFit/>
          </a:bodyPr>
          <a:lstStyle/>
          <a:p>
            <a:pPr>
              <a:lnSpc>
                <a:spcPct val="112000"/>
              </a:lnSpc>
              <a:spcAft>
                <a:spcPts val="500"/>
              </a:spcAft>
              <a:defRPr sz="3000" b="1">
                <a:solidFill>
                  <a:srgbClr val="2957A4"/>
                </a:solidFill>
                <a:latin typeface="Arial"/>
              </a:defRPr>
            </a:pPr>
            <a:r>
              <a:t>Parte desde la ficha del contacto.</a:t>
            </a:r>
          </a:p>
        </p:txBody>
      </p:sp>
      <p:sp>
        <p:nvSpPr>
          <p:cNvPr id="9" name="TextBox 8"/>
          <p:cNvSpPr txBox="1"/>
          <p:nvPr/>
        </p:nvSpPr>
        <p:spPr>
          <a:xfrm>
            <a:off x="1097280" y="3584448"/>
            <a:ext cx="9738360" cy="822960"/>
          </a:xfrm>
          <a:prstGeom prst="rect">
            <a:avLst/>
          </a:prstGeom>
          <a:noFill/>
          <a:effectLst/>
        </p:spPr>
        <p:txBody>
          <a:bodyPr wrap="square" lIns="0" rIns="0" tIns="0" bIns="0" anchor="t">
            <a:spAutoFit/>
          </a:bodyPr>
          <a:lstStyle/>
          <a:p>
            <a:pPr>
              <a:lnSpc>
                <a:spcPct val="112000"/>
              </a:lnSpc>
              <a:spcAft>
                <a:spcPts val="500"/>
              </a:spcAft>
              <a:defRPr sz="2300" b="0">
                <a:solidFill>
                  <a:srgbClr val="1D3555"/>
                </a:solidFill>
                <a:latin typeface="Arial"/>
              </a:defRPr>
            </a:pPr>
            <a:r>
              <a:t>Busca la acción que permite elegir un operador destinatario,</a:t>
            </a:r>
          </a:p>
          <a:p>
            <a:pPr>
              <a:lnSpc>
                <a:spcPct val="112000"/>
              </a:lnSpc>
              <a:spcAft>
                <a:spcPts val="500"/>
              </a:spcAft>
              <a:defRPr sz="2300" b="0">
                <a:solidFill>
                  <a:srgbClr val="1D3555"/>
                </a:solidFill>
                <a:latin typeface="Arial"/>
              </a:defRPr>
            </a:pPr>
            <a:r>
              <a:t>escribir el pedido y dejar constancia en la coordinación.</a:t>
            </a:r>
          </a:p>
        </p:txBody>
      </p:sp>
      <p:sp>
        <p:nvSpPr>
          <p:cNvPr id="10" name="Rounded Rectangle 9">
            <a:hlinkClick action="ppaction://hlinksldjump" r:id="rId4" tooltip="Volver a responder  →"/>
          </p:cNvPr>
          <p:cNvSpPr/>
          <p:nvPr/>
        </p:nvSpPr>
        <p:spPr>
          <a:xfrm>
            <a:off x="1078992" y="5276088"/>
            <a:ext cx="4069080" cy="530352"/>
          </a:xfrm>
          <a:prstGeom prst="roundRect">
            <a:avLst>
              <a:gd name="adj" fmla="val 8000"/>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a:hlinkClick action="ppaction://hlinksldjump" r:id="rId4" tooltip="Volver a responder  →"/>
          </p:cNvPr>
          <p:cNvSpPr txBox="1"/>
          <p:nvPr/>
        </p:nvSpPr>
        <p:spPr>
          <a:xfrm>
            <a:off x="1170432" y="5289803"/>
            <a:ext cx="3886200" cy="502919"/>
          </a:xfrm>
          <a:prstGeom prst="rect">
            <a:avLst/>
          </a:prstGeom>
          <a:noFill/>
          <a:effectLst/>
        </p:spPr>
        <p:txBody>
          <a:bodyPr wrap="square" lIns="0" rIns="0" tIns="0" bIns="0" anchor="ctr">
            <a:spAutoFit/>
          </a:bodyPr>
          <a:lstStyle/>
          <a:p>
            <a:pPr algn="ctr">
              <a:lnSpc>
                <a:spcPct val="112000"/>
              </a:lnSpc>
              <a:spcAft>
                <a:spcPts val="500"/>
              </a:spcAft>
              <a:defRPr sz="1300" b="1">
                <a:solidFill>
                  <a:srgbClr val="FFFFFF"/>
                </a:solidFill>
                <a:latin typeface="Arial"/>
              </a:defRPr>
            </a:pPr>
            <a:r>
              <a:t>Volver a responder  →</a:t>
            </a:r>
          </a:p>
        </p:txBody>
      </p:sp>
      <p:sp>
        <p:nvSpPr>
          <p:cNvPr id="12" name="Rounded Rectangle 11">
            <a:hlinkClick action="ppaction://hlinksldjump" r:id="rId5" tooltip="Repasar cómo enviar un aviso"/>
          </p:cNvPr>
          <p:cNvSpPr/>
          <p:nvPr/>
        </p:nvSpPr>
        <p:spPr>
          <a:xfrm>
            <a:off x="6053328" y="5276088"/>
            <a:ext cx="4956048" cy="530352"/>
          </a:xfrm>
          <a:prstGeom prst="roundRect">
            <a:avLst>
              <a:gd name="adj" fmla="val 8000"/>
            </a:avLst>
          </a:prstGeom>
          <a:solidFill>
            <a:srgbClr val="FFFFFF"/>
          </a:solidFill>
          <a:ln w="10160">
            <a:solidFill>
              <a:srgbClr val="D8E3F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a:hlinkClick action="ppaction://hlinksldjump" r:id="rId5" tooltip="Repasar cómo enviar un aviso"/>
          </p:cNvPr>
          <p:cNvSpPr txBox="1"/>
          <p:nvPr/>
        </p:nvSpPr>
        <p:spPr>
          <a:xfrm>
            <a:off x="6144768" y="5289803"/>
            <a:ext cx="4773168" cy="502919"/>
          </a:xfrm>
          <a:prstGeom prst="rect">
            <a:avLst/>
          </a:prstGeom>
          <a:noFill/>
          <a:effectLst/>
        </p:spPr>
        <p:txBody>
          <a:bodyPr wrap="square" lIns="0" rIns="0" tIns="0" bIns="0" anchor="ctr">
            <a:spAutoFit/>
          </a:bodyPr>
          <a:lstStyle/>
          <a:p>
            <a:pPr algn="ctr">
              <a:lnSpc>
                <a:spcPct val="112000"/>
              </a:lnSpc>
              <a:spcAft>
                <a:spcPts val="500"/>
              </a:spcAft>
              <a:defRPr sz="1300" b="1">
                <a:solidFill>
                  <a:srgbClr val="2957A4"/>
                </a:solidFill>
                <a:latin typeface="Arial"/>
              </a:defRPr>
            </a:pPr>
            <a:r>
              <a:t>Repasar cómo enviar un aviso</a:t>
            </a:r>
          </a:p>
        </p:txBody>
      </p:sp>
      <p:sp>
        <p:nvSpPr>
          <p:cNvPr id="14" name="Rectangle 13"/>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16" name="TextBox 15">
            <a:hlinkClick action="ppaction://hlinksldjump" r:id="rId6"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17" name="TextBox 16">
            <a:hlinkClick action="ppaction://hlinksldjump" r:id="rId7"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18" name="TextBox 17">
            <a:hlinkClick action="ppaction://hlinksldjump" r:id="rId8"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19" name="TextBox 18">
            <a:hlinkClick action="ppaction://hlinksldjump" r:id="rId9"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20" name="TextBox 19">
            <a:hlinkClick action="ppaction://hlinksldjump" r:id="rId4"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21" name="TextBox 20">
            <a:hlinkClick action="ppaction://hlinksldjump" r:id="rId10"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22" name="TextBox 21">
            <a:hlinkClick action="ppaction://hlinksldjump" r:id="rId4"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23" name="TextBox 22"/>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32 / 33</a:t>
            </a:r>
          </a:p>
        </p:txBody>
      </p:sp>
    </p:spTree>
  </p:cSld>
  <p:clrMapOvr>
    <a:masterClrMapping/>
  </p:clrMapOvr>
  <p:transition advClick="1"/>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2957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74320"/>
            <a:ext cx="7315200" cy="228600"/>
          </a:xfrm>
          <a:prstGeom prst="rect">
            <a:avLst/>
          </a:prstGeom>
          <a:noFill/>
          <a:effectLst/>
        </p:spPr>
        <p:txBody>
          <a:bodyPr wrap="square" lIns="0" rIns="0" tIns="0" bIns="0" anchor="t">
            <a:spAutoFit/>
          </a:bodyPr>
          <a:lstStyle/>
          <a:p>
            <a:pPr>
              <a:lnSpc>
                <a:spcPct val="112000"/>
              </a:lnSpc>
              <a:spcAft>
                <a:spcPts val="500"/>
              </a:spcAft>
              <a:defRPr sz="1050" b="1">
                <a:solidFill>
                  <a:srgbClr val="2957A4"/>
                </a:solidFill>
                <a:latin typeface="Arial"/>
              </a:defRPr>
            </a:pPr>
            <a:r>
              <a:t>RECURSOS CLICABLES</a:t>
            </a:r>
          </a:p>
        </p:txBody>
      </p:sp>
      <p:pic>
        <p:nvPicPr>
          <p:cNvPr id="4" name="Picture 3" descr="Logotipo ANA original"/>
          <p:cNvPicPr>
            <a:picLocks noChangeAspect="1"/>
          </p:cNvPicPr>
          <p:nvPr/>
        </p:nvPicPr>
        <p:blipFill>
          <a:blip r:embed="rId2"/>
          <a:stretch>
            <a:fillRect/>
          </a:stretch>
        </p:blipFill>
        <p:spPr>
          <a:xfrm>
            <a:off x="10020048" y="201168"/>
            <a:ext cx="1649471" cy="731520"/>
          </a:xfrm>
          <a:prstGeom prst="rect">
            <a:avLst/>
          </a:prstGeom>
          <a:effectLst/>
        </p:spPr>
      </p:pic>
      <p:sp>
        <p:nvSpPr>
          <p:cNvPr id="5" name="TextBox 4"/>
          <p:cNvSpPr txBox="1"/>
          <p:nvPr/>
        </p:nvSpPr>
        <p:spPr>
          <a:xfrm>
            <a:off x="502920" y="786384"/>
            <a:ext cx="10698480" cy="603504"/>
          </a:xfrm>
          <a:prstGeom prst="rect">
            <a:avLst/>
          </a:prstGeom>
          <a:noFill/>
          <a:effectLst/>
        </p:spPr>
        <p:txBody>
          <a:bodyPr wrap="square" lIns="0" rIns="0" tIns="0" bIns="0" anchor="t">
            <a:spAutoFit/>
          </a:bodyPr>
          <a:lstStyle/>
          <a:p>
            <a:pPr>
              <a:lnSpc>
                <a:spcPct val="112000"/>
              </a:lnSpc>
              <a:spcAft>
                <a:spcPts val="500"/>
              </a:spcAft>
              <a:defRPr sz="3200" b="1">
                <a:solidFill>
                  <a:srgbClr val="1D3555"/>
                </a:solidFill>
                <a:latin typeface="Arial"/>
              </a:defRPr>
            </a:pPr>
            <a:r>
              <a:t>Listos para coordinar</a:t>
            </a:r>
          </a:p>
        </p:txBody>
      </p:sp>
      <p:sp>
        <p:nvSpPr>
          <p:cNvPr id="6" name="TextBox 5"/>
          <p:cNvSpPr txBox="1"/>
          <p:nvPr/>
        </p:nvSpPr>
        <p:spPr>
          <a:xfrm>
            <a:off x="521207" y="1435608"/>
            <a:ext cx="10972800" cy="484632"/>
          </a:xfrm>
          <a:prstGeom prst="rect">
            <a:avLst/>
          </a:prstGeom>
          <a:noFill/>
          <a:effectLst/>
        </p:spPr>
        <p:txBody>
          <a:bodyPr wrap="square" lIns="0" rIns="0" tIns="0" bIns="0" anchor="t">
            <a:spAutoFit/>
          </a:bodyPr>
          <a:lstStyle/>
          <a:p>
            <a:pPr>
              <a:lnSpc>
                <a:spcPct val="112000"/>
              </a:lnSpc>
              <a:spcAft>
                <a:spcPts val="500"/>
              </a:spcAft>
              <a:defRPr sz="1500" b="0">
                <a:solidFill>
                  <a:srgbClr val="617793"/>
                </a:solidFill>
                <a:latin typeface="Arial"/>
              </a:defRPr>
            </a:pPr>
            <a:r>
              <a:t>Abre el recurso que necesitas. El CRM es el espacio de trabajo; esta presentación es la guía.</a:t>
            </a:r>
          </a:p>
        </p:txBody>
      </p:sp>
      <p:sp>
        <p:nvSpPr>
          <p:cNvPr id="7" name="Rounded Rectangle 6">
            <a:hlinkClick r:id="rId3" tooltip="Abrir Abrir CRM"/>
          </p:cNvPr>
          <p:cNvSpPr/>
          <p:nvPr/>
        </p:nvSpPr>
        <p:spPr>
          <a:xfrm>
            <a:off x="658368" y="2221992"/>
            <a:ext cx="5285232" cy="120700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a:hlinkClick r:id="rId3" tooltip="Abrir Abrir CRM"/>
          </p:cNvPr>
          <p:cNvSpPr txBox="1"/>
          <p:nvPr/>
        </p:nvSpPr>
        <p:spPr>
          <a:xfrm>
            <a:off x="868680" y="2404872"/>
            <a:ext cx="4846320" cy="365760"/>
          </a:xfrm>
          <a:prstGeom prst="rect">
            <a:avLst/>
          </a:prstGeom>
          <a:noFill/>
          <a:effectLst/>
        </p:spPr>
        <p:txBody>
          <a:bodyPr wrap="square" lIns="0" rIns="0" tIns="0" bIns="0" anchor="t">
            <a:spAutoFit/>
          </a:bodyPr>
          <a:lstStyle/>
          <a:p>
            <a:pPr>
              <a:lnSpc>
                <a:spcPct val="112000"/>
              </a:lnSpc>
              <a:spcAft>
                <a:spcPts val="500"/>
              </a:spcAft>
              <a:defRPr sz="2200" b="1">
                <a:solidFill>
                  <a:srgbClr val="2957A4"/>
                </a:solidFill>
                <a:latin typeface="Arial"/>
              </a:defRPr>
            </a:pPr>
            <a:r>
              <a:t>Abrir CRM  ↗</a:t>
            </a:r>
          </a:p>
        </p:txBody>
      </p:sp>
      <p:sp>
        <p:nvSpPr>
          <p:cNvPr id="9" name="TextBox 8">
            <a:hlinkClick r:id="rId3" tooltip="Abrir Abrir CRM"/>
          </p:cNvPr>
          <p:cNvSpPr txBox="1"/>
          <p:nvPr/>
        </p:nvSpPr>
        <p:spPr>
          <a:xfrm>
            <a:off x="868680" y="2953512"/>
            <a:ext cx="4846320" cy="347472"/>
          </a:xfrm>
          <a:prstGeom prst="rect">
            <a:avLst/>
          </a:prstGeom>
          <a:noFill/>
          <a:effectLst/>
        </p:spPr>
        <p:txBody>
          <a:bodyPr wrap="square" lIns="0" rIns="0" tIns="0" bIns="0" anchor="t">
            <a:spAutoFit/>
          </a:bodyPr>
          <a:lstStyle/>
          <a:p>
            <a:pPr>
              <a:lnSpc>
                <a:spcPct val="112000"/>
              </a:lnSpc>
              <a:spcAft>
                <a:spcPts val="500"/>
              </a:spcAft>
              <a:defRPr sz="1400" b="0">
                <a:solidFill>
                  <a:srgbClr val="617793"/>
                </a:solidFill>
                <a:latin typeface="Arial"/>
              </a:defRPr>
            </a:pPr>
            <a:r>
              <a:t>Directorio, tareas, agenda y reportes.</a:t>
            </a:r>
          </a:p>
        </p:txBody>
      </p:sp>
      <p:sp>
        <p:nvSpPr>
          <p:cNvPr id="10" name="Rounded Rectangle 9">
            <a:hlinkClick r:id="rId4" tooltip="Abrir Descargar extensión"/>
          </p:cNvPr>
          <p:cNvSpPr/>
          <p:nvPr/>
        </p:nvSpPr>
        <p:spPr>
          <a:xfrm>
            <a:off x="6364224" y="2221992"/>
            <a:ext cx="5285232" cy="120700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a:hlinkClick r:id="rId4" tooltip="Abrir Descargar extensión"/>
          </p:cNvPr>
          <p:cNvSpPr txBox="1"/>
          <p:nvPr/>
        </p:nvSpPr>
        <p:spPr>
          <a:xfrm>
            <a:off x="6574536" y="2404872"/>
            <a:ext cx="4846320" cy="365760"/>
          </a:xfrm>
          <a:prstGeom prst="rect">
            <a:avLst/>
          </a:prstGeom>
          <a:noFill/>
          <a:effectLst/>
        </p:spPr>
        <p:txBody>
          <a:bodyPr wrap="square" lIns="0" rIns="0" tIns="0" bIns="0" anchor="t">
            <a:spAutoFit/>
          </a:bodyPr>
          <a:lstStyle/>
          <a:p>
            <a:pPr>
              <a:lnSpc>
                <a:spcPct val="112000"/>
              </a:lnSpc>
              <a:spcAft>
                <a:spcPts val="500"/>
              </a:spcAft>
              <a:defRPr sz="2200" b="1">
                <a:solidFill>
                  <a:srgbClr val="2957A4"/>
                </a:solidFill>
                <a:latin typeface="Arial"/>
              </a:defRPr>
            </a:pPr>
            <a:r>
              <a:t>Descargar extensión  ↗</a:t>
            </a:r>
          </a:p>
        </p:txBody>
      </p:sp>
      <p:sp>
        <p:nvSpPr>
          <p:cNvPr id="12" name="TextBox 11">
            <a:hlinkClick r:id="rId4" tooltip="Abrir Descargar extensión"/>
          </p:cNvPr>
          <p:cNvSpPr txBox="1"/>
          <p:nvPr/>
        </p:nvSpPr>
        <p:spPr>
          <a:xfrm>
            <a:off x="6574536" y="2953512"/>
            <a:ext cx="4846320" cy="347472"/>
          </a:xfrm>
          <a:prstGeom prst="rect">
            <a:avLst/>
          </a:prstGeom>
          <a:noFill/>
          <a:effectLst/>
        </p:spPr>
        <p:txBody>
          <a:bodyPr wrap="square" lIns="0" rIns="0" tIns="0" bIns="0" anchor="t">
            <a:spAutoFit/>
          </a:bodyPr>
          <a:lstStyle/>
          <a:p>
            <a:pPr>
              <a:lnSpc>
                <a:spcPct val="112000"/>
              </a:lnSpc>
              <a:spcAft>
                <a:spcPts val="500"/>
              </a:spcAft>
              <a:defRPr sz="1400" b="0">
                <a:solidFill>
                  <a:srgbClr val="617793"/>
                </a:solidFill>
                <a:latin typeface="Arial"/>
              </a:defRPr>
            </a:pPr>
            <a:r>
              <a:t>Paquete descomprimido para Chrome · 1.2.1.</a:t>
            </a:r>
          </a:p>
        </p:txBody>
      </p:sp>
      <p:sp>
        <p:nvSpPr>
          <p:cNvPr id="13" name="Rounded Rectangle 12">
            <a:hlinkClick r:id="rId5" tooltip="Abrir Descargar Power BI"/>
          </p:cNvPr>
          <p:cNvSpPr/>
          <p:nvPr/>
        </p:nvSpPr>
        <p:spPr>
          <a:xfrm>
            <a:off x="658368" y="3685032"/>
            <a:ext cx="5285232" cy="120700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a:hlinkClick r:id="rId5" tooltip="Abrir Descargar Power BI"/>
          </p:cNvPr>
          <p:cNvSpPr txBox="1"/>
          <p:nvPr/>
        </p:nvSpPr>
        <p:spPr>
          <a:xfrm>
            <a:off x="868680" y="3867912"/>
            <a:ext cx="4846320" cy="365760"/>
          </a:xfrm>
          <a:prstGeom prst="rect">
            <a:avLst/>
          </a:prstGeom>
          <a:noFill/>
          <a:effectLst/>
        </p:spPr>
        <p:txBody>
          <a:bodyPr wrap="square" lIns="0" rIns="0" tIns="0" bIns="0" anchor="t">
            <a:spAutoFit/>
          </a:bodyPr>
          <a:lstStyle/>
          <a:p>
            <a:pPr>
              <a:lnSpc>
                <a:spcPct val="112000"/>
              </a:lnSpc>
              <a:spcAft>
                <a:spcPts val="500"/>
              </a:spcAft>
              <a:defRPr sz="2200" b="1">
                <a:solidFill>
                  <a:srgbClr val="2957A4"/>
                </a:solidFill>
                <a:latin typeface="Arial"/>
              </a:defRPr>
            </a:pPr>
            <a:r>
              <a:t>Descargar Power BI  ↗</a:t>
            </a:r>
          </a:p>
        </p:txBody>
      </p:sp>
      <p:sp>
        <p:nvSpPr>
          <p:cNvPr id="15" name="TextBox 14">
            <a:hlinkClick r:id="rId5" tooltip="Abrir Descargar Power BI"/>
          </p:cNvPr>
          <p:cNvSpPr txBox="1"/>
          <p:nvPr/>
        </p:nvSpPr>
        <p:spPr>
          <a:xfrm>
            <a:off x="868680" y="4416552"/>
            <a:ext cx="4846320" cy="347472"/>
          </a:xfrm>
          <a:prstGeom prst="rect">
            <a:avLst/>
          </a:prstGeom>
          <a:noFill/>
          <a:effectLst/>
        </p:spPr>
        <p:txBody>
          <a:bodyPr wrap="square" lIns="0" rIns="0" tIns="0" bIns="0" anchor="t">
            <a:spAutoFit/>
          </a:bodyPr>
          <a:lstStyle/>
          <a:p>
            <a:pPr>
              <a:lnSpc>
                <a:spcPct val="112000"/>
              </a:lnSpc>
              <a:spcAft>
                <a:spcPts val="500"/>
              </a:spcAft>
              <a:defRPr sz="1400" b="0">
                <a:solidFill>
                  <a:srgbClr val="617793"/>
                </a:solidFill>
                <a:latin typeface="Arial"/>
              </a:defRPr>
            </a:pPr>
            <a:r>
              <a:t>Proyecto PBIP para Power BI Desktop en Windows.</a:t>
            </a:r>
          </a:p>
        </p:txBody>
      </p:sp>
      <p:sp>
        <p:nvSpPr>
          <p:cNvPr id="16" name="Rounded Rectangle 15">
            <a:hlinkClick r:id="rId6" tooltip="Abrir Guía de Power BI sin costo"/>
          </p:cNvPr>
          <p:cNvSpPr/>
          <p:nvPr/>
        </p:nvSpPr>
        <p:spPr>
          <a:xfrm>
            <a:off x="6364224" y="3685032"/>
            <a:ext cx="5285232" cy="1207008"/>
          </a:xfrm>
          <a:prstGeom prst="roundRect">
            <a:avLst>
              <a:gd name="adj" fmla="val 8000"/>
            </a:avLst>
          </a:prstGeom>
          <a:solidFill>
            <a:srgbClr val="EE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a:hlinkClick r:id="rId6" tooltip="Abrir Guía de Power BI sin costo"/>
          </p:cNvPr>
          <p:cNvSpPr txBox="1"/>
          <p:nvPr/>
        </p:nvSpPr>
        <p:spPr>
          <a:xfrm>
            <a:off x="6574536" y="3867912"/>
            <a:ext cx="4846320" cy="365760"/>
          </a:xfrm>
          <a:prstGeom prst="rect">
            <a:avLst/>
          </a:prstGeom>
          <a:noFill/>
          <a:effectLst/>
        </p:spPr>
        <p:txBody>
          <a:bodyPr wrap="square" lIns="0" rIns="0" tIns="0" bIns="0" anchor="t">
            <a:spAutoFit/>
          </a:bodyPr>
          <a:lstStyle/>
          <a:p>
            <a:pPr>
              <a:lnSpc>
                <a:spcPct val="112000"/>
              </a:lnSpc>
              <a:spcAft>
                <a:spcPts val="500"/>
              </a:spcAft>
              <a:defRPr sz="2200" b="1">
                <a:solidFill>
                  <a:srgbClr val="2957A4"/>
                </a:solidFill>
                <a:latin typeface="Arial"/>
              </a:defRPr>
            </a:pPr>
            <a:r>
              <a:t>Guía de Power BI sin costo  ↗</a:t>
            </a:r>
          </a:p>
        </p:txBody>
      </p:sp>
      <p:sp>
        <p:nvSpPr>
          <p:cNvPr id="18" name="TextBox 17">
            <a:hlinkClick r:id="rId6" tooltip="Abrir Guía de Power BI sin costo"/>
          </p:cNvPr>
          <p:cNvSpPr txBox="1"/>
          <p:nvPr/>
        </p:nvSpPr>
        <p:spPr>
          <a:xfrm>
            <a:off x="6574536" y="4416552"/>
            <a:ext cx="4846320" cy="347472"/>
          </a:xfrm>
          <a:prstGeom prst="rect">
            <a:avLst/>
          </a:prstGeom>
          <a:noFill/>
          <a:effectLst/>
        </p:spPr>
        <p:txBody>
          <a:bodyPr wrap="square" lIns="0" rIns="0" tIns="0" bIns="0" anchor="t">
            <a:spAutoFit/>
          </a:bodyPr>
          <a:lstStyle/>
          <a:p>
            <a:pPr>
              <a:lnSpc>
                <a:spcPct val="112000"/>
              </a:lnSpc>
              <a:spcAft>
                <a:spcPts val="500"/>
              </a:spcAft>
              <a:defRPr sz="1400" b="0">
                <a:solidFill>
                  <a:srgbClr val="617793"/>
                </a:solidFill>
                <a:latin typeface="Arial"/>
              </a:defRPr>
            </a:pPr>
            <a:r>
              <a:t>Parámetros, credenciales y actualización local.</a:t>
            </a:r>
          </a:p>
        </p:txBody>
      </p:sp>
      <p:sp>
        <p:nvSpPr>
          <p:cNvPr id="19" name="TextBox 18"/>
          <p:cNvSpPr txBox="1"/>
          <p:nvPr/>
        </p:nvSpPr>
        <p:spPr>
          <a:xfrm>
            <a:off x="786384" y="5577840"/>
            <a:ext cx="10698480" cy="438912"/>
          </a:xfrm>
          <a:prstGeom prst="rect">
            <a:avLst/>
          </a:prstGeom>
          <a:noFill/>
          <a:effectLst/>
        </p:spPr>
        <p:txBody>
          <a:bodyPr wrap="square" lIns="0" rIns="0" tIns="0" bIns="0" anchor="t">
            <a:spAutoFit/>
          </a:bodyPr>
          <a:lstStyle/>
          <a:p>
            <a:pPr>
              <a:lnSpc>
                <a:spcPct val="112000"/>
              </a:lnSpc>
              <a:spcAft>
                <a:spcPts val="500"/>
              </a:spcAft>
              <a:defRPr sz="1800" b="1">
                <a:solidFill>
                  <a:srgbClr val="1D3555"/>
                </a:solidFill>
                <a:latin typeface="Arial"/>
              </a:defRPr>
            </a:pPr>
            <a:r>
              <a:t>Rutina diaria: elige tu operador → revisa avisos → actualiza tareas → consulta la agenda.</a:t>
            </a:r>
          </a:p>
        </p:txBody>
      </p:sp>
      <p:sp>
        <p:nvSpPr>
          <p:cNvPr id="20" name="Rounded Rectangle 19">
            <a:hlinkClick action="ppaction://hlinksldjump" r:id="rId8" tooltip="Volver al menú"/>
          </p:cNvPr>
          <p:cNvSpPr/>
          <p:nvPr/>
        </p:nvSpPr>
        <p:spPr>
          <a:xfrm>
            <a:off x="4572000" y="6099048"/>
            <a:ext cx="3044952" cy="365760"/>
          </a:xfrm>
          <a:prstGeom prst="roundRect">
            <a:avLst>
              <a:gd name="adj" fmla="val 8000"/>
            </a:avLst>
          </a:prstGeom>
          <a:solidFill>
            <a:srgbClr val="FFFFFF"/>
          </a:solidFill>
          <a:ln w="10160">
            <a:solidFill>
              <a:srgbClr val="D8E3F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a:hlinkClick action="ppaction://hlinksldjump" r:id="rId8" tooltip="Volver al menú"/>
          </p:cNvPr>
          <p:cNvSpPr txBox="1"/>
          <p:nvPr/>
        </p:nvSpPr>
        <p:spPr>
          <a:xfrm>
            <a:off x="4663440" y="6112764"/>
            <a:ext cx="2862072" cy="338328"/>
          </a:xfrm>
          <a:prstGeom prst="rect">
            <a:avLst/>
          </a:prstGeom>
          <a:noFill/>
          <a:effectLst/>
        </p:spPr>
        <p:txBody>
          <a:bodyPr wrap="square" lIns="0" rIns="0" tIns="0" bIns="0" anchor="ctr">
            <a:spAutoFit/>
          </a:bodyPr>
          <a:lstStyle/>
          <a:p>
            <a:pPr algn="ctr">
              <a:lnSpc>
                <a:spcPct val="112000"/>
              </a:lnSpc>
              <a:spcAft>
                <a:spcPts val="500"/>
              </a:spcAft>
              <a:defRPr sz="1300" b="1">
                <a:solidFill>
                  <a:srgbClr val="2957A4"/>
                </a:solidFill>
                <a:latin typeface="Arial"/>
              </a:defRPr>
            </a:pPr>
            <a:r>
              <a:t>Volver al menú</a:t>
            </a:r>
          </a:p>
        </p:txBody>
      </p:sp>
      <p:sp>
        <p:nvSpPr>
          <p:cNvPr id="22" name="Rectangle 21"/>
          <p:cNvSpPr/>
          <p:nvPr/>
        </p:nvSpPr>
        <p:spPr>
          <a:xfrm>
            <a:off x="512064" y="6501384"/>
            <a:ext cx="11155680" cy="10972"/>
          </a:xfrm>
          <a:prstGeom prst="rect">
            <a:avLst/>
          </a:prstGeom>
          <a:solidFill>
            <a:srgbClr val="D8E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48640" y="6601968"/>
            <a:ext cx="3291840" cy="155448"/>
          </a:xfrm>
          <a:prstGeom prst="rect">
            <a:avLst/>
          </a:prstGeom>
          <a:noFill/>
          <a:effectLst/>
        </p:spPr>
        <p:txBody>
          <a:bodyPr wrap="square" lIns="0" rIns="0" tIns="0" bIns="0" anchor="t">
            <a:spAutoFit/>
          </a:bodyPr>
          <a:lstStyle/>
          <a:p>
            <a:pPr>
              <a:lnSpc>
                <a:spcPct val="112000"/>
              </a:lnSpc>
              <a:spcAft>
                <a:spcPts val="500"/>
              </a:spcAft>
              <a:defRPr sz="819" b="0">
                <a:solidFill>
                  <a:srgbClr val="617793"/>
                </a:solidFill>
                <a:latin typeface="Arial"/>
              </a:defRPr>
            </a:pPr>
            <a:r>
              <a:t>CRM ANA · GUÍA INTERACTIVA</a:t>
            </a:r>
          </a:p>
        </p:txBody>
      </p:sp>
      <p:sp>
        <p:nvSpPr>
          <p:cNvPr id="24" name="TextBox 23">
            <a:hlinkClick action="ppaction://hlinksldjump" r:id="rId9" tooltip="Ir a instalar"/>
          </p:cNvPr>
          <p:cNvSpPr txBox="1"/>
          <p:nvPr/>
        </p:nvSpPr>
        <p:spPr>
          <a:xfrm>
            <a:off x="3749039"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INSTALAR</a:t>
            </a:r>
          </a:p>
        </p:txBody>
      </p:sp>
      <p:sp>
        <p:nvSpPr>
          <p:cNvPr id="25" name="TextBox 24">
            <a:hlinkClick action="ppaction://hlinksldjump" r:id="rId10" tooltip="Ir a usar"/>
          </p:cNvPr>
          <p:cNvSpPr txBox="1"/>
          <p:nvPr/>
        </p:nvSpPr>
        <p:spPr>
          <a:xfrm>
            <a:off x="4681727"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USAR</a:t>
            </a:r>
          </a:p>
        </p:txBody>
      </p:sp>
      <p:sp>
        <p:nvSpPr>
          <p:cNvPr id="26" name="TextBox 25">
            <a:hlinkClick action="ppaction://hlinksldjump" r:id="rId11" tooltip="Ir a reportes"/>
          </p:cNvPr>
          <p:cNvSpPr txBox="1"/>
          <p:nvPr/>
        </p:nvSpPr>
        <p:spPr>
          <a:xfrm>
            <a:off x="5614416"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REPORTES</a:t>
            </a:r>
          </a:p>
        </p:txBody>
      </p:sp>
      <p:sp>
        <p:nvSpPr>
          <p:cNvPr id="27" name="TextBox 26">
            <a:hlinkClick action="ppaction://hlinksldjump" r:id="rId12" tooltip="Ir a ayuda"/>
          </p:cNvPr>
          <p:cNvSpPr txBox="1"/>
          <p:nvPr/>
        </p:nvSpPr>
        <p:spPr>
          <a:xfrm>
            <a:off x="6547104" y="6592824"/>
            <a:ext cx="850392" cy="182880"/>
          </a:xfrm>
          <a:prstGeom prst="rect">
            <a:avLst/>
          </a:prstGeom>
          <a:noFill/>
          <a:effectLst/>
        </p:spPr>
        <p:txBody>
          <a:bodyPr wrap="square" lIns="0" rIns="0" tIns="0" bIns="0" anchor="t">
            <a:spAutoFit/>
          </a:bodyPr>
          <a:lstStyle/>
          <a:p>
            <a:pPr algn="ctr">
              <a:lnSpc>
                <a:spcPct val="112000"/>
              </a:lnSpc>
              <a:spcAft>
                <a:spcPts val="500"/>
              </a:spcAft>
              <a:defRPr sz="840" b="1">
                <a:solidFill>
                  <a:srgbClr val="2957A4"/>
                </a:solidFill>
                <a:latin typeface="Arial"/>
              </a:defRPr>
            </a:pPr>
            <a:r>
              <a:t>AYUDA</a:t>
            </a:r>
          </a:p>
        </p:txBody>
      </p:sp>
      <p:sp>
        <p:nvSpPr>
          <p:cNvPr id="28" name="TextBox 27">
            <a:hlinkClick action="ppaction://hlinksldjump" r:id="rId8" tooltip="Anterior"/>
          </p:cNvPr>
          <p:cNvSpPr txBox="1"/>
          <p:nvPr/>
        </p:nvSpPr>
        <p:spPr>
          <a:xfrm>
            <a:off x="827532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29" name="TextBox 28">
            <a:hlinkClick action="ppaction://hlinksldjump" r:id="rId8" tooltip="Volver al menú"/>
          </p:cNvPr>
          <p:cNvSpPr txBox="1"/>
          <p:nvPr/>
        </p:nvSpPr>
        <p:spPr>
          <a:xfrm>
            <a:off x="8805672" y="6556248"/>
            <a:ext cx="713232"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Menú</a:t>
            </a:r>
          </a:p>
        </p:txBody>
      </p:sp>
      <p:sp>
        <p:nvSpPr>
          <p:cNvPr id="30" name="TextBox 29">
            <a:hlinkClick action="ppaction://hlinksldjump" r:id="rId13" tooltip="Siguiente"/>
          </p:cNvPr>
          <p:cNvSpPr txBox="1"/>
          <p:nvPr/>
        </p:nvSpPr>
        <p:spPr>
          <a:xfrm>
            <a:off x="9784080" y="6556248"/>
            <a:ext cx="320040" cy="219456"/>
          </a:xfrm>
          <a:prstGeom prst="rect">
            <a:avLst/>
          </a:prstGeom>
          <a:noFill/>
          <a:effectLst/>
        </p:spPr>
        <p:txBody>
          <a:bodyPr wrap="square" lIns="0" rIns="0" tIns="0" bIns="0" anchor="t">
            <a:spAutoFit/>
          </a:bodyPr>
          <a:lstStyle/>
          <a:p>
            <a:pPr algn="ctr">
              <a:lnSpc>
                <a:spcPct val="112000"/>
              </a:lnSpc>
              <a:spcAft>
                <a:spcPts val="500"/>
              </a:spcAft>
              <a:defRPr sz="1200" b="1">
                <a:solidFill>
                  <a:srgbClr val="2957A4"/>
                </a:solidFill>
                <a:latin typeface="Arial"/>
              </a:defRPr>
            </a:pPr>
            <a:r>
              <a:t>›</a:t>
            </a:r>
          </a:p>
        </p:txBody>
      </p:sp>
      <p:sp>
        <p:nvSpPr>
          <p:cNvPr id="31" name="TextBox 30"/>
          <p:cNvSpPr txBox="1"/>
          <p:nvPr/>
        </p:nvSpPr>
        <p:spPr>
          <a:xfrm>
            <a:off x="10561320" y="6592824"/>
            <a:ext cx="1097280" cy="182880"/>
          </a:xfrm>
          <a:prstGeom prst="rect">
            <a:avLst/>
          </a:prstGeom>
          <a:noFill/>
          <a:effectLst/>
        </p:spPr>
        <p:txBody>
          <a:bodyPr wrap="square" lIns="0" rIns="0" tIns="0" bIns="0" anchor="t">
            <a:spAutoFit/>
          </a:bodyPr>
          <a:lstStyle/>
          <a:p>
            <a:pPr algn="r">
              <a:lnSpc>
                <a:spcPct val="112000"/>
              </a:lnSpc>
              <a:spcAft>
                <a:spcPts val="500"/>
              </a:spcAft>
              <a:defRPr sz="900" b="0">
                <a:solidFill>
                  <a:srgbClr val="617793"/>
                </a:solidFill>
                <a:latin typeface="Arial"/>
              </a:defRPr>
            </a:pPr>
            <a:r>
              <a:t>33 / 33</a:t>
            </a:r>
          </a:p>
        </p:txBody>
      </p:sp>
    </p:spTree>
  </p:cSld>
  <p:clrMapOvr>
    <a:masterClrMapping/>
  </p:clrMapOvr>
  <p:transition advClick="1"/>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CRM ANA · Guía interactiva de instalación y uso</dc:title>
  <dc:subject>Capacitación del equipo · CRM web 1.3.0 y extensión 1.2.1</dc:subject>
  <dc:creator>Equipo de Coordinación · CRM ANA</dc:creator>
  <cp:keywords>ANA, CRM, instalación, tareas, agenda, capacitación, interactiva</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